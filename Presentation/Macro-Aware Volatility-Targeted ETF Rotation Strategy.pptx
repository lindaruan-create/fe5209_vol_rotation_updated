
<file path=[Content_Types].xml><?xml version="1.0" encoding="utf-8"?>
<Types xmlns="http://schemas.openxmlformats.org/package/2006/content-types">
  <Default Extension="xml" ContentType="application/xml"/>
  <Default Extension="xlsx" ContentType="application/vnd.openxmlformats-officedocument.spreadsheetml.sheet"/>
  <Default Extension="jpeg" ContentType="image/jpeg"/>
  <Default Extension="JPG" ContentType="image/.jpg"/>
  <Default Extension="png" ContentType="image/png"/>
  <Default Extension="rels" ContentType="application/vnd.openxmlformats-package.relationships+xml"/>
  <Override PartName="/customXml/itemProps1.xml" ContentType="application/vnd.openxmlformats-officedocument.customXmlProperties+xml"/>
  <Override PartName="/docProps/app.xml" ContentType="application/vnd.openxmlformats-officedocument.extended-properties+xml"/>
  <Override PartName="/docProps/core.xml" ContentType="application/vnd.openxmlformats-package.core-properties+xml"/>
  <Override PartName="/docProps/custom.xml" ContentType="application/vnd.openxmlformats-officedocument.custom-properties+xml"/>
  <Override PartName="/ppt/charts/chart1.xml" ContentType="application/vnd.openxmlformats-officedocument.drawingml.chart+xml"/>
  <Override PartName="/ppt/media/image11.webp" ContentType="image/webp"/>
  <Override PartName="/ppt/notesMasters/notesMaster1.xml" ContentType="application/vnd.openxmlformats-officedocument.presentationml.notesMaster+xml"/>
  <Override PartName="/ppt/notesSlides/notesSlide1.xml" ContentType="application/vnd.openxmlformats-officedocument.presentationml.notesSlide+xml"/>
  <Override PartName="/ppt/notesSlides/notesSlide10.xml" ContentType="application/vnd.openxmlformats-officedocument.presentationml.notesSlide+xml"/>
  <Override PartName="/ppt/notesSlides/notesSlide11.xml" ContentType="application/vnd.openxmlformats-officedocument.presentationml.notesSlide+xml"/>
  <Override PartName="/ppt/notesSlides/notesSlide12.xml" ContentType="application/vnd.openxmlformats-officedocument.presentationml.notesSlide+xml"/>
  <Override PartName="/ppt/notesSlides/notesSlide13.xml" ContentType="application/vnd.openxmlformats-officedocument.presentationml.notesSlide+xml"/>
  <Override PartName="/ppt/notesSlides/notesSlide14.xml" ContentType="application/vnd.openxmlformats-officedocument.presentationml.notesSlide+xml"/>
  <Override PartName="/ppt/notesSlides/notesSlide15.xml" ContentType="application/vnd.openxmlformats-officedocument.presentationml.notesSlide+xml"/>
  <Override PartName="/ppt/notesSlides/notesSlide16.xml" ContentType="application/vnd.openxmlformats-officedocument.presentationml.notesSlide+xml"/>
  <Override PartName="/ppt/notesSlides/notesSlide17.xml" ContentType="application/vnd.openxmlformats-officedocument.presentationml.notesSlide+xml"/>
  <Override PartName="/ppt/notesSlides/notesSlide18.xml" ContentType="application/vnd.openxmlformats-officedocument.presentationml.notesSlide+xml"/>
  <Override PartName="/ppt/notesSlides/notesSlide19.xml" ContentType="application/vnd.openxmlformats-officedocument.presentationml.notesSlide+xml"/>
  <Override PartName="/ppt/notesSlides/notesSlide2.xml" ContentType="application/vnd.openxmlformats-officedocument.presentationml.notesSlide+xml"/>
  <Override PartName="/ppt/notesSlides/notesSlide20.xml" ContentType="application/vnd.openxmlformats-officedocument.presentationml.notesSlide+xml"/>
  <Override PartName="/ppt/notesSlides/notesSlide3.xml" ContentType="application/vnd.openxmlformats-officedocument.presentationml.notesSlide+xml"/>
  <Override PartName="/ppt/notesSlides/notesSlide4.xml" ContentType="application/vnd.openxmlformats-officedocument.presentationml.notesSlide+xml"/>
  <Override PartName="/ppt/notesSlides/notesSlide5.xml" ContentType="application/vnd.openxmlformats-officedocument.presentationml.notesSlide+xml"/>
  <Override PartName="/ppt/notesSlides/notesSlide6.xml" ContentType="application/vnd.openxmlformats-officedocument.presentationml.notesSlide+xml"/>
  <Override PartName="/ppt/notesSlides/notesSlide7.xml" ContentType="application/vnd.openxmlformats-officedocument.presentationml.notesSlide+xml"/>
  <Override PartName="/ppt/notesSlides/notesSlide8.xml" ContentType="application/vnd.openxmlformats-officedocument.presentationml.notesSlide+xml"/>
  <Override PartName="/ppt/notesSlides/notesSlide9.xml" ContentType="application/vnd.openxmlformats-officedocument.presentationml.notesSlide+xml"/>
  <Override PartName="/ppt/presProps.xml" ContentType="application/vnd.openxmlformats-officedocument.presentationml.presProps+xml"/>
  <Override PartName="/ppt/presentation.xml" ContentType="application/vnd.openxmlformats-officedocument.presentationml.presentation.main+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Masters/slideMaster1.xml" ContentType="application/vnd.openxmlformats-officedocument.presentationml.slideMaster+xml"/>
  <Override PartName="/ppt/slides/slide1.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xml" ContentType="application/vnd.openxmlformats-officedocument.presentationml.slide+xml"/>
  <Override PartName="/ppt/slides/slide20.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tableStyles.xml" ContentType="application/vnd.openxmlformats-officedocument.presentationml.tableStyles+xml"/>
  <Override PartName="/ppt/theme/theme1.xml" ContentType="application/vnd.openxmlformats-officedocument.theme+xml"/>
  <Override PartName="/ppt/theme/theme2.xml" ContentType="application/vnd.openxmlformats-officedocument.theme+xml"/>
  <Override PartName="/ppt/viewProps.xml" ContentType="application/vnd.openxmlformats-officedocument.presentationml.viewProps+xml"/>
</Types>
</file>

<file path=_rels/.rels><?xml version="1.0" encoding="UTF-8" standalone="yes"?>
<Relationships xmlns="http://schemas.openxmlformats.org/package/2006/relationships"><Relationship Id="rId1" Type="http://schemas.openxmlformats.org/officeDocument/2006/relationships/officeDocument" Target="ppt/presentation.xml"/><Relationship Id="rId3" Type="http://schemas.openxmlformats.org/package/2006/relationships/metadata/core-properties" Target="docProps/core.xml"/><Relationship Id="rId2" Type="http://schemas.openxmlformats.org/officeDocument/2006/relationships/extended-properties" Target="docProps/app.xml"/><Relationship Id="rId4" Type="http://schemas.openxmlformats.org/officeDocument/2006/relationships/custom-properties" Target="docProps/custom.xml"/></Relationships>
</file>

<file path=ppt/presentation.xml><?xml version="1.0" encoding="utf-8"?>
<p:presentation xmlns:a="http://schemas.openxmlformats.org/drawingml/2006/main" xmlns:r="http://schemas.openxmlformats.org/officeDocument/2006/relationships" xmlns:p="http://schemas.openxmlformats.org/presentationml/2006/main" autoCompressPictures="0">
  <p:sldMasterIdLst>
    <p:sldMasterId id="2147483648" r:id="rId1"/>
  </p:sldMasterIdLst>
  <p:notesMasterIdLst>
    <p:notesMasterId r:id="rId4"/>
  </p:notesMasterIdLst>
  <p:sldIdLst>
    <p:sldId id="272" r:id="rId3"/>
    <p:sldId id="273" r:id="rId5"/>
    <p:sldId id="274" r:id="rId6"/>
    <p:sldId id="275" r:id="rId7"/>
    <p:sldId id="276" r:id="rId8"/>
    <p:sldId id="277" r:id="rId9"/>
    <p:sldId id="278" r:id="rId10"/>
    <p:sldId id="279" r:id="rId11"/>
    <p:sldId id="286" r:id="rId12"/>
    <p:sldId id="284" r:id="rId13"/>
    <p:sldId id="285" r:id="rId14"/>
    <p:sldId id="260" r:id="rId15"/>
    <p:sldId id="262" r:id="rId16"/>
    <p:sldId id="269" r:id="rId17"/>
    <p:sldId id="270" r:id="rId18"/>
    <p:sldId id="287" r:id="rId19"/>
    <p:sldId id="280" r:id="rId20"/>
    <p:sldId id="281" r:id="rId21"/>
    <p:sldId id="282" r:id="rId22"/>
    <p:sldId id="283" r:id="rId23"/>
  </p:sldIdLst>
  <p:sldSz cx="9144000" cy="6858000"/>
  <p:notesSz cx="6858000" cy="9144000"/>
  <p:defaultTextStyle>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521415D9-36F7-43E2-AB2F-B90AF26B5E84}">
      <p14:sectionLst xmlns:p14="http://schemas.microsoft.com/office/powerpoint/2010/main">
        <p14:section name="Introduction" id="{6f89b7d8-adb1-ee4c-01d1-6810582ac62f}">
          <p14:sldIdLst>
            <p14:sldId id="272"/>
            <p14:sldId id="273"/>
            <p14:sldId id="274"/>
            <p14:sldId id="275"/>
            <p14:sldId id="276"/>
            <p14:sldId id="277"/>
            <p14:sldId id="278"/>
            <p14:sldId id="279"/>
          </p14:sldIdLst>
        </p14:section>
        <p14:section name="US market+V1/V2" id="{b567079e-a315-4819-8607-b879d8a77f67}">
          <p14:sldIdLst>
            <p14:sldId id="286"/>
            <p14:sldId id="284"/>
            <p14:sldId id="285"/>
          </p14:sldIdLst>
        </p14:section>
        <p14:section name="Singapore Sleeve" id="{23165517-b2fd-4789-9157-3ac309e37904}">
          <p14:sldIdLst>
            <p14:sldId id="260"/>
            <p14:sldId id="262"/>
            <p14:sldId id="269"/>
            <p14:sldId id="270"/>
          </p14:sldIdLst>
        </p14:section>
        <p14:section name="Backtest and test period" id="{46d8306f-213a-48eb-a6c0-aef6c377383e}">
          <p14:sldIdLst>
            <p14:sldId id="287"/>
            <p14:sldId id="280"/>
            <p14:sldId id="281"/>
            <p14:sldId id="282"/>
          </p14:sldIdLst>
        </p14:section>
        <p14:section name="Q&amp;A" id="{92a4fc4e-130e-41cb-91ff-42a5458c727d}">
          <p14:sldIdLst>
            <p14:sldId id="283"/>
          </p14:sldIdLst>
        </p14:section>
      </p14:sectionLst>
    </p:ext>
  </p:extLst>
</p:presentation>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220"/>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p:normalViewPr horzBarState="maximized">
    <p:restoredLeft sz="15611"/>
    <p:restoredTop sz="94610"/>
  </p:normalViewPr>
  <p:slideViewPr>
    <p:cSldViewPr snapToGrid="0" snapToObjects="1">
      <p:cViewPr varScale="1">
        <p:scale>
          <a:sx n="136" d="100"/>
          <a:sy n="136" d="100"/>
        </p:scale>
        <p:origin x="216" y="312"/>
      </p:cViewPr>
      <p:guideLst/>
    </p:cSldViewPr>
  </p:slideViewPr>
  <p:notesTextViewPr>
    <p:cViewPr>
      <p:scale>
        <a:sx n="1" d="1"/>
        <a:sy n="1" d="1"/>
      </p:scale>
      <p:origin x="0" y="0"/>
    </p:cViewPr>
  </p:notesTextViewPr>
  <p:gridSpacing cx="76200" cy="76200"/>
</p:viewPr>
</file>

<file path=ppt/_rels/presentation.xml.rels><?xml version="1.0" encoding="UTF-8" standalone="yes"?>
<Relationships xmlns="http://schemas.openxmlformats.org/package/2006/relationships"><Relationship Id="rId9" Type="http://schemas.openxmlformats.org/officeDocument/2006/relationships/slide" Target="slides/slide6.xml"/><Relationship Id="rId8" Type="http://schemas.openxmlformats.org/officeDocument/2006/relationships/slide" Target="slides/slide5.xml"/><Relationship Id="rId7" Type="http://schemas.openxmlformats.org/officeDocument/2006/relationships/slide" Target="slides/slide4.xml"/><Relationship Id="rId6" Type="http://schemas.openxmlformats.org/officeDocument/2006/relationships/slide" Target="slides/slide3.xml"/><Relationship Id="rId5" Type="http://schemas.openxmlformats.org/officeDocument/2006/relationships/slide" Target="slides/slide2.xml"/><Relationship Id="rId4" Type="http://schemas.openxmlformats.org/officeDocument/2006/relationships/notesMaster" Target="notesMasters/notesMaster1.xml"/><Relationship Id="rId3" Type="http://schemas.openxmlformats.org/officeDocument/2006/relationships/slide" Target="slides/slide1.xml"/><Relationship Id="rId28" Type="http://schemas.openxmlformats.org/officeDocument/2006/relationships/customXml" Target="../customXml/item1.xml"/><Relationship Id="rId27" Type="http://schemas.openxmlformats.org/officeDocument/2006/relationships/customXmlProps" Target="../customXml/itemProps1.xml"/><Relationship Id="rId26" Type="http://schemas.openxmlformats.org/officeDocument/2006/relationships/tableStyles" Target="tableStyles.xml"/><Relationship Id="rId25" Type="http://schemas.openxmlformats.org/officeDocument/2006/relationships/viewProps" Target="viewProps.xml"/><Relationship Id="rId24" Type="http://schemas.openxmlformats.org/officeDocument/2006/relationships/presProps" Target="presProps.xml"/><Relationship Id="rId23" Type="http://schemas.openxmlformats.org/officeDocument/2006/relationships/slide" Target="slides/slide20.xml"/><Relationship Id="rId22" Type="http://schemas.openxmlformats.org/officeDocument/2006/relationships/slide" Target="slides/slide19.xml"/><Relationship Id="rId21" Type="http://schemas.openxmlformats.org/officeDocument/2006/relationships/slide" Target="slides/slide18.xml"/><Relationship Id="rId20" Type="http://schemas.openxmlformats.org/officeDocument/2006/relationships/slide" Target="slides/slide17.xml"/><Relationship Id="rId2" Type="http://schemas.openxmlformats.org/officeDocument/2006/relationships/theme" Target="theme/theme1.xml"/><Relationship Id="rId19" Type="http://schemas.openxmlformats.org/officeDocument/2006/relationships/slide" Target="slides/slide16.xml"/><Relationship Id="rId18" Type="http://schemas.openxmlformats.org/officeDocument/2006/relationships/slide" Target="slides/slide15.xml"/><Relationship Id="rId17" Type="http://schemas.openxmlformats.org/officeDocument/2006/relationships/slide" Target="slides/slide14.xml"/><Relationship Id="rId16" Type="http://schemas.openxmlformats.org/officeDocument/2006/relationships/slide" Target="slides/slide13.xml"/><Relationship Id="rId15" Type="http://schemas.openxmlformats.org/officeDocument/2006/relationships/slide" Target="slides/slide12.xml"/><Relationship Id="rId14" Type="http://schemas.openxmlformats.org/officeDocument/2006/relationships/slide" Target="slides/slide11.xml"/><Relationship Id="rId13" Type="http://schemas.openxmlformats.org/officeDocument/2006/relationships/slide" Target="slides/slide10.xml"/><Relationship Id="rId12" Type="http://schemas.openxmlformats.org/officeDocument/2006/relationships/slide" Target="slides/slide9.xml"/><Relationship Id="rId11" Type="http://schemas.openxmlformats.org/officeDocument/2006/relationships/slide" Target="slides/slide8.xml"/><Relationship Id="rId10" Type="http://schemas.openxmlformats.org/officeDocument/2006/relationships/slide" Target="slides/slide7.xml"/><Relationship Id="rId1" Type="http://schemas.openxmlformats.org/officeDocument/2006/relationships/slideMaster" Target="slideMasters/slideMaster1.xml"/></Relationships>
</file>

<file path=ppt/charts/_rels/chart1.xml.rels><?xml version="1.0" encoding="UTF-8" standalone="yes"?>
<Relationships xmlns="http://schemas.openxmlformats.org/package/2006/relationships"><Relationship Id="rId1" Type="http://schemas.openxmlformats.org/officeDocument/2006/relationships/package" Target="../embeddings/Workbook1.xlsx"/></Relationships>
</file>

<file path=ppt/charts/chart1.xml><?xml version="1.0" encoding="utf-8"?>
<c:chartSpace xmlns:c="http://schemas.openxmlformats.org/drawingml/2006/chart" xmlns:a="http://schemas.openxmlformats.org/drawingml/2006/main" xmlns:r="http://schemas.openxmlformats.org/officeDocument/2006/relationships">
  <c:date1904 val="0"/>
  <c:lang val="zh-CN"/>
  <c:roundedCorners val="1"/>
  <mc:AlternateContent xmlns:mc="http://schemas.openxmlformats.org/markup-compatibility/2006">
    <mc:Choice xmlns:c14="http://schemas.microsoft.com/office/drawing/2007/8/2/chart" Requires="c14">
      <c14:style val="102"/>
    </mc:Choice>
    <mc:Fallback>
      <c:style val="2"/>
    </mc:Fallback>
  </mc:AlternateContent>
  <c:chart>
    <c:title>
      <c:tx>
        <c:rich>
          <a:bodyPr rot="0" spcFirstLastPara="0" vertOverflow="ellipsis" vert="horz" wrap="square" anchor="ctr" anchorCtr="1"/>
          <a:lstStyle/>
          <a:p>
            <a:pPr>
              <a:defRPr lang="zh-CN" sz="1200" b="1" i="0" u="none" strike="noStrike" kern="1200" baseline="0">
                <a:solidFill>
                  <a:schemeClr val="tx1"/>
                </a:solidFill>
                <a:latin typeface="+mn-lt"/>
                <a:ea typeface="+mn-ea"/>
                <a:cs typeface="+mn-cs"/>
              </a:defRPr>
            </a:pPr>
            <a:r>
              <a:rPr lang="en-US" sz="1100" b="1">
                <a:solidFill>
                  <a:srgbClr val="1F4E6B"/>
                </a:solidFill>
              </a:rPr>
              <a:t>Sharpe ratio by period: final strategy vs QQQ and SPY</a:t>
            </a:r>
            <a:endParaRPr lang="en-US" sz="1100" b="1">
              <a:solidFill>
                <a:srgbClr val="1F4E6B"/>
              </a:solidFill>
            </a:endParaRPr>
          </a:p>
        </c:rich>
      </c:tx>
      <c:layout/>
      <c:overlay val="0"/>
    </c:title>
    <c:autoTitleDeleted val="0"/>
    <c:plotArea>
      <c:layout/>
      <c:barChart>
        <c:barDir val="col"/>
        <c:grouping val="clustered"/>
        <c:varyColors val="1"/>
        <c:ser>
          <c:idx val="0"/>
          <c:order val="0"/>
          <c:tx>
            <c:strRef>
              <c:f>Sheet1!$B$1</c:f>
              <c:strCache>
                <c:ptCount val="1"/>
                <c:pt idx="0">
                  <c:v>Final strategy</c:v>
                </c:pt>
              </c:strCache>
            </c:strRef>
          </c:tx>
          <c:spPr>
            <a:solidFill>
              <a:srgbClr val="437B9B"/>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IS 2012–2019</c:v>
                </c:pt>
                <c:pt idx="1">
                  <c:v>OOS 2020–2026-09</c:v>
                </c:pt>
                <c:pt idx="2">
                  <c:v>OOS excl. 2020</c:v>
                </c:pt>
              </c:strCache>
            </c:strRef>
          </c:cat>
          <c:val>
            <c:numRef>
              <c:f>Sheet1!$B$2:$B$4</c:f>
              <c:numCache>
                <c:formatCode>General</c:formatCode>
                <c:ptCount val="3"/>
                <c:pt idx="0">
                  <c:v>1.06</c:v>
                </c:pt>
                <c:pt idx="1">
                  <c:v>1.46</c:v>
                </c:pt>
                <c:pt idx="2">
                  <c:v>1.24</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ser>
          <c:idx val="1"/>
          <c:order val="1"/>
          <c:tx>
            <c:strRef>
              <c:f>Sheet1!$C$1</c:f>
              <c:strCache>
                <c:ptCount val="1"/>
                <c:pt idx="0">
                  <c:v>QQQ</c:v>
                </c:pt>
              </c:strCache>
            </c:strRef>
          </c:tx>
          <c:spPr>
            <a:solidFill>
              <a:srgbClr val="9FB8C8"/>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IS 2012–2019</c:v>
                </c:pt>
                <c:pt idx="1">
                  <c:v>OOS 2020–2026-09</c:v>
                </c:pt>
                <c:pt idx="2">
                  <c:v>OOS excl. 2020</c:v>
                </c:pt>
              </c:strCache>
            </c:strRef>
          </c:cat>
          <c:val>
            <c:numRef>
              <c:f>Sheet1!$C$2:$C$4</c:f>
              <c:numCache>
                <c:formatCode>General</c:formatCode>
                <c:ptCount val="3"/>
                <c:pt idx="0">
                  <c:v>1.16</c:v>
                </c:pt>
                <c:pt idx="1">
                  <c:v>0.89</c:v>
                </c:pt>
                <c:pt idx="2">
                  <c:v>0.82</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ser>
          <c:idx val="2"/>
          <c:order val="2"/>
          <c:tx>
            <c:strRef>
              <c:f>Sheet1!$D$1</c:f>
              <c:strCache>
                <c:ptCount val="1"/>
                <c:pt idx="0">
                  <c:v>SPY</c:v>
                </c:pt>
              </c:strCache>
            </c:strRef>
          </c:tx>
          <c:spPr>
            <a:solidFill>
              <a:srgbClr val="C9C9C9"/>
            </a:solidFill>
          </c:spPr>
          <c:invertIfNegative val="1"/>
          <c:dLbls>
            <c:numFmt formatCode="0.00" sourceLinked="0"/>
            <c:spPr>
              <a:noFill/>
              <a:ln>
                <a:noFill/>
              </a:ln>
              <a:effectLst/>
            </c:spPr>
            <c:txPr>
              <a:bodyPr rot="0" spcFirstLastPara="0" vertOverflow="ellipsis" vert="horz" wrap="square" lIns="38100" tIns="19050" rIns="38100" bIns="19050" anchor="ctr" anchorCtr="1"/>
              <a:lstStyle/>
              <a:p>
                <a:pPr>
                  <a:defRPr lang="zh-CN" sz="900" b="0" i="0" u="none" strike="noStrike" kern="1200" baseline="0">
                    <a:solidFill>
                      <a:schemeClr val="tx1"/>
                    </a:solidFill>
                    <a:latin typeface="+mn-lt"/>
                    <a:ea typeface="+mn-ea"/>
                    <a:cs typeface="+mn-cs"/>
                  </a:defRPr>
                </a:pPr>
              </a:p>
            </c:txPr>
            <c:dLblPos val="outEnd"/>
            <c:showLegendKey val="0"/>
            <c:showVal val="1"/>
            <c:showCatName val="0"/>
            <c:showSerName val="0"/>
            <c:showPercent val="0"/>
            <c:showBubbleSize val="0"/>
            <c:showLeaderLines val="0"/>
            <c:extLst>
              <c:ext xmlns:c15="http://schemas.microsoft.com/office/drawing/2012/chart" uri="{CE6537A1-D6FC-4f65-9D91-7224C49458BB}">
                <c15:layout/>
                <c15:showLeaderLines val="0"/>
                <c15:leaderLines/>
              </c:ext>
            </c:extLst>
          </c:dLbls>
          <c:cat>
            <c:strRef>
              <c:f>Sheet1!$A$2:$A$4</c:f>
              <c:strCache>
                <c:ptCount val="3"/>
                <c:pt idx="0">
                  <c:v>IS 2012–2019</c:v>
                </c:pt>
                <c:pt idx="1">
                  <c:v>OOS 2020–2026-09</c:v>
                </c:pt>
                <c:pt idx="2">
                  <c:v>OOS excl. 2020</c:v>
                </c:pt>
              </c:strCache>
            </c:strRef>
          </c:cat>
          <c:val>
            <c:numRef>
              <c:f>Sheet1!$D$2:$D$4</c:f>
              <c:numCache>
                <c:formatCode>General</c:formatCode>
                <c:ptCount val="3"/>
                <c:pt idx="0">
                  <c:v>1.1</c:v>
                </c:pt>
                <c:pt idx="1">
                  <c:v>0.8</c:v>
                </c:pt>
                <c:pt idx="2">
                  <c:v>0.9</c:v>
                </c:pt>
              </c:numCache>
            </c:numRef>
          </c:val>
          <c:extLst>
            <c:ext xmlns:c14="http://schemas.microsoft.com/office/drawing/2007/8/2/chart" uri="{6F2FDCE9-48DA-4B69-8628-5D25D57E5C99}">
              <c14:invertSolidFillFmt>
                <c14:spPr xmlns:c14="http://schemas.microsoft.com/office/drawing/2007/8/2/chart">
                  <a:solidFill>
                    <a:srgbClr val="FFFFFF"/>
                  </a:solidFill>
                </c14:spPr>
              </c14:invertSolidFillFmt>
            </c:ext>
          </c:extLst>
        </c:ser>
        <c:dLbls>
          <c:showLegendKey val="0"/>
          <c:showVal val="1"/>
          <c:showCatName val="0"/>
          <c:showSerName val="0"/>
          <c:showPercent val="0"/>
          <c:showBubbleSize val="0"/>
        </c:dLbls>
        <c:gapWidth val="60"/>
        <c:overlap val="-10"/>
        <c:axId val="-2068027336"/>
        <c:axId val="-2113994440"/>
      </c:barChart>
      <c:catAx>
        <c:axId val="-2068027336"/>
        <c:scaling>
          <c:orientation val="minMax"/>
        </c:scaling>
        <c:delete val="0"/>
        <c:axPos val="b"/>
        <c:numFmt formatCode="General" sourceLinked="0"/>
        <c:majorTickMark val="out"/>
        <c:minorTickMark val="none"/>
        <c:tickLblPos val="low"/>
        <c:spPr>
          <a:ln w="6350" cap="flat" cmpd="sng" algn="ctr">
            <a:solidFill>
              <a:srgbClr val="BFBFBF"/>
            </a:solidFill>
            <a:prstDash val="solid"/>
            <a:round/>
          </a:ln>
        </c:spPr>
        <c:txPr>
          <a:bodyPr rot="-6000000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crossAx val="-2113994440"/>
        <c:crosses val="autoZero"/>
        <c:auto val="1"/>
        <c:lblAlgn val="ctr"/>
        <c:lblOffset val="100"/>
        <c:noMultiLvlLbl val="0"/>
      </c:catAx>
      <c:valAx>
        <c:axId val="-2113994440"/>
        <c:scaling>
          <c:orientation val="minMax"/>
          <c:max val="1.8"/>
          <c:min val="0"/>
        </c:scaling>
        <c:delete val="0"/>
        <c:axPos val="l"/>
        <c:majorGridlines>
          <c:spPr>
            <a:ln w="6350" cap="flat" cmpd="sng" algn="ctr">
              <a:solidFill>
                <a:srgbClr val="E3E3E3"/>
              </a:solidFill>
              <a:prstDash val="solid"/>
              <a:round/>
            </a:ln>
          </c:spPr>
        </c:majorGridlines>
        <c:numFmt formatCode="0.00" sourceLinked="0"/>
        <c:majorTickMark val="out"/>
        <c:minorTickMark val="none"/>
        <c:tickLblPos val="nextTo"/>
        <c:spPr>
          <a:ln w="6350" cap="flat" cmpd="sng" algn="ctr">
            <a:noFill/>
            <a:prstDash val="solid"/>
            <a:round/>
          </a:ln>
        </c:spPr>
        <c:txPr>
          <a:bodyPr rot="-60000000" spcFirstLastPara="0" vertOverflow="ellipsis" vert="horz" wrap="square" anchor="ctr" anchorCtr="1"/>
          <a:lstStyle/>
          <a:p>
            <a:pPr>
              <a:defRPr lang="zh-CN" sz="900" b="0" i="0" u="none" strike="noStrike" kern="1200" baseline="0">
                <a:solidFill>
                  <a:schemeClr val="tx1"/>
                </a:solidFill>
                <a:latin typeface="+mn-lt"/>
                <a:ea typeface="+mn-ea"/>
                <a:cs typeface="+mn-cs"/>
              </a:defRPr>
            </a:pPr>
          </a:p>
        </c:txPr>
        <c:crossAx val="-2068027336"/>
        <c:crosses val="autoZero"/>
        <c:crossBetween val="between"/>
        <c:majorUnit val="0.2"/>
      </c:valAx>
    </c:plotArea>
    <c:legend>
      <c:legendPos val="b"/>
      <c:layout/>
      <c:overlay val="0"/>
      <c:txPr>
        <a:bodyPr rot="0" spcFirstLastPara="0" vertOverflow="ellipsis" vert="horz" wrap="square" anchor="ctr" anchorCtr="1"/>
        <a:lstStyle/>
        <a:p>
          <a:pPr>
            <a:defRPr lang="zh-CN" sz="1000" b="0" i="0" u="none" strike="noStrike" kern="1200" baseline="0">
              <a:solidFill>
                <a:schemeClr val="tx1"/>
              </a:solidFill>
              <a:latin typeface="+mn-lt"/>
              <a:ea typeface="+mn-ea"/>
              <a:cs typeface="+mn-cs"/>
            </a:defRPr>
          </a:pPr>
        </a:p>
      </c:txPr>
    </c:legend>
    <c:plotVisOnly val="1"/>
    <c:dispBlanksAs val="gap"/>
    <c:showDLblsOverMax val="1"/>
    <c:extLst>
      <c:ext uri="{0b15fc19-7d7d-44ad-8c2d-2c3a37ce22c3}">
        <chartProps xmlns="https://web.wps.cn/et/2018/main" chartId="{92920d5a-c8cb-4cc0-af89-bdf83c895fa7}"/>
      </c:ext>
    </c:extLst>
  </c:chart>
  <c:txPr>
    <a:bodyPr/>
    <a:lstStyle/>
    <a:p>
      <a:pPr>
        <a:defRPr lang="zh-CN" sz="1000"/>
      </a:pPr>
    </a:p>
  </c:txPr>
  <c:externalData r:id="rId1">
    <c:autoUpdate val="0"/>
  </c:externalData>
</c:chartSpace>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Header Placeholder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US"/>
          </a:p>
        </p:txBody>
      </p:sp>
      <p:sp>
        <p:nvSpPr>
          <p:cNvPr id="3" name="Date Placeholder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5282F153-3F37-0F45-9E97-73ACFA13230C}" type="datetimeFigureOut">
              <a:rPr lang="en-US"/>
            </a:fld>
            <a:endParaRPr lang="en-US"/>
          </a:p>
        </p:txBody>
      </p:sp>
      <p:sp>
        <p:nvSpPr>
          <p:cNvPr id="4" name="Slide Image Placeholder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US"/>
          </a:p>
        </p:txBody>
      </p:sp>
      <p:sp>
        <p:nvSpPr>
          <p:cNvPr id="5" name="Notes Placeholder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en-US"/>
              <a:t>Click to edit Master text styles</a:t>
            </a:r>
            <a:endParaRPr lang="en-US"/>
          </a:p>
          <a:p>
            <a:pPr lvl="1"/>
            <a:r>
              <a:rPr lang="en-US"/>
              <a:t>Second level</a:t>
            </a:r>
            <a:endParaRPr lang="en-US"/>
          </a:p>
          <a:p>
            <a:pPr lvl="2"/>
            <a:r>
              <a:rPr lang="en-US"/>
              <a:t>Third level</a:t>
            </a:r>
            <a:endParaRPr lang="en-US"/>
          </a:p>
          <a:p>
            <a:pPr lvl="3"/>
            <a:r>
              <a:rPr lang="en-US"/>
              <a:t>Fourth level</a:t>
            </a:r>
            <a:endParaRPr lang="en-US"/>
          </a:p>
          <a:p>
            <a:pPr lvl="4"/>
            <a:r>
              <a:rPr lang="en-US"/>
              <a:t>Fifth level</a:t>
            </a:r>
            <a:endParaRPr lang="en-US"/>
          </a:p>
        </p:txBody>
      </p:sp>
      <p:sp>
        <p:nvSpPr>
          <p:cNvPr id="6" name="Footer Placeholder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US"/>
          </a:p>
        </p:txBody>
      </p:sp>
      <p:sp>
        <p:nvSpPr>
          <p:cNvPr id="7" name="Slide Number Placeholder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CE5E9CC1-C706-0F49-92D6-E571CC5EEA8F}" type="slidenum">
              <a:rPr lang="en-US"/>
            </a:fld>
            <a:endParaRPr lang="en-US"/>
          </a:p>
        </p:txBody>
      </p:sp>
    </p:spTree>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notesSlides/_rels/notesSlide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xml"/></Relationships>
</file>

<file path=ppt/notesSlides/_rels/notesSlide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xml"/></Relationships>
</file>

<file path=ppt/notesSlides/_rels/notesSlide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3.xml"/></Relationships>
</file>

<file path=ppt/notesSlides/_rels/notesSlide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4.xml"/></Relationships>
</file>

<file path=ppt/notesSlides/_rels/notesSlide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5.xml"/></Relationships>
</file>

<file path=ppt/notesSlides/_rels/notesSlide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6.xml"/></Relationships>
</file>

<file path=ppt/notesSlides/_rels/notesSlide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7.xml"/></Relationships>
</file>

<file path=ppt/notesSlides/_rels/notesSlide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8.xml"/></Relationships>
</file>

<file path=ppt/notesSlides/_rels/notesSlide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9.xml"/></Relationships>
</file>

<file path=ppt/notesSlides/_rels/notesSlide1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0.xml"/></Relationships>
</file>

<file path=ppt/notesSlides/_rels/notesSlide11.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1.xml"/></Relationships>
</file>

<file path=ppt/notesSlides/_rels/notesSlide12.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2.xml"/></Relationships>
</file>

<file path=ppt/notesSlides/_rels/notesSlide13.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3.xml"/></Relationships>
</file>

<file path=ppt/notesSlides/_rels/notesSlide14.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4.xml"/></Relationships>
</file>

<file path=ppt/notesSlides/_rels/notesSlide15.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5.xml"/></Relationships>
</file>

<file path=ppt/notesSlides/_rels/notesSlide16.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6.xml"/></Relationships>
</file>

<file path=ppt/notesSlides/_rels/notesSlide17.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7.xml"/></Relationships>
</file>

<file path=ppt/notesSlides/_rels/notesSlide18.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8.xml"/></Relationships>
</file>

<file path=ppt/notesSlides/_rels/notesSlide19.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19.xml"/></Relationships>
</file>

<file path=ppt/notesSlides/_rels/notesSlide20.xml.rels><?xml version="1.0" encoding="UTF-8" standalone="yes"?>
<Relationships xmlns="http://schemas.openxmlformats.org/package/2006/relationships"><Relationship Id="rId2" Type="http://schemas.openxmlformats.org/officeDocument/2006/relationships/notesMaster" Target="../notesMasters/notesMaster1.xml"/><Relationship Id="rId1" Type="http://schemas.openxmlformats.org/officeDocument/2006/relationships/slide" Target="../slides/slide20.xml"/></Relationships>
</file>

<file path=ppt/notesSlides/notesSlide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Good morning everyone. We are [Group Name]. Our project rotates between leveraged, volatility and defensive ETFs in the US, with a small Singapore sleeve. I will cover our motivation and the original US strategy, V0.</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Here is the roadmap. I start with V0. Then [Person B] improves it with volatility-based sizing, [Person C] adds Singapore with GARCH forecasts, and [Person D] presents the final portfolio and our October tracking.</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Our strategy holds one ETF at a time. Trend, measured by SPY against its moving average, sets the regime, and RSI flags overheated and oversold extremes. Volatility clusters and returns have fat tails, so we test whether this beats the benchmark. The US and Singapore sleeves are two independent capital pools with a 90 / 10 target. After each close we check the Singapore share, and only if it leaves a 9 to 11 percent band do we rebalance, at the next open.</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Our signals use SPY, QQQ, SQQQ and TECS. The strategy can hold TQQQ, TECL, SPXL, UVXY, TECS or BSV. Singapore adds ES3 and A35. We use daily adjusted prices, and one-way costs from half a basis point to 35 basis points.</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This is V0, one decision tree. If SPY is above its moving average, it is a bull market: hold TQQQ, or UVXY if RSI says overheated. Otherwise, if RSI is oversold we buy TECL or SPXL; if UVXY signals fear we hold UVXY; and on other days a 20-day trend filter chooses TECL, TECS or BSV.</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a:r>
              <a:t>But one parameter set is fragile. So we vary seven parameters, such as the RSI window, the SPY moving average and the thresholds. That gives 6,912 combinations, and removing those where the extreme level is not above the fear level leaves 6,336. Each set votes for one ETF, and the weight is votes divided by 6,336. For example, 4,752 votes for TQQQ means a 75 percent weight. Signals come at the close, and we trade at the next open, inside the US pool, after costs. [Person B] will now improve the risk profile.</a:t>
            </a:r>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Slide Image Placeholder 1"/>
          <p:cNvSpPr>
            <a:spLocks noGrp="1"/>
          </p:cNvSpPr>
          <p:nvPr>
            <p:ph type="sldImg"/>
          </p:nvPr>
        </p:nvSpPr>
        <p:spPr/>
      </p:sp>
      <p:sp>
        <p:nvSpPr>
          <p:cNvPr id="3" name="Notes Placeholder 2"/>
          <p:cNvSpPr>
            <a:spLocks noGrp="1"/>
          </p:cNvSpPr>
          <p:nvPr>
            <p:ph type="body" idx="1"/>
          </p:nvPr>
        </p:nvSpPr>
        <p:spPr/>
        <p:txBody>
          <a:bodyPr/>
          <a:lstStyle/>
          <a:p/>
        </p:txBody>
      </p:sp>
      <p:sp>
        <p:nvSpPr>
          <p:cNvPr id="4" name="Slide Number Placeholder 3"/>
          <p:cNvSpPr>
            <a:spLocks noGrp="1"/>
          </p:cNvSpPr>
          <p:nvPr>
            <p:ph type="sldNum" idx="5"/>
          </p:nvPr>
        </p:nvSpPr>
        <p:spPr/>
        <p:txBody>
          <a:bodyPr/>
          <a:lstStyle/>
          <a:p/>
        </p:txBody>
      </p:sp>
    </p:spTree>
  </p:cSld>
  <p:clrMapOvr>
    <a:masterClrMapping/>
  </p:clrMapOvr>
</p:notes>
</file>

<file path=ppt/notesSlides/notesSlide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latin typeface="Arial" panose="020B0604020202020204" pitchFamily="34" charset="0"/>
                <a:cs typeface="Arial" panose="020B0604020202020204" pitchFamily="34" charset="0"/>
              </a:rPr>
              <a:t>Building on our original strategy, we introduced two risk management improvements.</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First, V1 uses 60-day inverse-volatility weighting to reduce exposure to highly volatile ETFs.</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However, it cannot address extreme concentration in TQQQ. If TQQQ receives 100% of the original allocation, V1 cannot reduce its weight.</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Therefore, V2 introduces a 30% volatility target. When estimated risk exceeds this target, we reduce risky ETF exposure and allocate the remaining weight to BSV, a short-term Treasury bond ETF.</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This allows us to control overall portfolio risk.</a:t>
            </a:r>
            <a:endParaRPr lang="en-US" altLang="zh-CN" b="1" dirty="0">
              <a:latin typeface="Arial" panose="020B0604020202020204" pitchFamily="34" charset="0"/>
              <a:cs typeface="Arial" panose="020B0604020202020204" pitchFamily="34" charset="0"/>
            </a:endParaRPr>
          </a:p>
          <a:p>
            <a:endParaRPr lang="en-US" altLang="zh-C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1.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b="1" dirty="0">
                <a:latin typeface="Arial" panose="020B0604020202020204" pitchFamily="34" charset="0"/>
                <a:cs typeface="Arial" panose="020B0604020202020204" pitchFamily="34" charset="0"/>
              </a:rPr>
              <a:t>Now, let's look at our out-of-sample results.</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With V2, annualized volatility decreased from 59% to 30%, while maximum drawdown improved from 49% to 28%.</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Although this reduced our returns, downside protection is especially important when trading leveraged ETFs.</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We also tested volatility targets ranging from 30% to 60%.</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After comparing these alternatives, we selected 30% as our preferred risk-return trade-off, balancing return potential with downside protection.</a:t>
            </a:r>
            <a:endParaRPr lang="en-US" altLang="zh-CN" b="1" dirty="0">
              <a:latin typeface="Arial" panose="020B0604020202020204" pitchFamily="34" charset="0"/>
              <a:cs typeface="Arial" panose="020B0604020202020204" pitchFamily="34" charset="0"/>
            </a:endParaRPr>
          </a:p>
          <a:p>
            <a:r>
              <a:rPr lang="en-US" altLang="zh-CN" b="1" dirty="0">
                <a:latin typeface="Arial" panose="020B0604020202020204" pitchFamily="34" charset="0"/>
                <a:cs typeface="Arial" panose="020B0604020202020204" pitchFamily="34" charset="0"/>
              </a:rPr>
              <a:t>This reflects our emphasis on maintaining a more controlled risk profile rather than simply maximizing returns.</a:t>
            </a:r>
            <a:endParaRPr lang="en-US" altLang="zh-CN" b="1" dirty="0">
              <a:latin typeface="Arial" panose="020B0604020202020204" pitchFamily="34" charset="0"/>
              <a:cs typeface="Arial" panose="020B0604020202020204" pitchFamily="34" charset="0"/>
            </a:endParaRPr>
          </a:p>
          <a:p>
            <a:endParaRPr lang="en-US" altLang="zh-CN" b="1" dirty="0">
              <a:latin typeface="Arial" panose="020B0604020202020204" pitchFamily="34" charset="0"/>
              <a:cs typeface="Arial" panose="020B0604020202020204" pitchFamily="34" charset="0"/>
            </a:endParaRPr>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2.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3.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We only use two ingredients. </a:t>
            </a:r>
            <a:endParaRPr lang="en-US" altLang="zh-CN" dirty="0"/>
          </a:p>
          <a:p>
            <a:r>
              <a:rPr lang="en-US" altLang="zh-CN" dirty="0"/>
              <a:t>The first is ES3, the STI ETF. It basically holds the 30 biggest companies in Singapore, so it’s our “exciting” asset. </a:t>
            </a:r>
            <a:endParaRPr lang="en-US" altLang="zh-CN" dirty="0"/>
          </a:p>
          <a:p>
            <a:r>
              <a:rPr lang="en-US" altLang="zh-CN" dirty="0"/>
              <a:t>The second is A35, the Singapore Bond Index Fund, which is mostly Singapore government bonds. </a:t>
            </a:r>
            <a:endParaRPr lang="en-US" altLang="zh-CN" dirty="0"/>
          </a:p>
          <a:p>
            <a:r>
              <a:rPr lang="en-US" altLang="zh-CN" dirty="0"/>
              <a:t>Mix the exciting one with the safe one, and you get our “boring but reliable” portfolio. </a:t>
            </a:r>
            <a:endParaRPr lang="en-US" altLang="zh-CN" dirty="0"/>
          </a:p>
          <a:p>
            <a:r>
              <a:rPr lang="en-US" altLang="zh-CN" dirty="0"/>
              <a:t>And here comes the whole question: how much ES3 should we hold each day?</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4.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To answer that, we need to know how risky ES3 will be tomorrow.  Reviewing from the class, volatility clustering usually happens, and our ARCH tests confirmed ES3 has it, and that’s the reason we use GARCH. </a:t>
            </a:r>
            <a:endParaRPr lang="en-US" altLang="zh-CN" dirty="0"/>
          </a:p>
          <a:p>
            <a:r>
              <a:rPr lang="en-US" altLang="zh-CN" dirty="0"/>
              <a:t>We tried three versions of GARCH, let BIC pick the best one, and refit it every month using only past data.</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5.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Now the position rule, which fits on one line:</a:t>
            </a:r>
            <a:endParaRPr lang="en-US" altLang="zh-CN" dirty="0"/>
          </a:p>
          <a:p>
            <a:r>
              <a:rPr lang="en-US" altLang="zh-CN" dirty="0"/>
              <a:t>We define,ES3 weight = target volatility divided by forecast volatility.</a:t>
            </a:r>
            <a:endParaRPr lang="en-US" altLang="zh-CN" dirty="0"/>
          </a:p>
          <a:p>
            <a:r>
              <a:rPr lang="en-US" altLang="zh-CN" dirty="0"/>
              <a:t>The rest goes into A35. </a:t>
            </a:r>
            <a:endParaRPr lang="en-US" altLang="zh-CN" dirty="0"/>
          </a:p>
          <a:p>
            <a:r>
              <a:rPr lang="en-US" altLang="zh-CN" dirty="0"/>
              <a:t>Intuitively, when GARCH says “storm coming,” we hold less stock and more bonds. When it says “sunny skies,” we move back into stocks. No leverage, ever.</a:t>
            </a:r>
            <a:endParaRPr lang="en-US" altLang="zh-CN" dirty="0"/>
          </a:p>
          <a:p>
            <a:r>
              <a:rPr lang="en-US" altLang="zh-CN" dirty="0"/>
              <a:t>One practical detail. We only rebalance when the weight changes by more than 10 percentage points, so we don’t burn money on trading costs. </a:t>
            </a:r>
            <a:endParaRPr lang="en-US" altLang="zh-CN" dirty="0"/>
          </a:p>
          <a:p>
            <a:r>
              <a:rPr lang="en-US" altLang="zh-CN" dirty="0"/>
              <a:t>In short: we don’t predict where the market goes. We just predict how bumpy the ride will be, and adjust our seatbelt. </a:t>
            </a:r>
            <a:endParaRPr lang="en-US" altLang="zh-CN" dirty="0"/>
          </a:p>
          <a:p>
            <a:r>
              <a:rPr lang="en-US" altLang="zh-CN" dirty="0"/>
              <a:t>Here is all for the Singapore market, and lets invite Lorraine to combine the two markets together.</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6.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Since Jessie has already told you about the US market, I‘ll walk you through our Singapore sleeve.</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7.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Good afternoon. Let me walk you through our final portfolio. It is entirely rules-based. Ninety percent goes into a US ETF rotation that targets thirty percent volatility, with a short-term hedge after hot CPI releases. The other ten percent goes into a Singapore sleeve, where a GARCH model sizes the risk.</a:t>
            </a:r>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Now, the results. In sample, from 2012 to 2019, we earned 28.2 percent a year, roughly double SPY.</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Out of sample, from 2020 to September 2026, the picture changes. We earned 45.0 percent a year, with a Sharpe of 1.46 and a maximum drawdown of 24 percent. SPY earned 15.2 percent, with a Sharpe of 0.80 and a drawdown of 34 percent. And it’s not just 2020: excluding that year, we still earned 35.2 percent. All of this is after costs.</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8.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pPr marL="0" marR="0" lvl="0" indent="0" algn="l" defTabSz="914400" rtl="0" eaLnBrk="1" fontAlgn="auto" latinLnBrk="0" hangingPunct="1">
              <a:lnSpc>
                <a:spcPct val="100000"/>
              </a:lnSpc>
              <a:spcBef>
                <a:spcPts val="0"/>
              </a:spcBef>
              <a:spcAft>
                <a:spcPts val="0"/>
              </a:spcAft>
              <a:buClrTx/>
              <a:buSzTx/>
              <a:buFontTx/>
              <a:buNone/>
              <a:defRPr/>
            </a:pPr>
            <a:r>
              <a:rPr lang="en-US" sz="1200" kern="1200" dirty="0">
                <a:solidFill>
                  <a:schemeClr val="tx1"/>
                </a:solidFill>
                <a:effectLst/>
                <a:latin typeface="+mn-lt"/>
                <a:ea typeface="+mn-ea"/>
                <a:cs typeface="+mn-cs"/>
              </a:rPr>
              <a:t>Next, the test period. We ran a separate simulated account, starting with one hundred thousand dollars on the first of October, with every trade filled at the next real opening price. After fourteen trading days, we are up 7.66 percent. For comparison, SPY is up 0.27 percent, and QQQ is down 3.27. Our maximum drawdown was 3.78 percent.</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19.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sz="1200" kern="1200" dirty="0">
                <a:solidFill>
                  <a:schemeClr val="tx1"/>
                </a:solidFill>
                <a:effectLst/>
                <a:latin typeface="+mn-lt"/>
                <a:ea typeface="+mn-ea"/>
                <a:cs typeface="+mn-cs"/>
              </a:rPr>
              <a:t>To conclude, this is a rules-based, risk-controlled and fully auditable strategy. Out of sample, it delivered nearly three times SPY’s return, with a shallower drawdown.</a:t>
            </a:r>
            <a:endParaRPr lang="en-US" sz="1200" kern="1200" dirty="0">
              <a:solidFill>
                <a:schemeClr val="tx1"/>
              </a:solidFill>
              <a:effectLst/>
              <a:latin typeface="+mn-lt"/>
              <a:ea typeface="+mn-ea"/>
              <a:cs typeface="+mn-cs"/>
            </a:endParaRPr>
          </a:p>
          <a:p>
            <a:endParaRPr lang="en-US" sz="1200" kern="1200" dirty="0">
              <a:solidFill>
                <a:schemeClr val="tx1"/>
              </a:solidFill>
              <a:effectLst/>
              <a:latin typeface="+mn-lt"/>
              <a:ea typeface="+mn-ea"/>
              <a:cs typeface="+mn-cs"/>
            </a:endParaRPr>
          </a:p>
          <a:p>
            <a:r>
              <a:rPr lang="en-US" sz="1200" kern="1200" dirty="0">
                <a:solidFill>
                  <a:schemeClr val="tx1"/>
                </a:solidFill>
                <a:effectLst/>
                <a:latin typeface="+mn-lt"/>
                <a:ea typeface="+mn-ea"/>
                <a:cs typeface="+mn-cs"/>
              </a:rPr>
              <a:t>But we need to confirm, there are limits. In sample, we showed no advantage on Sharpe or drawdown. The CPI overlay has triggered only nine times. And our costs are modelled from daily prices, not from broker fills. </a:t>
            </a:r>
            <a:endParaRPr lang="en-US" sz="1200" kern="1200" dirty="0">
              <a:solidFill>
                <a:schemeClr val="tx1"/>
              </a:solidFill>
              <a:effectLst/>
              <a:latin typeface="+mn-lt"/>
              <a:ea typeface="+mn-ea"/>
              <a:cs typeface="+mn-cs"/>
            </a:endParaRPr>
          </a:p>
          <a:p>
            <a:endParaRPr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notesSlides/notesSlide20.xml><?xml version="1.0" encoding="utf-8"?>
<p:notes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Slide Image Placeholder 1"/>
          <p:cNvSpPr>
            <a:spLocks noGrp="1" noRot="1" noChangeAspect="1"/>
          </p:cNvSpPr>
          <p:nvPr>
            <p:ph type="sldImg"/>
          </p:nvPr>
        </p:nvSpPr>
        <p:spPr/>
      </p:sp>
      <p:sp>
        <p:nvSpPr>
          <p:cNvPr id="3" name="Notes Placeholder 2"/>
          <p:cNvSpPr>
            <a:spLocks noGrp="1"/>
          </p:cNvSpPr>
          <p:nvPr>
            <p:ph type="body" idx="1"/>
          </p:nvPr>
        </p:nvSpPr>
        <p:spPr/>
        <p:txBody>
          <a:bodyPr/>
          <a:lstStyle/>
          <a:p>
            <a:r>
              <a:rPr lang="en-US" altLang="zh-CN" dirty="0"/>
              <a:t>Let’s start with plain GARCH(1,1). Intuitively,  tomorrow’s risk = a long-run average +  yesterday’s surprise +  yesterday’s risk. </a:t>
            </a:r>
            <a:endParaRPr lang="en-US" altLang="zh-CN" dirty="0"/>
          </a:p>
          <a:p>
            <a:endParaRPr lang="en-US" altLang="zh-CN" dirty="0"/>
          </a:p>
          <a:p>
            <a:r>
              <a:rPr lang="en-US" altLang="zh-CN" dirty="0"/>
              <a:t>But plain GARCH has one blind spot. It squares yesterday’s surprise, so the sign disappears: a 2% jump scares it just as much as a 2% drop. But it is not like the reality. Because in reality people always think I derserve the gain and lose should be attributed to the environment. So if there is a loss, it will cause some panic.</a:t>
            </a:r>
            <a:endParaRPr lang="en-US" altLang="zh-CN" dirty="0"/>
          </a:p>
          <a:p>
            <a:endParaRPr lang="en-US" altLang="zh-CN" dirty="0"/>
          </a:p>
          <a:p>
            <a:r>
              <a:rPr lang="en-US" altLang="zh-CN" dirty="0"/>
              <a:t>GJR-GARCH fixes this with one extra term, gamma, which only switches on after a bad day. So for ES3, good news doesn’t raise tomorrow’s risk at all. Bad news does all the work. Markets, like people, remember insults much longer than compliments.</a:t>
            </a:r>
            <a:endParaRPr lang="en-US" altLang="zh-CN" dirty="0"/>
          </a:p>
          <a:p>
            <a:endParaRPr lang="en-US" altLang="zh-CN" dirty="0"/>
          </a:p>
          <a:p>
            <a:r>
              <a:rPr lang="en-US" altLang="zh-CN" dirty="0"/>
              <a:t>No need to say much about the t-distribution, because the reality always has the fat-tail.</a:t>
            </a:r>
            <a:endParaRPr lang="en-US" altLang="zh-CN" dirty="0"/>
          </a:p>
        </p:txBody>
      </p:sp>
      <p:sp>
        <p:nvSpPr>
          <p:cNvPr id="4" name="Slide Number Placeholder 3"/>
          <p:cNvSpPr>
            <a:spLocks noGrp="1"/>
          </p:cNvSpPr>
          <p:nvPr>
            <p:ph type="sldNum" sz="quarter" idx="10"/>
          </p:nvPr>
        </p:nvSpPr>
        <p:spPr/>
        <p:txBody>
          <a:bodyPr/>
          <a:lstStyle/>
          <a:p>
            <a:fld id="{F7021451-1387-4CA6-816F-3879F97B5CBC}" type="slidenum">
              <a:rPr lang="en-US"/>
            </a:fld>
            <a:endParaRPr lang="en-US"/>
          </a:p>
        </p:txBody>
      </p:sp>
    </p:spTree>
  </p:cSld>
  <p:clrMapOvr>
    <a:masterClrMapping/>
  </p:clrMapOvr>
</p:notes>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preserve="1">
  <p:cSld name="DEFAULT">
    <p:bg>
      <p:bgRef idx="1001">
        <a:schemeClr val="bg1"/>
      </p:bgRef>
    </p:bg>
    <p:spTree>
      <p:nvGrpSpPr>
        <p:cNvPr id="1" name=""/>
        <p:cNvGrpSpPr/>
        <p:nvPr/>
      </p:nvGrpSpPr>
      <p:grpSpPr>
        <a:xfrm>
          <a:off x="0" y="0"/>
          <a:ext cx="0" cy="0"/>
          <a:chOff x="0" y="0"/>
          <a:chExt cx="0" cy="0"/>
        </a:xfrm>
      </p:grpSpPr>
    </p:spTree>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preserve="1">
  <p:cSld name="COVER">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0"/>
            <a:ext cx="9144000" cy="3200400"/>
          </a:xfrm>
          <a:prstGeom prst="rect">
            <a:avLst/>
          </a:prstGeom>
          <a:solidFill>
            <a:schemeClr val="accent1"/>
          </a:solidFill>
        </p:spPr>
      </p:sp>
      <p:sp>
        <p:nvSpPr>
          <p:cNvPr id="3" name="Shape 1"/>
          <p:cNvSpPr/>
          <p:nvPr/>
        </p:nvSpPr>
        <p:spPr>
          <a:xfrm>
            <a:off x="0" y="6355080"/>
            <a:ext cx="9144000" cy="502920"/>
          </a:xfrm>
          <a:prstGeom prst="rect">
            <a:avLst/>
          </a:prstGeom>
          <a:solidFill>
            <a:schemeClr val="accent1"/>
          </a:solidFill>
        </p:spPr>
        <p:txBody>
          <a:bodyPr/>
          <a:p>
            <a:endParaRPr lang="zh-CN" altLang="en-US"/>
          </a:p>
        </p:txBody>
      </p:sp>
      <p:sp>
        <p:nvSpPr>
          <p:cNvPr id="4" name="Text 2"/>
          <p:cNvSpPr/>
          <p:nvPr/>
        </p:nvSpPr>
        <p:spPr>
          <a:xfrm>
            <a:off x="320040" y="6355080"/>
            <a:ext cx="5029200" cy="502920"/>
          </a:xfrm>
          <a:prstGeom prst="rect">
            <a:avLst/>
          </a:prstGeom>
          <a:noFill/>
        </p:spPr>
        <p:txBody>
          <a:bodyPr wrap="square" lIns="0" tIns="0" rIns="0" bIns="0" rtlCol="0" anchor="ctr"/>
          <a:lstStyle/>
          <a:p>
            <a:pPr marL="0" indent="0">
              <a:buNone/>
            </a:pPr>
            <a:r>
              <a:rPr lang="en-US" sz="1100" b="1" dirty="0">
                <a:solidFill>
                  <a:schemeClr val="accent2"/>
                </a:solidFill>
              </a:rPr>
              <a:t>ReRe</a:t>
            </a:r>
            <a:r>
              <a:rPr lang="en-US" sz="1100" b="1" dirty="0">
                <a:solidFill>
                  <a:schemeClr val="accent2"/>
                </a:solidFill>
              </a:rPr>
              <a:t>Re · FE5209 Financial Econometrics</a:t>
            </a:r>
            <a:endParaRPr lang="en-US" sz="1100" dirty="0"/>
          </a:p>
        </p:txBody>
      </p:sp>
      <p:sp>
        <p:nvSpPr>
          <p:cNvPr id="5" name="Text 3"/>
          <p:cNvSpPr/>
          <p:nvPr/>
        </p:nvSpPr>
        <p:spPr>
          <a:xfrm>
            <a:off x="5394960" y="6355080"/>
            <a:ext cx="2926080" cy="502920"/>
          </a:xfrm>
          <a:prstGeom prst="rect">
            <a:avLst/>
          </a:prstGeom>
          <a:noFill/>
        </p:spPr>
        <p:txBody>
          <a:bodyPr wrap="square" lIns="0" tIns="0" rIns="0" bIns="0" rtlCol="0" anchor="ctr"/>
          <a:lstStyle/>
          <a:p>
            <a:pPr marL="0" indent="0" algn="r">
              <a:buNone/>
            </a:pPr>
            <a:r>
              <a:rPr lang="en-US" sz="1000" b="1" dirty="0">
                <a:solidFill>
                  <a:schemeClr val="accent2"/>
                </a:solidFill>
              </a:rPr>
              <a:t>Risk Management Institute · NUS</a:t>
            </a:r>
            <a:endParaRPr lang="en-US" sz="1000" dirty="0"/>
          </a:p>
        </p:txBody>
      </p:sp>
      <p:sp>
        <p:nvSpPr>
          <p:cNvPr id="6" name="Text 4"/>
          <p:cNvSpPr/>
          <p:nvPr>
            <p:ph type="title" idx="104" hasCustomPrompt="1"/>
          </p:nvPr>
        </p:nvSpPr>
        <p:spPr>
          <a:xfrm>
            <a:off x="548640" y="1097280"/>
            <a:ext cx="8046720" cy="1463040"/>
          </a:xfrm>
          <a:prstGeom prst="rect">
            <a:avLst/>
          </a:prstGeom>
          <a:noFill/>
        </p:spPr>
        <p:txBody>
          <a:bodyPr wrap="square" rtlCol="0"/>
          <a:lstStyle>
            <a:lvl1pPr marL="0" indent="0" algn="ctr">
              <a:buNone/>
              <a:defRPr lang="en-US" sz="3600" b="1" dirty="0">
                <a:solidFill>
                  <a:schemeClr val="bg1"/>
                </a:solidFill>
              </a:defRPr>
            </a:lvl1pPr>
          </a:lstStyle>
          <a:p>
            <a:pPr marL="0" indent="0" algn="ctr">
              <a:buNone/>
            </a:pPr>
            <a:r>
              <a:rPr lang="en-US" sz="3600" b="1" dirty="0">
                <a:solidFill>
                  <a:schemeClr val="bg1"/>
                </a:solidFill>
              </a:rPr>
              <a:t>Project title</a:t>
            </a:r>
            <a:endParaRPr lang="en-US" sz="3600" dirty="0"/>
          </a:p>
        </p:txBody>
      </p:sp>
      <p:sp>
        <p:nvSpPr>
          <p:cNvPr id="7" name="Text 4"/>
          <p:cNvSpPr/>
          <p:nvPr>
            <p:ph type="body" idx="105" hasCustomPrompt="1"/>
          </p:nvPr>
        </p:nvSpPr>
        <p:spPr>
          <a:xfrm>
            <a:off x="548640" y="3657600"/>
            <a:ext cx="8046720" cy="2377440"/>
          </a:xfrm>
          <a:prstGeom prst="rect">
            <a:avLst/>
          </a:prstGeom>
          <a:noFill/>
        </p:spPr>
        <p:txBody>
          <a:bodyPr wrap="square" rtlCol="0"/>
          <a:lstStyle>
            <a:lvl1pPr marL="0" indent="0" algn="ctr">
              <a:buNone/>
              <a:defRPr lang="en-US" sz="1800" dirty="0">
                <a:solidFill>
                  <a:schemeClr val="accent1"/>
                </a:solidFill>
              </a:defRPr>
            </a:lvl1pPr>
          </a:lstStyle>
          <a:p>
            <a:pPr marL="0" indent="0" algn="ctr">
              <a:buNone/>
            </a:pPr>
            <a:r>
              <a:rPr lang="en-US" sz="1800" dirty="0">
                <a:solidFill>
                  <a:schemeClr val="accent1"/>
                </a:solidFill>
              </a:rPr>
              <a:t>Subtitle</a:t>
            </a:r>
            <a:endParaRPr lang="en-US" sz="1800" dirty="0"/>
          </a:p>
        </p:txBody>
      </p:sp>
    </p:spTree>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preserve="1">
  <p:cSld name="CONTENT">
    <p:bg>
      <p:bgPr>
        <a:solidFill>
          <a:schemeClr val="bg1"/>
        </a:solidFill>
        <a:effectLst/>
      </p:bgPr>
    </p:bg>
    <p:spTree>
      <p:nvGrpSpPr>
        <p:cNvPr id="1" name=""/>
        <p:cNvGrpSpPr/>
        <p:nvPr/>
      </p:nvGrpSpPr>
      <p:grpSpPr>
        <a:xfrm>
          <a:off x="0" y="0"/>
          <a:ext cx="0" cy="0"/>
          <a:chOff x="0" y="0"/>
          <a:chExt cx="0" cy="0"/>
        </a:xfrm>
      </p:grpSpPr>
      <p:sp>
        <p:nvSpPr>
          <p:cNvPr id="2" name="Shape 0"/>
          <p:cNvSpPr/>
          <p:nvPr/>
        </p:nvSpPr>
        <p:spPr>
          <a:xfrm>
            <a:off x="0" y="6355080"/>
            <a:ext cx="9144000" cy="502920"/>
          </a:xfrm>
          <a:prstGeom prst="rect">
            <a:avLst/>
          </a:prstGeom>
          <a:solidFill>
            <a:schemeClr val="accent1"/>
          </a:solidFill>
        </p:spPr>
      </p:sp>
      <p:sp>
        <p:nvSpPr>
          <p:cNvPr id="3" name="Text 1"/>
          <p:cNvSpPr/>
          <p:nvPr/>
        </p:nvSpPr>
        <p:spPr>
          <a:xfrm>
            <a:off x="320040" y="6355080"/>
            <a:ext cx="5029200" cy="502920"/>
          </a:xfrm>
          <a:prstGeom prst="rect">
            <a:avLst/>
          </a:prstGeom>
          <a:noFill/>
        </p:spPr>
        <p:txBody>
          <a:bodyPr wrap="square" lIns="0" tIns="0" rIns="0" bIns="0" rtlCol="0" anchor="ctr"/>
          <a:lstStyle/>
          <a:p>
            <a:pPr marL="0" indent="0">
              <a:buNone/>
            </a:pPr>
            <a:r>
              <a:rPr lang="en-US" sz="1100" b="1" dirty="0">
                <a:solidFill>
                  <a:schemeClr val="accent2"/>
                </a:solidFill>
              </a:rPr>
              <a:t>ReRe</a:t>
            </a:r>
            <a:r>
              <a:rPr lang="en-US" sz="1100" b="1" dirty="0">
                <a:solidFill>
                  <a:schemeClr val="accent2"/>
                </a:solidFill>
              </a:rPr>
              <a:t>Re · FE5209 Financial Econometrics</a:t>
            </a:r>
            <a:endParaRPr lang="en-US" sz="1100" dirty="0"/>
          </a:p>
        </p:txBody>
      </p:sp>
      <p:sp>
        <p:nvSpPr>
          <p:cNvPr id="4" name="Text 2"/>
          <p:cNvSpPr/>
          <p:nvPr/>
        </p:nvSpPr>
        <p:spPr>
          <a:xfrm>
            <a:off x="5394960" y="6355080"/>
            <a:ext cx="2926080" cy="502920"/>
          </a:xfrm>
          <a:prstGeom prst="rect">
            <a:avLst/>
          </a:prstGeom>
          <a:noFill/>
        </p:spPr>
        <p:txBody>
          <a:bodyPr wrap="square" lIns="0" tIns="0" rIns="0" bIns="0" rtlCol="0" anchor="ctr"/>
          <a:lstStyle/>
          <a:p>
            <a:pPr marL="0" indent="0" algn="r">
              <a:buNone/>
            </a:pPr>
            <a:r>
              <a:rPr lang="en-US" sz="1000" b="1" dirty="0">
                <a:solidFill>
                  <a:schemeClr val="accent2"/>
                </a:solidFill>
              </a:rPr>
              <a:t>Risk Management Institute · NUS</a:t>
            </a:r>
            <a:endParaRPr lang="en-US" sz="1000" dirty="0"/>
          </a:p>
        </p:txBody>
      </p:sp>
      <p:sp>
        <p:nvSpPr>
          <p:cNvPr id="5" name="Text 3"/>
          <p:cNvSpPr/>
          <p:nvPr>
            <p:ph type="title" idx="103" hasCustomPrompt="1"/>
          </p:nvPr>
        </p:nvSpPr>
        <p:spPr>
          <a:xfrm>
            <a:off x="411480" y="320040"/>
            <a:ext cx="7955280" cy="777240"/>
          </a:xfrm>
          <a:prstGeom prst="rect">
            <a:avLst/>
          </a:prstGeom>
          <a:noFill/>
        </p:spPr>
        <p:txBody>
          <a:bodyPr wrap="square" rtlCol="0"/>
          <a:lstStyle>
            <a:lvl1pPr marL="0" indent="0" algn="l">
              <a:buNone/>
              <a:defRPr lang="en-US" sz="3200" b="1" dirty="0">
                <a:solidFill>
                  <a:schemeClr val="tx2"/>
                </a:solidFill>
              </a:defRPr>
            </a:lvl1pPr>
          </a:lstStyle>
          <a:p>
            <a:pPr marL="0" indent="0" algn="l">
              <a:buNone/>
            </a:pPr>
            <a:r>
              <a:rPr lang="en-US" sz="3200" b="1" dirty="0">
                <a:solidFill>
                  <a:schemeClr val="tx2"/>
                </a:solidFill>
              </a:rPr>
              <a:t>Slide title</a:t>
            </a:r>
            <a:endParaRPr lang="en-US" sz="32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Tree>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preserve="1">
  <p:cSld name="SECTION">
    <p:bg>
      <p:bgPr>
        <a:solidFill>
          <a:schemeClr val="accent1"/>
        </a:solidFill>
        <a:effectLst/>
      </p:bgPr>
    </p:bg>
    <p:spTree>
      <p:nvGrpSpPr>
        <p:cNvPr id="1" name=""/>
        <p:cNvGrpSpPr/>
        <p:nvPr/>
      </p:nvGrpSpPr>
      <p:grpSpPr>
        <a:xfrm>
          <a:off x="0" y="0"/>
          <a:ext cx="0" cy="0"/>
          <a:chOff x="0" y="0"/>
          <a:chExt cx="0" cy="0"/>
        </a:xfrm>
      </p:grpSpPr>
      <p:sp>
        <p:nvSpPr>
          <p:cNvPr id="2" name="Shape 0"/>
          <p:cNvSpPr/>
          <p:nvPr/>
        </p:nvSpPr>
        <p:spPr>
          <a:xfrm>
            <a:off x="0" y="6355080"/>
            <a:ext cx="9144000" cy="502920"/>
          </a:xfrm>
          <a:prstGeom prst="rect">
            <a:avLst/>
          </a:prstGeom>
          <a:solidFill>
            <a:schemeClr val="tx2"/>
          </a:solidFill>
        </p:spPr>
      </p:sp>
      <p:sp>
        <p:nvSpPr>
          <p:cNvPr id="3" name="Text 1"/>
          <p:cNvSpPr/>
          <p:nvPr/>
        </p:nvSpPr>
        <p:spPr>
          <a:xfrm>
            <a:off x="320040" y="6355080"/>
            <a:ext cx="5486400" cy="502920"/>
          </a:xfrm>
          <a:prstGeom prst="rect">
            <a:avLst/>
          </a:prstGeom>
          <a:noFill/>
        </p:spPr>
        <p:txBody>
          <a:bodyPr wrap="square" lIns="0" tIns="0" rIns="0" bIns="0" rtlCol="0" anchor="ctr"/>
          <a:lstStyle/>
          <a:p>
            <a:pPr marL="0" indent="0">
              <a:buNone/>
            </a:pPr>
            <a:r>
              <a:rPr lang="en-US" sz="1100" b="1" dirty="0">
                <a:solidFill>
                  <a:schemeClr val="accent2"/>
                </a:solidFill>
              </a:rPr>
              <a:t>ReReRe · FE5209 Financial Econometrics</a:t>
            </a:r>
            <a:endParaRPr lang="en-US" sz="1100" dirty="0"/>
          </a:p>
        </p:txBody>
      </p:sp>
      <p:sp>
        <p:nvSpPr>
          <p:cNvPr id="4" name="Text 2"/>
          <p:cNvSpPr/>
          <p:nvPr>
            <p:ph type="title" idx="102" hasCustomPrompt="1"/>
          </p:nvPr>
        </p:nvSpPr>
        <p:spPr>
          <a:xfrm>
            <a:off x="731520" y="2377440"/>
            <a:ext cx="7680960" cy="1097280"/>
          </a:xfrm>
          <a:prstGeom prst="rect">
            <a:avLst/>
          </a:prstGeom>
          <a:noFill/>
        </p:spPr>
        <p:txBody>
          <a:bodyPr wrap="square" rtlCol="0"/>
          <a:lstStyle>
            <a:lvl1pPr marL="0" indent="0" algn="ctr">
              <a:buNone/>
              <a:defRPr lang="en-US" sz="4000" b="1" dirty="0">
                <a:solidFill>
                  <a:schemeClr val="bg1"/>
                </a:solidFill>
              </a:defRPr>
            </a:lvl1pPr>
          </a:lstStyle>
          <a:p>
            <a:pPr marL="0" indent="0" algn="ctr">
              <a:buNone/>
            </a:pPr>
            <a:r>
              <a:rPr lang="en-US" sz="4000" b="1" dirty="0">
                <a:solidFill>
                  <a:schemeClr val="bg1"/>
                </a:solidFill>
              </a:rPr>
              <a:t>Section</a:t>
            </a:r>
            <a:endParaRPr lang="en-US" sz="4000" dirty="0"/>
          </a:p>
        </p:txBody>
      </p:sp>
      <p:sp>
        <p:nvSpPr>
          <p:cNvPr id="5" name="Text 2"/>
          <p:cNvSpPr/>
          <p:nvPr>
            <p:ph type="body" idx="103" hasCustomPrompt="1"/>
          </p:nvPr>
        </p:nvSpPr>
        <p:spPr>
          <a:xfrm>
            <a:off x="731520" y="3474720"/>
            <a:ext cx="7680960" cy="731520"/>
          </a:xfrm>
          <a:prstGeom prst="rect">
            <a:avLst/>
          </a:prstGeom>
          <a:noFill/>
        </p:spPr>
        <p:txBody>
          <a:bodyPr wrap="square" rtlCol="0"/>
          <a:lstStyle>
            <a:lvl1pPr marL="0" indent="0" algn="ctr">
              <a:buNone/>
              <a:defRPr lang="en-US" sz="1800" i="1" dirty="0">
                <a:solidFill>
                  <a:schemeClr val="bg2"/>
                </a:solidFill>
              </a:defRPr>
            </a:lvl1pPr>
          </a:lstStyle>
          <a:p>
            <a:pPr marL="0" indent="0" algn="ctr">
              <a:buNone/>
            </a:pPr>
            <a:r>
              <a:rPr lang="en-US" sz="1800" i="1" dirty="0">
                <a:solidFill>
                  <a:schemeClr val="bg2"/>
                </a:solidFill>
              </a:rPr>
              <a:t>Subtitle</a:t>
            </a:r>
            <a:endParaRPr lang="en-US" sz="1800" dirty="0"/>
          </a:p>
        </p:txBody>
      </p:sp>
    </p:spTree>
  </p:cSld>
  <p:clrMapOvr>
    <a:masterClrMapping/>
  </p:clrMapOvr>
</p:sldLayout>
</file>

<file path=ppt/slideMasters/_rels/slideMaster1.xml.rels><?xml version="1.0" encoding="UTF-8" standalone="yes"?>
<Relationships xmlns="http://schemas.openxmlformats.org/package/2006/relationships"><Relationship Id="rId5" Type="http://schemas.openxmlformats.org/officeDocument/2006/relationships/theme" Target="../theme/theme1.xml"/><Relationship Id="rId4" Type="http://schemas.openxmlformats.org/officeDocument/2006/relationships/slideLayout" Target="../slideLayouts/slideLayout4.xml"/><Relationship Id="rId3" Type="http://schemas.openxmlformats.org/officeDocument/2006/relationships/slideLayout" Target="../slideLayouts/slideLayout3.xml"/><Relationship Id="rId2" Type="http://schemas.openxmlformats.org/officeDocument/2006/relationships/slideLayout" Target="../slideLayouts/slideLayout2.xml"/><Relationship Id="rId1" Type="http://schemas.openxmlformats.org/officeDocument/2006/relationships/slideLayout" Target="../slideLayouts/slideLayout1.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Tree>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Lst>
  <p:hf sldNum="0" hdr="0" ftr="0" dt="0"/>
  <p:txStyles>
    <p:titleStyle>
      <a:lvl1pPr algn="ctr" defTabSz="914400" rtl="0" eaLnBrk="1" latinLnBrk="0" hangingPunct="1">
        <a:spcBef>
          <a:spcPct val="0"/>
        </a:spcBef>
        <a:buNone/>
        <a:defRPr sz="4400" kern="1200">
          <a:solidFill>
            <a:schemeClr val="tx1"/>
          </a:solidFill>
          <a:latin typeface="+mj-lt"/>
          <a:ea typeface="+mj-ea"/>
          <a:cs typeface="+mj-cs"/>
        </a:defRPr>
      </a:lvl1pPr>
    </p:titleStyle>
    <p:bodyStyle>
      <a:lvl1pPr marL="342900" indent="-342900" algn="l" defTabSz="914400" rtl="0" eaLnBrk="1" latinLnBrk="0" hangingPunct="1">
        <a:spcBef>
          <a:spcPct val="20000"/>
        </a:spcBef>
        <a:buFont typeface="Arial" panose="020B0604020202020204" pitchFamily="34" charset="0"/>
        <a:buChar char="•"/>
        <a:defRPr sz="3200" kern="1200">
          <a:solidFill>
            <a:schemeClr val="tx1"/>
          </a:solidFill>
          <a:latin typeface="+mn-lt"/>
          <a:ea typeface="+mn-ea"/>
          <a:cs typeface="+mn-cs"/>
        </a:defRPr>
      </a:lvl1pPr>
      <a:lvl2pPr marL="742950" indent="-285750" algn="l" defTabSz="914400" rtl="0" eaLnBrk="1" latinLnBrk="0" hangingPunct="1">
        <a:spcBef>
          <a:spcPct val="20000"/>
        </a:spcBef>
        <a:buFont typeface="Arial" panose="020B0604020202020204" pitchFamily="34" charset="0"/>
        <a:buChar char="–"/>
        <a:defRPr sz="2800" kern="1200">
          <a:solidFill>
            <a:schemeClr val="tx1"/>
          </a:solidFill>
          <a:latin typeface="+mn-lt"/>
          <a:ea typeface="+mn-ea"/>
          <a:cs typeface="+mn-cs"/>
        </a:defRPr>
      </a:lvl2pPr>
      <a:lvl3pPr marL="1143000" indent="-228600" algn="l" defTabSz="914400" rtl="0" eaLnBrk="1" latinLnBrk="0" hangingPunct="1">
        <a:spcBef>
          <a:spcPct val="20000"/>
        </a:spcBef>
        <a:buFont typeface="Arial" panose="020B0604020202020204" pitchFamily="34" charset="0"/>
        <a:buChar char="•"/>
        <a:defRPr sz="2400" kern="1200">
          <a:solidFill>
            <a:schemeClr val="tx1"/>
          </a:solidFill>
          <a:latin typeface="+mn-lt"/>
          <a:ea typeface="+mn-ea"/>
          <a:cs typeface="+mn-cs"/>
        </a:defRPr>
      </a:lvl3pPr>
      <a:lvl4pPr marL="1600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4pPr>
      <a:lvl5pPr marL="20574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5pPr>
      <a:lvl6pPr marL="25146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6pPr>
      <a:lvl7pPr marL="29718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7pPr>
      <a:lvl8pPr marL="34290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8pPr>
      <a:lvl9pPr marL="3886200" indent="-228600" algn="l" defTabSz="914400" rtl="0" eaLnBrk="1" latinLnBrk="0" hangingPunct="1">
        <a:spcBef>
          <a:spcPct val="20000"/>
        </a:spcBef>
        <a:buFont typeface="Arial" panose="020B0604020202020204" pitchFamily="34" charset="0"/>
        <a:buChar char="•"/>
        <a:defRPr sz="20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2" Type="http://schemas.openxmlformats.org/officeDocument/2006/relationships/notesSlide" Target="../notesSlides/notesSlide1.xml"/><Relationship Id="rId1" Type="http://schemas.openxmlformats.org/officeDocument/2006/relationships/slideLayout" Target="../slideLayouts/slideLayout2.xml"/></Relationships>
</file>

<file path=ppt/slides/_rels/slide2.xml.rels><?xml version="1.0" encoding="UTF-8" standalone="yes"?>
<Relationships xmlns="http://schemas.openxmlformats.org/package/2006/relationships"><Relationship Id="rId3" Type="http://schemas.openxmlformats.org/officeDocument/2006/relationships/notesSlide" Target="../notesSlides/notesSlide2.xml"/><Relationship Id="rId2" Type="http://schemas.openxmlformats.org/officeDocument/2006/relationships/slideLayout" Target="../slideLayouts/slideLayout3.xml"/><Relationship Id="rId1" Type="http://schemas.openxmlformats.org/officeDocument/2006/relationships/image" Target="../media/image1.jpeg"/></Relationships>
</file>

<file path=ppt/slides/_rels/slide3.xml.rels><?xml version="1.0" encoding="UTF-8" standalone="yes"?>
<Relationships xmlns="http://schemas.openxmlformats.org/package/2006/relationships"><Relationship Id="rId2" Type="http://schemas.openxmlformats.org/officeDocument/2006/relationships/notesSlide" Target="../notesSlides/notesSlide3.xml"/><Relationship Id="rId1" Type="http://schemas.openxmlformats.org/officeDocument/2006/relationships/slideLayout" Target="../slideLayouts/slideLayout3.xml"/></Relationships>
</file>

<file path=ppt/slides/_rels/slide4.xml.rels><?xml version="1.0" encoding="UTF-8" standalone="yes"?>
<Relationships xmlns="http://schemas.openxmlformats.org/package/2006/relationships"><Relationship Id="rId2" Type="http://schemas.openxmlformats.org/officeDocument/2006/relationships/notesSlide" Target="../notesSlides/notesSlide4.xml"/><Relationship Id="rId1" Type="http://schemas.openxmlformats.org/officeDocument/2006/relationships/slideLayout" Target="../slideLayouts/slideLayout3.xml"/></Relationships>
</file>

<file path=ppt/slides/_rels/slide5.xml.rels><?xml version="1.0" encoding="UTF-8" standalone="yes"?>
<Relationships xmlns="http://schemas.openxmlformats.org/package/2006/relationships"><Relationship Id="rId2" Type="http://schemas.openxmlformats.org/officeDocument/2006/relationships/notesSlide" Target="../notesSlides/notesSlide5.xml"/><Relationship Id="rId1" Type="http://schemas.openxmlformats.org/officeDocument/2006/relationships/slideLayout" Target="../slideLayouts/slideLayout3.xml"/></Relationships>
</file>

<file path=ppt/slides/_rels/slide6.xml.rels><?xml version="1.0" encoding="UTF-8" standalone="yes"?>
<Relationships xmlns="http://schemas.openxmlformats.org/package/2006/relationships"><Relationship Id="rId2" Type="http://schemas.openxmlformats.org/officeDocument/2006/relationships/notesSlide" Target="../notesSlides/notesSlide6.xml"/><Relationship Id="rId1" Type="http://schemas.openxmlformats.org/officeDocument/2006/relationships/slideLayout" Target="../slideLayouts/slideLayout3.xml"/></Relationships>
</file>

<file path=ppt/slides/_rels/slide7.xml.rels><?xml version="1.0" encoding="UTF-8" standalone="yes"?>
<Relationships xmlns="http://schemas.openxmlformats.org/package/2006/relationships"><Relationship Id="rId2" Type="http://schemas.openxmlformats.org/officeDocument/2006/relationships/notesSlide" Target="../notesSlides/notesSlide7.xml"/><Relationship Id="rId1" Type="http://schemas.openxmlformats.org/officeDocument/2006/relationships/slideLayout" Target="../slideLayouts/slideLayout1.xml"/></Relationships>
</file>

<file path=ppt/slides/_rels/slide8.xml.rels><?xml version="1.0" encoding="UTF-8" standalone="yes"?>
<Relationships xmlns="http://schemas.openxmlformats.org/package/2006/relationships"><Relationship Id="rId2" Type="http://schemas.openxmlformats.org/officeDocument/2006/relationships/notesSlide" Target="../notesSlides/notesSlide8.xml"/><Relationship Id="rId1" Type="http://schemas.openxmlformats.org/officeDocument/2006/relationships/slideLayout" Target="../slideLayouts/slideLayout1.xml"/></Relationships>
</file>

<file path=ppt/slides/_rels/slide9.xml.rels><?xml version="1.0" encoding="UTF-8" standalone="yes"?>
<Relationships xmlns="http://schemas.openxmlformats.org/package/2006/relationships"><Relationship Id="rId2" Type="http://schemas.openxmlformats.org/officeDocument/2006/relationships/notesSlide" Target="../notesSlides/notesSlide9.xml"/><Relationship Id="rId1" Type="http://schemas.openxmlformats.org/officeDocument/2006/relationships/slideLayout" Target="../slideLayouts/slideLayout4.xml"/></Relationships>
</file>

<file path=ppt/slides/_rels/slide10.xml.rels><?xml version="1.0" encoding="UTF-8" standalone="yes"?>
<Relationships xmlns="http://schemas.openxmlformats.org/package/2006/relationships"><Relationship Id="rId6" Type="http://schemas.openxmlformats.org/officeDocument/2006/relationships/notesSlide" Target="../notesSlides/notesSlide10.xml"/><Relationship Id="rId5" Type="http://schemas.openxmlformats.org/officeDocument/2006/relationships/slideLayout" Target="../slideLayouts/slideLayout3.xml"/><Relationship Id="rId4" Type="http://schemas.openxmlformats.org/officeDocument/2006/relationships/image" Target="../media/image5.png"/><Relationship Id="rId3" Type="http://schemas.openxmlformats.org/officeDocument/2006/relationships/image" Target="../media/image4.png"/><Relationship Id="rId2" Type="http://schemas.openxmlformats.org/officeDocument/2006/relationships/image" Target="../media/image3.png"/><Relationship Id="rId1" Type="http://schemas.openxmlformats.org/officeDocument/2006/relationships/image" Target="../media/image2.png"/></Relationships>
</file>

<file path=ppt/slides/_rels/slide11.xml.rels><?xml version="1.0" encoding="UTF-8" standalone="yes"?>
<Relationships xmlns="http://schemas.openxmlformats.org/package/2006/relationships"><Relationship Id="rId2" Type="http://schemas.openxmlformats.org/officeDocument/2006/relationships/notesSlide" Target="../notesSlides/notesSlide11.xml"/><Relationship Id="rId1" Type="http://schemas.openxmlformats.org/officeDocument/2006/relationships/slideLayout" Target="../slideLayouts/slideLayout3.xml"/></Relationships>
</file>

<file path=ppt/slides/_rels/slide12.xml.rels><?xml version="1.0" encoding="UTF-8" standalone="yes"?>
<Relationships xmlns="http://schemas.openxmlformats.org/package/2006/relationships"><Relationship Id="rId2" Type="http://schemas.openxmlformats.org/officeDocument/2006/relationships/notesSlide" Target="../notesSlides/notesSlide12.xml"/><Relationship Id="rId1" Type="http://schemas.openxmlformats.org/officeDocument/2006/relationships/slideLayout" Target="../slideLayouts/slideLayout4.xml"/></Relationships>
</file>

<file path=ppt/slides/_rels/slide13.xml.rels><?xml version="1.0" encoding="UTF-8" standalone="yes"?>
<Relationships xmlns="http://schemas.openxmlformats.org/package/2006/relationships"><Relationship Id="rId4" Type="http://schemas.openxmlformats.org/officeDocument/2006/relationships/notesSlide" Target="../notesSlides/notesSlide13.xml"/><Relationship Id="rId3" Type="http://schemas.openxmlformats.org/officeDocument/2006/relationships/slideLayout" Target="../slideLayouts/slideLayout3.xml"/><Relationship Id="rId2" Type="http://schemas.openxmlformats.org/officeDocument/2006/relationships/image" Target="../media/image7.png"/><Relationship Id="rId1" Type="http://schemas.openxmlformats.org/officeDocument/2006/relationships/image" Target="../media/image6.png"/></Relationships>
</file>

<file path=ppt/slides/_rels/slide14.xml.rels><?xml version="1.0" encoding="UTF-8" standalone="yes"?>
<Relationships xmlns="http://schemas.openxmlformats.org/package/2006/relationships"><Relationship Id="rId4" Type="http://schemas.openxmlformats.org/officeDocument/2006/relationships/notesSlide" Target="../notesSlides/notesSlide14.xml"/><Relationship Id="rId3" Type="http://schemas.openxmlformats.org/officeDocument/2006/relationships/slideLayout" Target="../slideLayouts/slideLayout3.xml"/><Relationship Id="rId2" Type="http://schemas.openxmlformats.org/officeDocument/2006/relationships/image" Target="../media/image9.png"/><Relationship Id="rId1" Type="http://schemas.openxmlformats.org/officeDocument/2006/relationships/image" Target="../media/image8.png"/></Relationships>
</file>

<file path=ppt/slides/_rels/slide15.xml.rels><?xml version="1.0" encoding="UTF-8" standalone="yes"?>
<Relationships xmlns="http://schemas.openxmlformats.org/package/2006/relationships"><Relationship Id="rId5" Type="http://schemas.openxmlformats.org/officeDocument/2006/relationships/notesSlide" Target="../notesSlides/notesSlide15.xml"/><Relationship Id="rId4" Type="http://schemas.openxmlformats.org/officeDocument/2006/relationships/slideLayout" Target="../slideLayouts/slideLayout3.xml"/><Relationship Id="rId3" Type="http://schemas.openxmlformats.org/officeDocument/2006/relationships/image" Target="../media/image12.jpeg"/><Relationship Id="rId2" Type="http://schemas.openxmlformats.org/officeDocument/2006/relationships/image" Target="../media/image11.webp"/><Relationship Id="rId1" Type="http://schemas.openxmlformats.org/officeDocument/2006/relationships/image" Target="../media/image10.png"/></Relationships>
</file>

<file path=ppt/slides/_rels/slide16.xml.rels><?xml version="1.0" encoding="UTF-8" standalone="yes"?>
<Relationships xmlns="http://schemas.openxmlformats.org/package/2006/relationships"><Relationship Id="rId2" Type="http://schemas.openxmlformats.org/officeDocument/2006/relationships/notesSlide" Target="../notesSlides/notesSlide16.xml"/><Relationship Id="rId1" Type="http://schemas.openxmlformats.org/officeDocument/2006/relationships/slideLayout" Target="../slideLayouts/slideLayout4.xml"/></Relationships>
</file>

<file path=ppt/slides/_rels/slide17.xml.rels><?xml version="1.0" encoding="UTF-8" standalone="yes"?>
<Relationships xmlns="http://schemas.openxmlformats.org/package/2006/relationships"><Relationship Id="rId3" Type="http://schemas.openxmlformats.org/officeDocument/2006/relationships/notesSlide" Target="../notesSlides/notesSlide17.xml"/><Relationship Id="rId2" Type="http://schemas.openxmlformats.org/officeDocument/2006/relationships/slideLayout" Target="../slideLayouts/slideLayout3.xml"/><Relationship Id="rId1" Type="http://schemas.openxmlformats.org/officeDocument/2006/relationships/chart" Target="../charts/chart1.xml"/></Relationships>
</file>

<file path=ppt/slides/_rels/slide18.xml.rels><?xml version="1.0" encoding="UTF-8" standalone="yes"?>
<Relationships xmlns="http://schemas.openxmlformats.org/package/2006/relationships"><Relationship Id="rId2" Type="http://schemas.openxmlformats.org/officeDocument/2006/relationships/notesSlide" Target="../notesSlides/notesSlide18.xml"/><Relationship Id="rId1" Type="http://schemas.openxmlformats.org/officeDocument/2006/relationships/slideLayout" Target="../slideLayouts/slideLayout3.xml"/></Relationships>
</file>

<file path=ppt/slides/_rels/slide19.xml.rels><?xml version="1.0" encoding="UTF-8" standalone="yes"?>
<Relationships xmlns="http://schemas.openxmlformats.org/package/2006/relationships"><Relationship Id="rId2" Type="http://schemas.openxmlformats.org/officeDocument/2006/relationships/notesSlide" Target="../notesSlides/notesSlide19.xml"/><Relationship Id="rId1" Type="http://schemas.openxmlformats.org/officeDocument/2006/relationships/slideLayout" Target="../slideLayouts/slideLayout3.xml"/></Relationships>
</file>

<file path=ppt/slides/_rels/slide20.xml.rels><?xml version="1.0" encoding="UTF-8" standalone="yes"?>
<Relationships xmlns="http://schemas.openxmlformats.org/package/2006/relationships"><Relationship Id="rId6" Type="http://schemas.openxmlformats.org/officeDocument/2006/relationships/notesSlide" Target="../notesSlides/notesSlide20.xml"/><Relationship Id="rId5" Type="http://schemas.openxmlformats.org/officeDocument/2006/relationships/slideLayout" Target="../slideLayouts/slideLayout3.xml"/><Relationship Id="rId4" Type="http://schemas.openxmlformats.org/officeDocument/2006/relationships/image" Target="../media/image16.png"/><Relationship Id="rId3" Type="http://schemas.openxmlformats.org/officeDocument/2006/relationships/image" Target="../media/image15.png"/><Relationship Id="rId2" Type="http://schemas.openxmlformats.org/officeDocument/2006/relationships/image" Target="../media/image14.png"/><Relationship Id="rId1" Type="http://schemas.openxmlformats.org/officeDocument/2006/relationships/image" Target="../media/image13.png"/></Relationships>
</file>

<file path=ppt/slides/slide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4"/>
          <p:cNvSpPr>
            <a:spLocks noGrp="1"/>
          </p:cNvSpPr>
          <p:nvPr>
            <p:ph type="title" idx="104" hasCustomPrompt="1"/>
          </p:nvPr>
        </p:nvSpPr>
        <p:spPr>
          <a:xfrm>
            <a:off x="548640" y="1097280"/>
            <a:ext cx="8046720" cy="1463040"/>
          </a:xfrm>
          <a:prstGeom prst="rect">
            <a:avLst/>
          </a:prstGeom>
          <a:noFill/>
        </p:spPr>
        <p:txBody>
          <a:bodyPr wrap="square" anchor="ctr"/>
          <a:lstStyle>
            <a:lvl1pPr algn="ctr">
              <a:buNone/>
              <a:defRPr sz="3225" b="1">
                <a:solidFill>
                  <a:srgbClr val="FFFFFF"/>
                </a:solidFill>
              </a:defRPr>
            </a:lvl1pPr>
            <a:lvl2pPr algn="ctr">
              <a:buNone/>
              <a:defRPr sz="3225" b="1">
                <a:solidFill>
                  <a:srgbClr val="FFFFFF"/>
                </a:solidFill>
              </a:defRPr>
            </a:lvl2pPr>
            <a:lvl3pPr algn="ctr">
              <a:buNone/>
              <a:defRPr sz="3225" b="1">
                <a:solidFill>
                  <a:srgbClr val="FFFFFF"/>
                </a:solidFill>
              </a:defRPr>
            </a:lvl3pPr>
            <a:lvl4pPr algn="ctr">
              <a:buNone/>
              <a:defRPr sz="3225" b="1">
                <a:solidFill>
                  <a:srgbClr val="FFFFFF"/>
                </a:solidFill>
              </a:defRPr>
            </a:lvl4pPr>
            <a:lvl5pPr algn="ctr">
              <a:buNone/>
              <a:defRPr sz="3225" b="1">
                <a:solidFill>
                  <a:srgbClr val="FFFFFF"/>
                </a:solidFill>
              </a:defRPr>
            </a:lvl5pPr>
            <a:lvl6pPr algn="ctr">
              <a:buNone/>
              <a:defRPr sz="3225" b="1">
                <a:solidFill>
                  <a:srgbClr val="FFFFFF"/>
                </a:solidFill>
              </a:defRPr>
            </a:lvl6pPr>
            <a:lvl7pPr algn="ctr">
              <a:buNone/>
              <a:defRPr sz="3225" b="1">
                <a:solidFill>
                  <a:srgbClr val="FFFFFF"/>
                </a:solidFill>
              </a:defRPr>
            </a:lvl7pPr>
            <a:lvl8pPr algn="ctr">
              <a:buNone/>
              <a:defRPr sz="3225" b="1">
                <a:solidFill>
                  <a:srgbClr val="FFFFFF"/>
                </a:solidFill>
              </a:defRPr>
            </a:lvl8pPr>
            <a:lvl9pPr algn="ctr">
              <a:buNone/>
              <a:defRPr sz="3225" b="1">
                <a:solidFill>
                  <a:srgbClr val="FFFFFF"/>
                </a:solidFill>
              </a:defRPr>
            </a:lvl9pPr>
          </a:lstStyle>
          <a:p>
            <a:pPr marL="0" indent="0" algn="ctr">
              <a:buNone/>
              <a:defRPr sz="3225" b="1">
                <a:solidFill>
                  <a:srgbClr val="FFFFFF"/>
                </a:solidFill>
              </a:defRPr>
            </a:pPr>
            <a:r>
              <a:rPr sz="3600"/>
              <a:t>Macro-Aware Volatility-Targeted ETF Rotation Strategy</a:t>
            </a:r>
            <a:endParaRPr sz="3600"/>
          </a:p>
        </p:txBody>
      </p:sp>
      <p:sp>
        <p:nvSpPr>
          <p:cNvPr id="3" name="Text 4"/>
          <p:cNvSpPr>
            <a:spLocks noGrp="1"/>
          </p:cNvSpPr>
          <p:nvPr>
            <p:ph type="body" idx="105" hasCustomPrompt="1"/>
          </p:nvPr>
        </p:nvSpPr>
        <p:spPr>
          <a:xfrm>
            <a:off x="548640" y="3657600"/>
            <a:ext cx="8046720" cy="2377440"/>
          </a:xfrm>
          <a:prstGeom prst="rect">
            <a:avLst/>
          </a:prstGeom>
          <a:noFill/>
        </p:spPr>
        <p:txBody>
          <a:bodyPr wrap="square" anchor="t"/>
          <a:lstStyle>
            <a:lvl1pPr algn="ctr">
              <a:buNone/>
              <a:defRPr sz="1725" b="1">
                <a:solidFill>
                  <a:srgbClr val="42679A"/>
                </a:solidFill>
              </a:defRPr>
            </a:lvl1pPr>
            <a:lvl2pPr algn="ctr">
              <a:buNone/>
              <a:defRPr sz="1725" b="1">
                <a:solidFill>
                  <a:srgbClr val="42679A"/>
                </a:solidFill>
              </a:defRPr>
            </a:lvl2pPr>
            <a:lvl3pPr algn="ctr">
              <a:buNone/>
              <a:defRPr sz="1725" b="1">
                <a:solidFill>
                  <a:srgbClr val="42679A"/>
                </a:solidFill>
              </a:defRPr>
            </a:lvl3pPr>
            <a:lvl4pPr algn="ctr">
              <a:buNone/>
              <a:defRPr sz="1725" b="1">
                <a:solidFill>
                  <a:srgbClr val="42679A"/>
                </a:solidFill>
              </a:defRPr>
            </a:lvl4pPr>
            <a:lvl5pPr algn="ctr">
              <a:buNone/>
              <a:defRPr sz="1725" b="1">
                <a:solidFill>
                  <a:srgbClr val="42679A"/>
                </a:solidFill>
              </a:defRPr>
            </a:lvl5pPr>
            <a:lvl6pPr algn="ctr">
              <a:buNone/>
              <a:defRPr sz="1725" b="1">
                <a:solidFill>
                  <a:srgbClr val="42679A"/>
                </a:solidFill>
              </a:defRPr>
            </a:lvl6pPr>
            <a:lvl7pPr algn="ctr">
              <a:buNone/>
              <a:defRPr sz="1725" b="1">
                <a:solidFill>
                  <a:srgbClr val="42679A"/>
                </a:solidFill>
              </a:defRPr>
            </a:lvl7pPr>
            <a:lvl8pPr algn="ctr">
              <a:buNone/>
              <a:defRPr sz="1725" b="1">
                <a:solidFill>
                  <a:srgbClr val="42679A"/>
                </a:solidFill>
              </a:defRPr>
            </a:lvl8pPr>
            <a:lvl9pPr algn="ctr">
              <a:buNone/>
              <a:defRPr sz="1725" b="1">
                <a:solidFill>
                  <a:srgbClr val="42679A"/>
                </a:solidFill>
              </a:defRPr>
            </a:lvl9pPr>
          </a:lstStyle>
          <a:p>
            <a:pPr marL="0" indent="0" algn="ctr">
              <a:buNone/>
              <a:defRPr sz="1725" b="1">
                <a:solidFill>
                  <a:srgbClr val="42679A"/>
                </a:solidFill>
              </a:defRPr>
            </a:pPr>
            <a:r>
              <a:rPr sz="1725" b="1">
                <a:solidFill>
                  <a:srgbClr val="42679A"/>
                </a:solidFill>
              </a:rPr>
              <a:t>FE5209 Financial Econometrics · Group Project</a:t>
            </a:r>
            <a:endParaRPr sz="1800"/>
          </a:p>
          <a:p>
            <a:pPr marL="0" indent="0" algn="ctr">
              <a:buNone/>
              <a:defRPr sz="1725" b="1">
                <a:solidFill>
                  <a:srgbClr val="42679A"/>
                </a:solidFill>
              </a:defRPr>
            </a:pPr>
            <a:r>
              <a:rPr sz="1725" b="1">
                <a:solidFill>
                  <a:srgbClr val="42679A"/>
                </a:solidFill>
              </a:rPr>
              <a:t>Group: ReReRe (Research Report Reproductor)</a:t>
            </a:r>
            <a:endParaRPr sz="1725" b="1">
              <a:solidFill>
                <a:srgbClr val="42679A"/>
              </a:solidFill>
            </a:endParaRPr>
          </a:p>
          <a:p>
            <a:pPr marL="0" indent="0" algn="ctr">
              <a:buNone/>
              <a:defRPr sz="1725" b="1">
                <a:solidFill>
                  <a:srgbClr val="42679A"/>
                </a:solidFill>
              </a:defRPr>
            </a:pPr>
            <a:endParaRPr sz="1800"/>
          </a:p>
          <a:p>
            <a:pPr marL="0" indent="0" algn="ctr">
              <a:buNone/>
              <a:defRPr sz="1725" b="1">
                <a:solidFill>
                  <a:srgbClr val="42679A"/>
                </a:solidFill>
              </a:defRPr>
            </a:pPr>
            <a:r>
              <a:rPr sz="1725" b="1">
                <a:solidFill>
                  <a:srgbClr val="42679A"/>
                </a:solidFill>
              </a:rPr>
              <a:t>Member: </a:t>
            </a:r>
            <a:r>
              <a:rPr sz="1725" b="1">
                <a:solidFill>
                  <a:srgbClr val="42679A"/>
                </a:solidFill>
              </a:rPr>
              <a:t>Ruan Yalin · Zhang Jiaxin · Zhou Mo · Zhang Yin</a:t>
            </a:r>
            <a:endParaRPr sz="1800"/>
          </a:p>
          <a:p>
            <a:pPr marL="0" indent="0" algn="ctr">
              <a:buNone/>
              <a:defRPr sz="1725" b="1">
                <a:solidFill>
                  <a:srgbClr val="42679A"/>
                </a:solidFill>
              </a:defRPr>
            </a:pPr>
            <a:endParaRPr sz="1800"/>
          </a:p>
        </p:txBody>
      </p:sp>
    </p:spTree>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Outline</a:t>
            </a:r>
            <a:endParaRPr sz="3200"/>
          </a:p>
        </p:txBody>
      </p:sp>
      <p:sp>
        <p:nvSpPr>
          <p:cNvPr id="3" name="Shape 1"/>
          <p:cNvSpPr>
            <a:spLocks noGrp="1"/>
          </p:cNvSpPr>
          <p:nvPr/>
        </p:nvSpPr>
        <p:spPr>
          <a:xfrm>
            <a:off x="731520" y="1645920"/>
            <a:ext cx="292608" cy="292608"/>
          </a:xfrm>
          <a:prstGeom prst="rect">
            <a:avLst/>
          </a:prstGeom>
          <a:solidFill>
            <a:schemeClr val="bg1"/>
          </a:solidFill>
          <a:ln w="15875">
            <a:solidFill>
              <a:schemeClr val="tx1"/>
            </a:solidFill>
            <a:prstDash val="solid"/>
          </a:ln>
        </p:spPr>
      </p:sp>
      <p:sp>
        <p:nvSpPr>
          <p:cNvPr id="4" name="Text 2"/>
          <p:cNvSpPr>
            <a:spLocks noGrp="1"/>
          </p:cNvSpPr>
          <p:nvPr/>
        </p:nvSpPr>
        <p:spPr>
          <a:xfrm>
            <a:off x="1234440" y="1554480"/>
            <a:ext cx="4663440" cy="475488"/>
          </a:xfrm>
          <a:prstGeom prst="rect">
            <a:avLst/>
          </a:prstGeom>
          <a:noFill/>
        </p:spPr>
        <p:txBody>
          <a:bodyPr wrap="square" lIns="0" tIns="0" rIns="0" bIns="0" anchor="ctr"/>
          <a:lstStyle/>
          <a:p>
            <a:pPr marL="0" indent="0">
              <a:buNone/>
            </a:pPr>
            <a:r>
              <a:rPr sz="2200"/>
              <a:t>Introduction &amp; Overall Framework</a:t>
            </a:r>
            <a:endParaRPr sz="2200"/>
          </a:p>
        </p:txBody>
      </p:sp>
      <p:sp>
        <p:nvSpPr>
          <p:cNvPr id="5" name="Shape 3"/>
          <p:cNvSpPr>
            <a:spLocks noGrp="1"/>
          </p:cNvSpPr>
          <p:nvPr/>
        </p:nvSpPr>
        <p:spPr>
          <a:xfrm>
            <a:off x="731520" y="2395728"/>
            <a:ext cx="292608" cy="292608"/>
          </a:xfrm>
          <a:prstGeom prst="rect">
            <a:avLst/>
          </a:prstGeom>
          <a:solidFill>
            <a:schemeClr val="bg1"/>
          </a:solidFill>
          <a:ln w="15875">
            <a:solidFill>
              <a:schemeClr val="tx1"/>
            </a:solidFill>
            <a:prstDash val="solid"/>
          </a:ln>
        </p:spPr>
      </p:sp>
      <p:sp>
        <p:nvSpPr>
          <p:cNvPr id="6" name="Text 4"/>
          <p:cNvSpPr>
            <a:spLocks noGrp="1"/>
          </p:cNvSpPr>
          <p:nvPr/>
        </p:nvSpPr>
        <p:spPr>
          <a:xfrm>
            <a:off x="1234440" y="2304415"/>
            <a:ext cx="5704205" cy="475615"/>
          </a:xfrm>
          <a:prstGeom prst="rect">
            <a:avLst/>
          </a:prstGeom>
          <a:noFill/>
        </p:spPr>
        <p:txBody>
          <a:bodyPr wrap="square" lIns="0" tIns="0" rIns="0" bIns="0" anchor="ctr"/>
          <a:lstStyle/>
          <a:p>
            <a:pPr marL="0" indent="0">
              <a:buNone/>
            </a:pPr>
            <a:r>
              <a:rPr sz="2200">
                <a:solidFill>
                  <a:schemeClr val="tx1"/>
                </a:solidFill>
              </a:rPr>
              <a:t>US V0: decision tree and parameter voting</a:t>
            </a:r>
            <a:endParaRPr sz="2200"/>
          </a:p>
        </p:txBody>
      </p:sp>
      <p:sp>
        <p:nvSpPr>
          <p:cNvPr id="7" name="Shape 5"/>
          <p:cNvSpPr>
            <a:spLocks noGrp="1"/>
          </p:cNvSpPr>
          <p:nvPr/>
        </p:nvSpPr>
        <p:spPr>
          <a:xfrm>
            <a:off x="731520" y="3145536"/>
            <a:ext cx="292608" cy="292608"/>
          </a:xfrm>
          <a:prstGeom prst="rect">
            <a:avLst/>
          </a:prstGeom>
          <a:solidFill>
            <a:schemeClr val="bg1"/>
          </a:solidFill>
          <a:ln w="15875">
            <a:solidFill>
              <a:schemeClr val="tx1"/>
            </a:solidFill>
            <a:prstDash val="solid"/>
          </a:ln>
        </p:spPr>
      </p:sp>
      <p:sp>
        <p:nvSpPr>
          <p:cNvPr id="8" name="Text 6"/>
          <p:cNvSpPr>
            <a:spLocks noGrp="1"/>
          </p:cNvSpPr>
          <p:nvPr/>
        </p:nvSpPr>
        <p:spPr>
          <a:xfrm>
            <a:off x="1234440" y="3054096"/>
            <a:ext cx="4663440" cy="475488"/>
          </a:xfrm>
          <a:prstGeom prst="rect">
            <a:avLst/>
          </a:prstGeom>
          <a:noFill/>
        </p:spPr>
        <p:txBody>
          <a:bodyPr wrap="square" lIns="0" tIns="0" rIns="0" bIns="0" anchor="ctr"/>
          <a:lstStyle/>
          <a:p>
            <a:pPr marL="0" indent="0">
              <a:buNone/>
            </a:pPr>
            <a:r>
              <a:rPr sz="2200"/>
              <a:t>CPI Overlay: Triggers &amp; Execution</a:t>
            </a:r>
            <a:endParaRPr sz="2200"/>
          </a:p>
        </p:txBody>
      </p:sp>
      <p:sp>
        <p:nvSpPr>
          <p:cNvPr id="9" name="Shape 7"/>
          <p:cNvSpPr>
            <a:spLocks noGrp="1"/>
          </p:cNvSpPr>
          <p:nvPr/>
        </p:nvSpPr>
        <p:spPr>
          <a:xfrm>
            <a:off x="731520" y="3895344"/>
            <a:ext cx="292608" cy="292608"/>
          </a:xfrm>
          <a:prstGeom prst="rect">
            <a:avLst/>
          </a:prstGeom>
          <a:solidFill>
            <a:schemeClr val="bg1"/>
          </a:solidFill>
          <a:ln w="15875">
            <a:solidFill>
              <a:schemeClr val="tx1"/>
            </a:solidFill>
            <a:prstDash val="solid"/>
          </a:ln>
        </p:spPr>
      </p:sp>
      <p:sp>
        <p:nvSpPr>
          <p:cNvPr id="10" name="Text 8"/>
          <p:cNvSpPr>
            <a:spLocks noGrp="1"/>
          </p:cNvSpPr>
          <p:nvPr/>
        </p:nvSpPr>
        <p:spPr>
          <a:xfrm>
            <a:off x="1234440" y="3803904"/>
            <a:ext cx="4663440" cy="475488"/>
          </a:xfrm>
          <a:prstGeom prst="rect">
            <a:avLst/>
          </a:prstGeom>
          <a:noFill/>
        </p:spPr>
        <p:txBody>
          <a:bodyPr wrap="square" lIns="0" tIns="0" rIns="0" bIns="0" anchor="ctr"/>
          <a:lstStyle/>
          <a:p>
            <a:pPr marL="0" indent="0">
              <a:buNone/>
            </a:pPr>
            <a:r>
              <a:rPr sz="2200"/>
              <a:t>US V1 &amp; V2: Risk Controls</a:t>
            </a:r>
            <a:endParaRPr sz="2200"/>
          </a:p>
        </p:txBody>
      </p:sp>
      <p:sp>
        <p:nvSpPr>
          <p:cNvPr id="11" name="Shape 9"/>
          <p:cNvSpPr>
            <a:spLocks noGrp="1"/>
          </p:cNvSpPr>
          <p:nvPr/>
        </p:nvSpPr>
        <p:spPr>
          <a:xfrm>
            <a:off x="731520" y="4645152"/>
            <a:ext cx="292608" cy="292608"/>
          </a:xfrm>
          <a:prstGeom prst="rect">
            <a:avLst/>
          </a:prstGeom>
          <a:solidFill>
            <a:schemeClr val="bg1"/>
          </a:solidFill>
          <a:ln w="15875">
            <a:solidFill>
              <a:schemeClr val="tx1"/>
            </a:solidFill>
            <a:prstDash val="solid"/>
          </a:ln>
        </p:spPr>
      </p:sp>
      <p:sp>
        <p:nvSpPr>
          <p:cNvPr id="12" name="Text 10"/>
          <p:cNvSpPr>
            <a:spLocks noGrp="1"/>
          </p:cNvSpPr>
          <p:nvPr/>
        </p:nvSpPr>
        <p:spPr>
          <a:xfrm>
            <a:off x="1234440" y="4553712"/>
            <a:ext cx="4663440" cy="475488"/>
          </a:xfrm>
          <a:prstGeom prst="rect">
            <a:avLst/>
          </a:prstGeom>
          <a:noFill/>
        </p:spPr>
        <p:txBody>
          <a:bodyPr wrap="square" lIns="0" tIns="0" rIns="0" bIns="0" anchor="ctr"/>
          <a:lstStyle/>
          <a:p>
            <a:pPr marL="0" indent="0">
              <a:buNone/>
            </a:pPr>
            <a:r>
              <a:rPr sz="2200">
                <a:solidFill>
                  <a:schemeClr val="tx1"/>
                </a:solidFill>
              </a:rPr>
              <a:t>Singapore: GARCH-Based Allocation</a:t>
            </a:r>
            <a:r>
              <a:rPr sz="2200">
                <a:solidFill>
                  <a:schemeClr val="tx1"/>
                </a:solidFill>
              </a:rPr>
              <a:t> </a:t>
            </a:r>
            <a:endParaRPr sz="2200">
              <a:solidFill>
                <a:schemeClr val="tx1"/>
              </a:solidFill>
            </a:endParaRPr>
          </a:p>
        </p:txBody>
      </p:sp>
      <p:sp>
        <p:nvSpPr>
          <p:cNvPr id="13" name="Shape 11"/>
          <p:cNvSpPr>
            <a:spLocks noGrp="1"/>
          </p:cNvSpPr>
          <p:nvPr/>
        </p:nvSpPr>
        <p:spPr>
          <a:xfrm>
            <a:off x="731520" y="5394959"/>
            <a:ext cx="292608" cy="292608"/>
          </a:xfrm>
          <a:prstGeom prst="rect">
            <a:avLst/>
          </a:prstGeom>
          <a:solidFill>
            <a:schemeClr val="bg1"/>
          </a:solidFill>
          <a:ln w="15875">
            <a:solidFill>
              <a:schemeClr val="tx1"/>
            </a:solidFill>
            <a:prstDash val="solid"/>
          </a:ln>
        </p:spPr>
      </p:sp>
      <p:sp>
        <p:nvSpPr>
          <p:cNvPr id="14" name="Text 12"/>
          <p:cNvSpPr>
            <a:spLocks noGrp="1"/>
          </p:cNvSpPr>
          <p:nvPr/>
        </p:nvSpPr>
        <p:spPr>
          <a:xfrm>
            <a:off x="1234440" y="5303520"/>
            <a:ext cx="4663440" cy="475488"/>
          </a:xfrm>
          <a:prstGeom prst="rect">
            <a:avLst/>
          </a:prstGeom>
          <a:noFill/>
        </p:spPr>
        <p:txBody>
          <a:bodyPr wrap="square" lIns="0" tIns="0" rIns="0" bIns="0" anchor="ctr"/>
          <a:lstStyle/>
          <a:p>
            <a:pPr marL="0" indent="0">
              <a:buNone/>
            </a:pPr>
            <a:r>
              <a:rPr sz="2200"/>
              <a:t>Final Portfolio, Results &amp; Conclusions</a:t>
            </a:r>
            <a:endParaRPr sz="2200"/>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p>
        </p:txBody>
      </p:sp>
      <p:pic>
        <p:nvPicPr>
          <p:cNvPr id="41" name="Outline decoration"/>
          <p:cNvPicPr>
            <a:picLocks noChangeAspect="1"/>
          </p:cNvPicPr>
          <p:nvPr/>
        </p:nvPicPr>
        <p:blipFill>
          <a:blip r:embed="rId1"/>
          <a:stretch>
            <a:fillRect/>
          </a:stretch>
        </p:blipFill>
        <p:spPr>
          <a:xfrm>
            <a:off x="6038850" y="3093970"/>
            <a:ext cx="2834640" cy="2235968"/>
          </a:xfrm>
          <a:prstGeom prst="rect">
            <a:avLst/>
          </a:prstGeom>
        </p:spPr>
      </p:pic>
    </p:spTree>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Introduction &amp; Overall Strategy</a:t>
            </a:r>
            <a:endParaRPr sz="3200"/>
          </a:p>
        </p:txBody>
      </p:sp>
      <p:sp>
        <p:nvSpPr>
          <p:cNvPr id="3" name="Text 1"/>
          <p:cNvSpPr>
            <a:spLocks noGrp="1"/>
          </p:cNvSpPr>
          <p:nvPr/>
        </p:nvSpPr>
        <p:spPr>
          <a:xfrm>
            <a:off x="457200" y="1234440"/>
            <a:ext cx="8229600" cy="457200"/>
          </a:xfrm>
          <a:prstGeom prst="rect">
            <a:avLst/>
          </a:prstGeom>
          <a:noFill/>
        </p:spPr>
        <p:txBody>
          <a:bodyPr wrap="square" anchor="ctr"/>
          <a:lstStyle/>
          <a:p>
            <a:pPr marL="0" indent="0">
              <a:buNone/>
            </a:pPr>
            <a:r>
              <a:rPr sz="1800" b="1">
                <a:solidFill>
                  <a:schemeClr val="accent3"/>
                </a:solidFill>
              </a:rPr>
              <a:t>Can dynamic allocation improve performance after trading costs?</a:t>
            </a:r>
            <a:endParaRPr sz="1800"/>
          </a:p>
        </p:txBody>
      </p:sp>
      <p:sp>
        <p:nvSpPr>
          <p:cNvPr id="4" name="Text 2"/>
          <p:cNvSpPr>
            <a:spLocks noGrp="1"/>
          </p:cNvSpPr>
          <p:nvPr/>
        </p:nvSpPr>
        <p:spPr>
          <a:xfrm>
            <a:off x="457200" y="1783080"/>
            <a:ext cx="4937760" cy="3749039"/>
          </a:xfrm>
          <a:prstGeom prst="rect">
            <a:avLst/>
          </a:prstGeom>
          <a:noFill/>
        </p:spPr>
        <p:txBody>
          <a:bodyPr wrap="square" anchor="t"/>
          <a:lstStyle>
            <a:lvl1pPr algn="l">
              <a:buNone/>
              <a:defRPr sz="1575" b="0">
                <a:solidFill>
                  <a:srgbClr val="1F1F1F"/>
                </a:solidFill>
              </a:defRPr>
            </a:lvl1pPr>
            <a:lvl2pPr algn="l">
              <a:buNone/>
              <a:defRPr sz="1575" b="0">
                <a:solidFill>
                  <a:srgbClr val="1F1F1F"/>
                </a:solidFill>
              </a:defRPr>
            </a:lvl2pPr>
            <a:lvl3pPr algn="l">
              <a:buNone/>
              <a:defRPr sz="1575" b="0">
                <a:solidFill>
                  <a:srgbClr val="1F1F1F"/>
                </a:solidFill>
              </a:defRPr>
            </a:lvl3pPr>
            <a:lvl4pPr algn="l">
              <a:buNone/>
              <a:defRPr sz="1575" b="0">
                <a:solidFill>
                  <a:srgbClr val="1F1F1F"/>
                </a:solidFill>
              </a:defRPr>
            </a:lvl4pPr>
            <a:lvl5pPr algn="l">
              <a:buNone/>
              <a:defRPr sz="1575" b="0">
                <a:solidFill>
                  <a:srgbClr val="1F1F1F"/>
                </a:solidFill>
              </a:defRPr>
            </a:lvl5pPr>
            <a:lvl6pPr algn="l">
              <a:buNone/>
              <a:defRPr sz="1575" b="0">
                <a:solidFill>
                  <a:srgbClr val="1F1F1F"/>
                </a:solidFill>
              </a:defRPr>
            </a:lvl6pPr>
            <a:lvl7pPr algn="l">
              <a:buNone/>
              <a:defRPr sz="1575" b="0">
                <a:solidFill>
                  <a:srgbClr val="1F1F1F"/>
                </a:solidFill>
              </a:defRPr>
            </a:lvl7pPr>
            <a:lvl8pPr algn="l">
              <a:buNone/>
              <a:defRPr sz="1575" b="0">
                <a:solidFill>
                  <a:srgbClr val="1F1F1F"/>
                </a:solidFill>
              </a:defRPr>
            </a:lvl8pPr>
            <a:lvl9pPr algn="l">
              <a:buNone/>
              <a:defRPr sz="1575" b="0">
                <a:solidFill>
                  <a:srgbClr val="1F1F1F"/>
                </a:solidFill>
              </a:defRPr>
            </a:lvl9pPr>
          </a:lstStyle>
          <a:p>
            <a:pPr marL="342900" indent="-342900" algn="l">
              <a:spcAft>
                <a:spcPts val="1000"/>
              </a:spcAft>
              <a:buSzPct val="100000"/>
              <a:buChar char="•"/>
              <a:defRPr sz="1575" b="0">
                <a:solidFill>
                  <a:srgbClr val="1F1F1F"/>
                </a:solidFill>
              </a:defRPr>
            </a:pPr>
            <a:r>
              <a:rPr sz="1575" b="0">
                <a:solidFill>
                  <a:srgbClr val="1F1F1F"/>
                </a:solidFill>
              </a:rPr>
              <a:t>US core: V0 equal-vote allocation, then V1 inverse-volatility weights and V2 30% volatility targeting.</a:t>
            </a:r>
            <a:endParaRPr sz="1600"/>
          </a:p>
          <a:p>
            <a:pPr marL="342900" indent="-342900" algn="l">
              <a:spcAft>
                <a:spcPts val="1000"/>
              </a:spcAft>
              <a:buSzPct val="100000"/>
              <a:buChar char="•"/>
              <a:defRPr sz="1575" b="0">
                <a:solidFill>
                  <a:srgbClr val="1F1F1F"/>
                </a:solidFill>
              </a:defRPr>
            </a:pPr>
            <a:r>
              <a:rPr sz="1575" b="0">
                <a:solidFill>
                  <a:srgbClr val="1F1F1F"/>
                </a:solidFill>
              </a:rPr>
              <a:t>Singapore: GARCH forecasts guide ES3 / A35 allocation.</a:t>
            </a:r>
            <a:endParaRPr sz="1600"/>
          </a:p>
          <a:p>
            <a:pPr marL="342900" indent="-342900" algn="l">
              <a:spcAft>
                <a:spcPts val="1000"/>
              </a:spcAft>
              <a:buSzPct val="100000"/>
              <a:buChar char="•"/>
              <a:defRPr sz="1575" b="0">
                <a:solidFill>
                  <a:srgbClr val="1F1F1F"/>
                </a:solidFill>
              </a:defRPr>
            </a:pPr>
            <a:r>
              <a:rPr sz="1575" b="0">
                <a:solidFill>
                  <a:srgbClr val="1F1F1F"/>
                </a:solidFill>
              </a:rPr>
              <a:t>CPI overlay: temporarily replace the V2 TQQQ target with UVXY after qualifying hot CPI releases.</a:t>
            </a:r>
            <a:endParaRPr sz="1600"/>
          </a:p>
        </p:txBody>
      </p:sp>
      <p:sp>
        <p:nvSpPr>
          <p:cNvPr id="5" name="Shape 3"/>
          <p:cNvSpPr>
            <a:spLocks noGrp="1"/>
          </p:cNvSpPr>
          <p:nvPr/>
        </p:nvSpPr>
        <p:spPr>
          <a:xfrm>
            <a:off x="5577840" y="1783080"/>
            <a:ext cx="3108960" cy="3657600"/>
          </a:xfrm>
          <a:prstGeom prst="roundRect">
            <a:avLst>
              <a:gd name="adj" fmla="val 2424"/>
            </a:avLst>
          </a:prstGeom>
          <a:solidFill>
            <a:schemeClr val="bg2"/>
          </a:solidFill>
          <a:ln w="12700">
            <a:solidFill>
              <a:schemeClr val="bg2"/>
            </a:solidFill>
            <a:prstDash val="solid"/>
          </a:ln>
        </p:spPr>
      </p:sp>
      <p:sp>
        <p:nvSpPr>
          <p:cNvPr id="6" name="Text 4"/>
          <p:cNvSpPr>
            <a:spLocks noGrp="1"/>
          </p:cNvSpPr>
          <p:nvPr/>
        </p:nvSpPr>
        <p:spPr>
          <a:xfrm>
            <a:off x="5715000" y="1920240"/>
            <a:ext cx="2834640" cy="365760"/>
          </a:xfrm>
          <a:prstGeom prst="rect">
            <a:avLst/>
          </a:prstGeom>
          <a:noFill/>
        </p:spPr>
        <p:txBody>
          <a:bodyPr wrap="square" anchor="ctr"/>
          <a:lstStyle/>
          <a:p>
            <a:pPr marL="0" indent="0">
              <a:buNone/>
            </a:pPr>
            <a:r>
              <a:rPr sz="1400" b="1">
                <a:solidFill>
                  <a:schemeClr val="accent1"/>
                </a:solidFill>
              </a:rPr>
              <a:t>Project at a glance</a:t>
            </a:r>
            <a:endParaRPr sz="1400"/>
          </a:p>
        </p:txBody>
      </p:sp>
      <p:sp>
        <p:nvSpPr>
          <p:cNvPr id="7" name="Text 5"/>
          <p:cNvSpPr>
            <a:spLocks noGrp="1"/>
          </p:cNvSpPr>
          <p:nvPr/>
        </p:nvSpPr>
        <p:spPr>
          <a:xfrm>
            <a:off x="5715000" y="2423160"/>
            <a:ext cx="2926080" cy="45720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US core: V0 → V1 → V2</a:t>
            </a:r>
            <a:endParaRPr sz="1500"/>
          </a:p>
        </p:txBody>
      </p:sp>
      <p:sp>
        <p:nvSpPr>
          <p:cNvPr id="8" name="Text 6"/>
          <p:cNvSpPr>
            <a:spLocks noGrp="1"/>
          </p:cNvSpPr>
          <p:nvPr/>
        </p:nvSpPr>
        <p:spPr>
          <a:xfrm>
            <a:off x="5715000" y="3017520"/>
            <a:ext cx="2926080" cy="45720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SG: GARCH → ES3 / A35</a:t>
            </a:r>
            <a:endParaRPr sz="1500"/>
          </a:p>
        </p:txBody>
      </p:sp>
      <p:sp>
        <p:nvSpPr>
          <p:cNvPr id="9" name="Text 7"/>
          <p:cNvSpPr>
            <a:spLocks noGrp="1"/>
          </p:cNvSpPr>
          <p:nvPr/>
        </p:nvSpPr>
        <p:spPr>
          <a:xfrm>
            <a:off x="5715000" y="3611880"/>
            <a:ext cx="2926080" cy="548640"/>
          </a:xfrm>
          <a:prstGeom prst="rect">
            <a:avLst/>
          </a:prstGeom>
          <a:noFill/>
        </p:spPr>
        <p:txBody>
          <a:bodyPr wrap="square" lIns="0" tIns="0" rIns="0" bIns="0" anchor="ctr"/>
          <a:lstStyle>
            <a:lvl1pPr algn="l">
              <a:buNone/>
              <a:defRPr sz="1275" b="0">
                <a:solidFill>
                  <a:srgbClr val="1F1F1F"/>
                </a:solidFill>
              </a:defRPr>
            </a:lvl1pPr>
            <a:lvl2pPr algn="l">
              <a:buNone/>
              <a:defRPr sz="1275" b="0">
                <a:solidFill>
                  <a:srgbClr val="1F1F1F"/>
                </a:solidFill>
              </a:defRPr>
            </a:lvl2pPr>
            <a:lvl3pPr algn="l">
              <a:buNone/>
              <a:defRPr sz="1275" b="0">
                <a:solidFill>
                  <a:srgbClr val="1F1F1F"/>
                </a:solidFill>
              </a:defRPr>
            </a:lvl3pPr>
            <a:lvl4pPr algn="l">
              <a:buNone/>
              <a:defRPr sz="1275" b="0">
                <a:solidFill>
                  <a:srgbClr val="1F1F1F"/>
                </a:solidFill>
              </a:defRPr>
            </a:lvl4pPr>
            <a:lvl5pPr algn="l">
              <a:buNone/>
              <a:defRPr sz="1275" b="0">
                <a:solidFill>
                  <a:srgbClr val="1F1F1F"/>
                </a:solidFill>
              </a:defRPr>
            </a:lvl5pPr>
            <a:lvl6pPr algn="l">
              <a:buNone/>
              <a:defRPr sz="1275" b="0">
                <a:solidFill>
                  <a:srgbClr val="1F1F1F"/>
                </a:solidFill>
              </a:defRPr>
            </a:lvl6pPr>
            <a:lvl7pPr algn="l">
              <a:buNone/>
              <a:defRPr sz="1275" b="0">
                <a:solidFill>
                  <a:srgbClr val="1F1F1F"/>
                </a:solidFill>
              </a:defRPr>
            </a:lvl7pPr>
            <a:lvl8pPr algn="l">
              <a:buNone/>
              <a:defRPr sz="1275" b="0">
                <a:solidFill>
                  <a:srgbClr val="1F1F1F"/>
                </a:solidFill>
              </a:defRPr>
            </a:lvl8pPr>
            <a:lvl9pPr algn="l">
              <a:buNone/>
              <a:defRPr sz="1275" b="0">
                <a:solidFill>
                  <a:srgbClr val="1F1F1F"/>
                </a:solidFill>
              </a:defRPr>
            </a:lvl9pPr>
          </a:lstStyle>
          <a:p>
            <a:pPr marL="0" indent="0" algn="l">
              <a:buNone/>
              <a:defRPr sz="1275" b="0">
                <a:solidFill>
                  <a:srgbClr val="1F1F1F"/>
                </a:solidFill>
              </a:defRPr>
            </a:pPr>
            <a:r>
              <a:rPr sz="1275" b="0">
                <a:solidFill>
                  <a:srgbClr val="1F1F1F"/>
                </a:solidFill>
              </a:rPr>
              <a:t>90% US / 10% SG target</a:t>
            </a:r>
            <a:endParaRPr sz="1500"/>
          </a:p>
          <a:p>
            <a:pPr marL="0" indent="0" algn="l">
              <a:buNone/>
              <a:defRPr sz="1275" b="0">
                <a:solidFill>
                  <a:srgbClr val="1F1F1F"/>
                </a:solidFill>
              </a:defRPr>
            </a:pPr>
            <a:r>
              <a:rPr sz="1275" b="0">
                <a:solidFill>
                  <a:srgbClr val="1F1F1F"/>
                </a:solidFill>
              </a:rPr>
              <a:t>R</a:t>
            </a:r>
            <a:r>
              <a:rPr lang="en-US" sz="1275" b="0">
                <a:solidFill>
                  <a:srgbClr val="1F1F1F"/>
                </a:solidFill>
              </a:rPr>
              <a:t>ebalance </a:t>
            </a:r>
            <a:r>
              <a:rPr sz="1275" b="0">
                <a:solidFill>
                  <a:srgbClr val="1F1F1F"/>
                </a:solidFill>
              </a:rPr>
              <a:t>if SG is outside 9%–11%</a:t>
            </a:r>
            <a:endParaRPr sz="1500"/>
          </a:p>
        </p:txBody>
      </p:sp>
      <p:sp>
        <p:nvSpPr>
          <p:cNvPr id="10" name="Text 8"/>
          <p:cNvSpPr>
            <a:spLocks noGrp="1"/>
          </p:cNvSpPr>
          <p:nvPr/>
        </p:nvSpPr>
        <p:spPr>
          <a:xfrm>
            <a:off x="5715000" y="4343400"/>
            <a:ext cx="2926080" cy="457200"/>
          </a:xfrm>
          <a:prstGeom prst="rect">
            <a:avLst/>
          </a:prstGeom>
          <a:noFill/>
        </p:spPr>
        <p:txBody>
          <a:bodyPr wrap="square" lIns="0" tIns="0" rIns="0" bIns="0" anchor="ctr"/>
          <a:lstStyle/>
          <a:p>
            <a:pPr marL="0" indent="0">
              <a:buNone/>
            </a:pPr>
            <a:r>
              <a:rPr sz="1300">
                <a:solidFill>
                  <a:schemeClr val="tx1"/>
                </a:solidFill>
              </a:rPr>
              <a:t>In-sample: 2012-08 – 2019-12</a:t>
            </a:r>
            <a:endParaRPr sz="1500"/>
          </a:p>
        </p:txBody>
      </p:sp>
      <p:sp>
        <p:nvSpPr>
          <p:cNvPr id="11" name="Text 9"/>
          <p:cNvSpPr>
            <a:spLocks noGrp="1"/>
          </p:cNvSpPr>
          <p:nvPr/>
        </p:nvSpPr>
        <p:spPr>
          <a:xfrm>
            <a:off x="5715000" y="4892040"/>
            <a:ext cx="2926080" cy="457200"/>
          </a:xfrm>
          <a:prstGeom prst="rect">
            <a:avLst/>
          </a:prstGeom>
          <a:noFill/>
        </p:spPr>
        <p:txBody>
          <a:bodyPr wrap="square" lIns="0" tIns="0" rIns="0" bIns="0" anchor="ctr"/>
          <a:lstStyle/>
          <a:p>
            <a:pPr marL="0" indent="0">
              <a:buNone/>
            </a:pPr>
            <a:r>
              <a:rPr sz="1300">
                <a:solidFill>
                  <a:schemeClr val="tx1"/>
                </a:solidFill>
              </a:rPr>
              <a:t>Out-of-sample: 2020-01 – 2026-09</a:t>
            </a:r>
            <a:endParaRPr sz="1500"/>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p>
        </p:txBody>
      </p:sp>
      <p:sp>
        <p:nvSpPr>
          <p:cNvPr id="26" name="矩形 25"/>
          <p:cNvSpPr>
            <a:spLocks noGrp="1"/>
          </p:cNvSpPr>
          <p:nvPr/>
        </p:nvSpPr>
        <p:spPr>
          <a:xfrm>
            <a:off x="457200" y="5667375"/>
            <a:ext cx="8229600" cy="542925"/>
          </a:xfrm>
          <a:prstGeom prst="rect">
            <a:avLst/>
          </a:prstGeom>
          <a:noFill/>
          <a:ln w="0">
            <a:noFill/>
          </a:ln>
        </p:spPr>
        <p:txBody>
          <a:bodyPr/>
          <a:lstStyle>
            <a:lvl1pPr>
              <a:buNone/>
              <a:defRPr sz="1275" i="1">
                <a:solidFill>
                  <a:srgbClr val="7A5CC2"/>
                </a:solidFill>
              </a:defRPr>
            </a:lvl1pPr>
            <a:lvl2pPr>
              <a:buNone/>
              <a:defRPr sz="1275" i="1">
                <a:solidFill>
                  <a:srgbClr val="7A5CC2"/>
                </a:solidFill>
              </a:defRPr>
            </a:lvl2pPr>
            <a:lvl3pPr>
              <a:buNone/>
              <a:defRPr sz="1275" i="1">
                <a:solidFill>
                  <a:srgbClr val="7A5CC2"/>
                </a:solidFill>
              </a:defRPr>
            </a:lvl3pPr>
            <a:lvl4pPr>
              <a:buNone/>
              <a:defRPr sz="1275" i="1">
                <a:solidFill>
                  <a:srgbClr val="7A5CC2"/>
                </a:solidFill>
              </a:defRPr>
            </a:lvl4pPr>
            <a:lvl5pPr>
              <a:buNone/>
              <a:defRPr sz="1275" i="1">
                <a:solidFill>
                  <a:srgbClr val="7A5CC2"/>
                </a:solidFill>
              </a:defRPr>
            </a:lvl5pPr>
            <a:lvl6pPr>
              <a:buNone/>
              <a:defRPr sz="1275" i="1">
                <a:solidFill>
                  <a:srgbClr val="7A5CC2"/>
                </a:solidFill>
              </a:defRPr>
            </a:lvl6pPr>
            <a:lvl7pPr>
              <a:buNone/>
              <a:defRPr sz="1275" i="1">
                <a:solidFill>
                  <a:srgbClr val="7A5CC2"/>
                </a:solidFill>
              </a:defRPr>
            </a:lvl7pPr>
            <a:lvl8pPr>
              <a:buNone/>
              <a:defRPr sz="1275" i="1">
                <a:solidFill>
                  <a:srgbClr val="7A5CC2"/>
                </a:solidFill>
              </a:defRPr>
            </a:lvl8pPr>
            <a:lvl9pPr>
              <a:buNone/>
              <a:defRPr sz="1275" i="1">
                <a:solidFill>
                  <a:srgbClr val="7A5CC2"/>
                </a:solidFill>
              </a:defRPr>
            </a:lvl9pPr>
          </a:lstStyle>
          <a:p>
            <a:pPr>
              <a:buNone/>
              <a:defRPr sz="1275" i="1">
                <a:solidFill>
                  <a:srgbClr val="7A5CC2"/>
                </a:solidFill>
              </a:defRPr>
            </a:pPr>
            <a:r>
              <a:rPr sz="1275" i="1">
                <a:solidFill>
                  <a:srgbClr val="7A5CC2"/>
                </a:solidFill>
              </a:rPr>
              <a:t>Daily-price simulation: ETF trade costs included; baseline FX conversion cost = 0.</a:t>
            </a:r>
            <a:endParaRPr sz="1275" i="1">
              <a:solidFill>
                <a:srgbClr val="7A5CC2"/>
              </a:solidFill>
            </a:endParaRPr>
          </a:p>
          <a:p>
            <a:pPr>
              <a:buNone/>
              <a:defRPr sz="1275" i="1">
                <a:solidFill>
                  <a:srgbClr val="7A5CC2"/>
                </a:solidFill>
              </a:defRPr>
            </a:pPr>
            <a:r>
              <a:rPr sz="1275" i="1">
                <a:solidFill>
                  <a:srgbClr val="7A5CC2"/>
                </a:solidFill>
              </a:rPr>
              <a:t>Historical account continues across IS/OOS; October tracking starts separately.</a:t>
            </a:r>
            <a:endParaRPr sz="1275" i="1">
              <a:solidFill>
                <a:srgbClr val="7A5CC2"/>
              </a:solidFill>
            </a:endParaRPr>
          </a:p>
        </p:txBody>
      </p:sp>
    </p:spTree>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Data &amp; Portfolio Construction</a:t>
            </a:r>
            <a:endParaRPr sz="3200"/>
          </a:p>
        </p:txBody>
      </p:sp>
      <p:graphicFrame>
        <p:nvGraphicFramePr>
          <p:cNvPr id="28" name="Table 0"/>
          <p:cNvGraphicFramePr/>
          <p:nvPr/>
        </p:nvGraphicFramePr>
        <p:xfrm>
          <a:off x="457200" y="1234440"/>
          <a:ext cx="8229600" cy="2304288"/>
        </p:xfrm>
        <a:graphic>
          <a:graphicData uri="http://schemas.openxmlformats.org/drawingml/2006/table">
            <a:tbl>
              <a:tblPr/>
              <a:tblGrid>
                <a:gridCol w="1463040"/>
                <a:gridCol w="1828800"/>
                <a:gridCol w="1371600"/>
                <a:gridCol w="2560320"/>
                <a:gridCol w="1005840"/>
              </a:tblGrid>
              <a:tr h="329184">
                <a:tc>
                  <a:txBody>
                    <a:bodyPr/>
                    <a:lstStyle/>
                    <a:p>
                      <a:pPr marL="0" indent="0">
                        <a:buNone/>
                      </a:pPr>
                      <a:r>
                        <a:rPr sz="1200" b="1">
                          <a:solidFill>
                            <a:srgbClr val="FFFFFF"/>
                          </a:solidFill>
                        </a:rPr>
                        <a:t>Asset group</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Tickers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Class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Role in V0 strategy</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c>
                  <a:txBody>
                    <a:bodyPr/>
                    <a:lstStyle/>
                    <a:p>
                      <a:pPr marL="0" indent="0">
                        <a:buNone/>
                      </a:pPr>
                      <a:r>
                        <a:rPr sz="1200" b="1">
                          <a:solidFill>
                            <a:srgbClr val="FFFFFF"/>
                          </a:solidFill>
                        </a:rPr>
                        <a:t>Account</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42679A"/>
                    </a:solidFill>
                  </a:tcPr>
                </a:tc>
              </a:tr>
              <a:tr h="329184">
                <a:tc>
                  <a:txBody>
                    <a:bodyPr/>
                    <a:lstStyle/>
                    <a:p>
                      <a:pPr marL="0" indent="0">
                        <a:buNone/>
                      </a:pPr>
                      <a:r>
                        <a:rPr sz="1200">
                          <a:solidFill>
                            <a:srgbClr val="1F1F1F"/>
                          </a:solidFill>
                        </a:rPr>
                        <a:t>Market signal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SPY · QQQ</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Equity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Trend (SMA) &amp; RSI signals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r h="329184">
                <a:tc>
                  <a:txBody>
                    <a:bodyPr/>
                    <a:lstStyle/>
                    <a:p>
                      <a:pPr marL="0" indent="0">
                        <a:buNone/>
                      </a:pPr>
                      <a:r>
                        <a:rPr sz="1200">
                          <a:solidFill>
                            <a:srgbClr val="1F1F1F"/>
                          </a:solidFill>
                        </a:rPr>
                        <a:t>Leveraged long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TQQQ · TECL · SPXL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Leveraged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Bull / oversold holdings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r h="329184">
                <a:tc>
                  <a:txBody>
                    <a:bodyPr/>
                    <a:lstStyle/>
                    <a:p>
                      <a:pPr marL="0" indent="0">
                        <a:buNone/>
                      </a:pPr>
                      <a:r>
                        <a:rPr sz="1200">
                          <a:solidFill>
                            <a:srgbClr val="1F1F1F"/>
                          </a:solidFill>
                        </a:rPr>
                        <a:t>Volatility / inverse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UVXY · SQQQ · TECS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Vol / inverse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Stress holdings (SQQQ: signal)</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r h="329184">
                <a:tc>
                  <a:txBody>
                    <a:bodyPr/>
                    <a:lstStyle/>
                    <a:p>
                      <a:pPr marL="0" indent="0">
                        <a:buNone/>
                      </a:pPr>
                      <a:r>
                        <a:rPr sz="1200">
                          <a:solidFill>
                            <a:srgbClr val="1F1F1F"/>
                          </a:solidFill>
                        </a:rPr>
                        <a:t>Defensive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BSV</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Bond ETF</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Defensive holding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r h="329184">
                <a:tc>
                  <a:txBody>
                    <a:bodyPr/>
                    <a:lstStyle/>
                    <a:p>
                      <a:pPr marL="0" indent="0">
                        <a:buNone/>
                      </a:pPr>
                      <a:r>
                        <a:rPr sz="1200">
                          <a:solidFill>
                            <a:srgbClr val="1F1F1F"/>
                          </a:solidFill>
                        </a:rPr>
                        <a:t>Singapore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ES3.SI · A35.SI</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SG ETFs</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Diversifier (equity / bond)</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SG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r h="329184">
                <a:tc>
                  <a:txBody>
                    <a:bodyPr/>
                    <a:lstStyle/>
                    <a:p>
                      <a:pPr marL="0" indent="0">
                        <a:buNone/>
                      </a:pPr>
                      <a:r>
                        <a:rPr sz="1200">
                          <a:solidFill>
                            <a:srgbClr val="1F1F1F"/>
                          </a:solidFill>
                        </a:rPr>
                        <a:t>FX</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USD/SGD</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FX rate</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Valuation &amp; funding</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c>
                  <a:txBody>
                    <a:bodyPr/>
                    <a:lstStyle/>
                    <a:p>
                      <a:pPr marL="0" indent="0">
                        <a:buNone/>
                      </a:pPr>
                      <a:r>
                        <a:rPr sz="1200">
                          <a:solidFill>
                            <a:srgbClr val="1F1F1F"/>
                          </a:solidFill>
                        </a:rPr>
                        <a:t>Both</a:t>
                      </a:r>
                      <a:endParaRPr sz="1300"/>
                    </a:p>
                  </a:txBody>
                  <a:tcPr anchor="ctr">
                    <a:lnL w="9525" cmpd="sng">
                      <a:solidFill>
                        <a:srgbClr val="D9E1EC"/>
                      </a:solidFill>
                      <a:prstDash val="solid"/>
                    </a:lnL>
                    <a:lnR w="9525" cmpd="sng">
                      <a:solidFill>
                        <a:srgbClr val="D9E1EC"/>
                      </a:solidFill>
                      <a:prstDash val="solid"/>
                    </a:lnR>
                    <a:lnT w="9525" cmpd="sng">
                      <a:solidFill>
                        <a:srgbClr val="D9E1EC"/>
                      </a:solidFill>
                      <a:prstDash val="solid"/>
                    </a:lnT>
                    <a:lnB w="9525" cmpd="sng">
                      <a:solidFill>
                        <a:srgbClr val="D9E1EC"/>
                      </a:solidFill>
                      <a:prstDash val="solid"/>
                    </a:lnB>
                    <a:solidFill>
                      <a:srgbClr val="FFFFFF"/>
                    </a:solidFill>
                  </a:tcPr>
                </a:tc>
              </a:tr>
            </a:tbl>
          </a:graphicData>
        </a:graphic>
      </p:graphicFrame>
      <p:sp>
        <p:nvSpPr>
          <p:cNvPr id="4" name="Shape 1"/>
          <p:cNvSpPr>
            <a:spLocks noGrp="1"/>
          </p:cNvSpPr>
          <p:nvPr/>
        </p:nvSpPr>
        <p:spPr>
          <a:xfrm>
            <a:off x="457200" y="3931920"/>
            <a:ext cx="2560320" cy="1508760"/>
          </a:xfrm>
          <a:prstGeom prst="roundRect">
            <a:avLst>
              <a:gd name="adj" fmla="val 5333"/>
            </a:avLst>
          </a:prstGeom>
          <a:solidFill>
            <a:schemeClr val="bg2"/>
          </a:solidFill>
          <a:ln w="12700">
            <a:solidFill>
              <a:schemeClr val="bg2"/>
            </a:solidFill>
            <a:prstDash val="solid"/>
          </a:ln>
        </p:spPr>
      </p:sp>
      <p:sp>
        <p:nvSpPr>
          <p:cNvPr id="3" name="Text 2"/>
          <p:cNvSpPr>
            <a:spLocks noGrp="1"/>
          </p:cNvSpPr>
          <p:nvPr/>
        </p:nvSpPr>
        <p:spPr>
          <a:xfrm>
            <a:off x="457200" y="4005072"/>
            <a:ext cx="2560320" cy="868680"/>
          </a:xfrm>
          <a:prstGeom prst="rect">
            <a:avLst/>
          </a:prstGeom>
          <a:noFill/>
        </p:spPr>
        <p:txBody>
          <a:bodyPr wrap="square" anchor="ctr"/>
          <a:lstStyle/>
          <a:p>
            <a:pPr marL="0" indent="0" algn="ctr">
              <a:buNone/>
            </a:pPr>
            <a:r>
              <a:rPr sz="3200" b="1">
                <a:solidFill>
                  <a:schemeClr val="accent3"/>
                </a:solidFill>
              </a:rPr>
              <a:t>Daily</a:t>
            </a:r>
            <a:endParaRPr sz="3200"/>
          </a:p>
        </p:txBody>
      </p:sp>
      <p:sp>
        <p:nvSpPr>
          <p:cNvPr id="6" name="Text 3"/>
          <p:cNvSpPr>
            <a:spLocks noGrp="1"/>
          </p:cNvSpPr>
          <p:nvPr/>
        </p:nvSpPr>
        <p:spPr>
          <a:xfrm>
            <a:off x="457200" y="4919472"/>
            <a:ext cx="2560320" cy="411480"/>
          </a:xfrm>
          <a:prstGeom prst="rect">
            <a:avLst/>
          </a:prstGeom>
          <a:noFill/>
        </p:spPr>
        <p:txBody>
          <a:bodyPr wrap="square" anchor="ctr"/>
          <a:lstStyle>
            <a:lvl1pPr algn="ctr">
              <a:buNone/>
              <a:defRPr sz="1200" b="0">
                <a:solidFill>
                  <a:srgbClr val="1F1F1F"/>
                </a:solidFill>
              </a:defRPr>
            </a:lvl1pPr>
            <a:lvl2pPr algn="ctr">
              <a:buNone/>
              <a:defRPr sz="1200" b="0">
                <a:solidFill>
                  <a:srgbClr val="1F1F1F"/>
                </a:solidFill>
              </a:defRPr>
            </a:lvl2pPr>
            <a:lvl3pPr algn="ctr">
              <a:buNone/>
              <a:defRPr sz="1200" b="0">
                <a:solidFill>
                  <a:srgbClr val="1F1F1F"/>
                </a:solidFill>
              </a:defRPr>
            </a:lvl3pPr>
            <a:lvl4pPr algn="ctr">
              <a:buNone/>
              <a:defRPr sz="1200" b="0">
                <a:solidFill>
                  <a:srgbClr val="1F1F1F"/>
                </a:solidFill>
              </a:defRPr>
            </a:lvl4pPr>
            <a:lvl5pPr algn="ctr">
              <a:buNone/>
              <a:defRPr sz="1200" b="0">
                <a:solidFill>
                  <a:srgbClr val="1F1F1F"/>
                </a:solidFill>
              </a:defRPr>
            </a:lvl5pPr>
            <a:lvl6pPr algn="ctr">
              <a:buNone/>
              <a:defRPr sz="1200" b="0">
                <a:solidFill>
                  <a:srgbClr val="1F1F1F"/>
                </a:solidFill>
              </a:defRPr>
            </a:lvl6pPr>
            <a:lvl7pPr algn="ctr">
              <a:buNone/>
              <a:defRPr sz="1200" b="0">
                <a:solidFill>
                  <a:srgbClr val="1F1F1F"/>
                </a:solidFill>
              </a:defRPr>
            </a:lvl7pPr>
            <a:lvl8pPr algn="ctr">
              <a:buNone/>
              <a:defRPr sz="1200" b="0">
                <a:solidFill>
                  <a:srgbClr val="1F1F1F"/>
                </a:solidFill>
              </a:defRPr>
            </a:lvl8pPr>
            <a:lvl9pPr algn="ctr">
              <a:buNone/>
              <a:defRPr sz="1200" b="0">
                <a:solidFill>
                  <a:srgbClr val="1F1F1F"/>
                </a:solidFill>
              </a:defRPr>
            </a:lvl9pPr>
          </a:lstStyle>
          <a:p>
            <a:pPr marL="0" indent="0" algn="ctr">
              <a:buNone/>
              <a:defRPr sz="1200" b="0">
                <a:solidFill>
                  <a:srgbClr val="1F1F1F"/>
                </a:solidFill>
              </a:defRPr>
            </a:pPr>
            <a:r>
              <a:rPr sz="1200" b="0">
                <a:solidFill>
                  <a:srgbClr val="1F1F1F"/>
                </a:solidFill>
              </a:rPr>
              <a:t>adjusted prices; core trades at next open</a:t>
            </a:r>
            <a:endParaRPr sz="1300"/>
          </a:p>
        </p:txBody>
      </p:sp>
      <p:sp>
        <p:nvSpPr>
          <p:cNvPr id="7" name="Shape 4"/>
          <p:cNvSpPr>
            <a:spLocks noGrp="1"/>
          </p:cNvSpPr>
          <p:nvPr/>
        </p:nvSpPr>
        <p:spPr>
          <a:xfrm>
            <a:off x="3291840" y="3931920"/>
            <a:ext cx="2560320" cy="1508760"/>
          </a:xfrm>
          <a:prstGeom prst="roundRect">
            <a:avLst>
              <a:gd name="adj" fmla="val 5333"/>
            </a:avLst>
          </a:prstGeom>
          <a:solidFill>
            <a:schemeClr val="bg2"/>
          </a:solidFill>
          <a:ln w="12700">
            <a:solidFill>
              <a:schemeClr val="bg2"/>
            </a:solidFill>
            <a:prstDash val="solid"/>
          </a:ln>
        </p:spPr>
      </p:sp>
      <p:sp>
        <p:nvSpPr>
          <p:cNvPr id="8" name="Text 5"/>
          <p:cNvSpPr>
            <a:spLocks noGrp="1"/>
          </p:cNvSpPr>
          <p:nvPr/>
        </p:nvSpPr>
        <p:spPr>
          <a:xfrm>
            <a:off x="3291840" y="4005072"/>
            <a:ext cx="2560320" cy="868680"/>
          </a:xfrm>
          <a:prstGeom prst="rect">
            <a:avLst/>
          </a:prstGeom>
          <a:noFill/>
        </p:spPr>
        <p:txBody>
          <a:bodyPr wrap="square" anchor="ctr"/>
          <a:lstStyle/>
          <a:p>
            <a:pPr marL="0" indent="0" algn="ctr">
              <a:buNone/>
            </a:pPr>
            <a:r>
              <a:rPr sz="3200" b="1">
                <a:solidFill>
                  <a:schemeClr val="accent3"/>
                </a:solidFill>
              </a:rPr>
              <a:t>6,336</a:t>
            </a:r>
            <a:endParaRPr sz="3200"/>
          </a:p>
        </p:txBody>
      </p:sp>
      <p:sp>
        <p:nvSpPr>
          <p:cNvPr id="9" name="Text 6"/>
          <p:cNvSpPr>
            <a:spLocks noGrp="1"/>
          </p:cNvSpPr>
          <p:nvPr/>
        </p:nvSpPr>
        <p:spPr>
          <a:xfrm>
            <a:off x="3291840" y="4919472"/>
            <a:ext cx="2560320" cy="411480"/>
          </a:xfrm>
          <a:prstGeom prst="rect">
            <a:avLst/>
          </a:prstGeom>
          <a:noFill/>
        </p:spPr>
        <p:txBody>
          <a:bodyPr wrap="square" anchor="ctr"/>
          <a:lstStyle/>
          <a:p>
            <a:pPr marL="0" indent="0" algn="ctr">
              <a:buNone/>
            </a:pPr>
            <a:r>
              <a:rPr sz="1300">
                <a:solidFill>
                  <a:schemeClr val="tx1"/>
                </a:solidFill>
              </a:rPr>
              <a:t>parameter sets, one vote each</a:t>
            </a:r>
            <a:endParaRPr sz="1300"/>
          </a:p>
        </p:txBody>
      </p:sp>
      <p:sp>
        <p:nvSpPr>
          <p:cNvPr id="10" name="Shape 7"/>
          <p:cNvSpPr>
            <a:spLocks noGrp="1"/>
          </p:cNvSpPr>
          <p:nvPr/>
        </p:nvSpPr>
        <p:spPr>
          <a:xfrm>
            <a:off x="6126480" y="3931920"/>
            <a:ext cx="2560320" cy="1508760"/>
          </a:xfrm>
          <a:prstGeom prst="roundRect">
            <a:avLst>
              <a:gd name="adj" fmla="val 5333"/>
            </a:avLst>
          </a:prstGeom>
          <a:solidFill>
            <a:schemeClr val="bg2"/>
          </a:solidFill>
          <a:ln w="12700">
            <a:solidFill>
              <a:schemeClr val="bg2"/>
            </a:solidFill>
            <a:prstDash val="solid"/>
          </a:ln>
        </p:spPr>
      </p:sp>
      <p:sp>
        <p:nvSpPr>
          <p:cNvPr id="11" name="Text 8"/>
          <p:cNvSpPr>
            <a:spLocks noGrp="1"/>
          </p:cNvSpPr>
          <p:nvPr/>
        </p:nvSpPr>
        <p:spPr>
          <a:xfrm>
            <a:off x="6126480" y="4005072"/>
            <a:ext cx="2560320" cy="868680"/>
          </a:xfrm>
          <a:prstGeom prst="rect">
            <a:avLst/>
          </a:prstGeom>
          <a:noFill/>
        </p:spPr>
        <p:txBody>
          <a:bodyPr wrap="square" anchor="ctr"/>
          <a:lstStyle/>
          <a:p>
            <a:pPr marL="0" indent="0" algn="ctr">
              <a:buNone/>
            </a:pPr>
            <a:r>
              <a:rPr sz="1400" b="1">
                <a:solidFill>
                  <a:schemeClr val="accent3"/>
                </a:solidFill>
                <a:latin typeface="Arial" panose="020B0604020202020204"/>
                <a:ea typeface="Arial" panose="020B0604020202020204"/>
                <a:cs typeface="Arial" panose="020B0604020202020204"/>
              </a:rPr>
              <a:t>US: opening bid–ask-based estimates</a:t>
            </a:r>
            <a:endParaRPr sz="1600" b="1">
              <a:solidFill>
                <a:schemeClr val="accent3"/>
              </a:solidFill>
              <a:latin typeface="Arial" panose="020B0604020202020204"/>
              <a:ea typeface="Arial" panose="020B0604020202020204"/>
              <a:cs typeface="Arial" panose="020B0604020202020204"/>
            </a:endParaRPr>
          </a:p>
          <a:p>
            <a:pPr marL="0" indent="0" algn="ctr">
              <a:buNone/>
            </a:pPr>
            <a:r>
              <a:rPr sz="1400" b="1">
                <a:solidFill>
                  <a:schemeClr val="accent3"/>
                </a:solidFill>
                <a:latin typeface="Arial" panose="020B0604020202020204"/>
                <a:ea typeface="Arial" panose="020B0604020202020204"/>
                <a:cs typeface="Arial" panose="020B0604020202020204"/>
              </a:rPr>
              <a:t>SG: 10 bps per side</a:t>
            </a:r>
            <a:endParaRPr sz="1600" b="1">
              <a:solidFill>
                <a:schemeClr val="accent3"/>
              </a:solidFill>
              <a:latin typeface="Arial" panose="020B0604020202020204"/>
              <a:ea typeface="Arial" panose="020B0604020202020204"/>
              <a:cs typeface="Arial" panose="020B0604020202020204"/>
            </a:endParaRPr>
          </a:p>
        </p:txBody>
      </p:sp>
      <p:sp>
        <p:nvSpPr>
          <p:cNvPr id="12" name="Text 9"/>
          <p:cNvSpPr>
            <a:spLocks noGrp="1"/>
          </p:cNvSpPr>
          <p:nvPr/>
        </p:nvSpPr>
        <p:spPr>
          <a:xfrm>
            <a:off x="6126480" y="4919472"/>
            <a:ext cx="2560320" cy="411480"/>
          </a:xfrm>
          <a:prstGeom prst="rect">
            <a:avLst/>
          </a:prstGeom>
          <a:noFill/>
        </p:spPr>
        <p:txBody>
          <a:bodyPr wrap="square" anchor="ctr"/>
          <a:lstStyle/>
          <a:p>
            <a:pPr marL="0" indent="0" algn="ctr">
              <a:buNone/>
            </a:pPr>
            <a:r>
              <a:rPr sz="1300"/>
              <a:t>Transaction costs</a:t>
            </a:r>
            <a:endParaRPr sz="1300"/>
          </a:p>
        </p:txBody>
      </p:sp>
      <p:sp>
        <p:nvSpPr>
          <p:cNvPr id="25" name="Slide Number Placeholder 0"/>
          <p:cNvSpPr>
            <a:spLocks noGrp="1"/>
          </p:cNvSpPr>
          <p:nvPr>
            <p:ph type="sldNum" idx="4294967295"/>
          </p:nvPr>
        </p:nvSpPr>
        <p:spPr>
          <a:xfrm>
            <a:off x="8458200" y="182880"/>
            <a:ext cx="457200" cy="274320"/>
          </a:xfrm>
          <a:prstGeom prst="rect">
            <a:avLst/>
          </a:prstGeom>
        </p:spPr>
        <p:txBody>
          <a:bodyPr/>
          <a:lstStyle>
            <a:lvl1pPr>
              <a:buNone/>
              <a:defRPr sz="1000">
                <a:solidFill>
                  <a:schemeClr val="tx1"/>
                </a:solidFill>
              </a:defRPr>
            </a:lvl1pPr>
          </a:lstStyle>
          <a:p>
            <a:pPr algn="r">
              <a:buNone/>
            </a:pPr>
          </a:p>
        </p:txBody>
      </p:sp>
    </p:spTree>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US V0 Strategy: One Decision Tree</a:t>
            </a:r>
            <a:endParaRPr sz="3200"/>
          </a:p>
        </p:txBody>
      </p:sp>
      <p:cxnSp>
        <p:nvCxnSpPr>
          <p:cNvPr id="146" name="肘形连接符 127"/>
          <p:cNvCxnSpPr>
            <a:stCxn id="111" idx="2"/>
          </p:cNvCxnSpPr>
          <p:nvPr/>
        </p:nvCxnSpPr>
        <p:spPr>
          <a:xfrm>
            <a:off x="2428875" y="4591050"/>
            <a:ext cx="0" cy="346710"/>
          </a:xfrm>
          <a:prstGeom prst="straightConnector1">
            <a:avLst/>
          </a:prstGeom>
          <a:ln w="19050">
            <a:solidFill>
              <a:srgbClr val="42679A"/>
            </a:solidFill>
            <a:tailEnd type="triangle" w="med" len="med"/>
          </a:ln>
        </p:spPr>
      </p:cxnSp>
      <p:cxnSp>
        <p:nvCxnSpPr>
          <p:cNvPr id="147" name="直接箭头连接符 128"/>
          <p:cNvCxnSpPr>
            <a:stCxn id="110" idx="2"/>
            <a:endCxn id="111" idx="0"/>
          </p:cNvCxnSpPr>
          <p:nvPr/>
        </p:nvCxnSpPr>
        <p:spPr>
          <a:xfrm>
            <a:off x="2428875" y="3638550"/>
            <a:ext cx="0" cy="457200"/>
          </a:xfrm>
          <a:prstGeom prst="straightConnector1">
            <a:avLst/>
          </a:prstGeom>
          <a:ln w="19050">
            <a:solidFill>
              <a:srgbClr val="42679A"/>
            </a:solidFill>
            <a:tailEnd type="triangle" w="med" len="med"/>
          </a:ln>
        </p:spPr>
      </p:cxnSp>
      <p:cxnSp>
        <p:nvCxnSpPr>
          <p:cNvPr id="148" name="直接箭头连接符 129"/>
          <p:cNvCxnSpPr>
            <a:stCxn id="109" idx="2"/>
            <a:endCxn id="110" idx="0"/>
          </p:cNvCxnSpPr>
          <p:nvPr/>
        </p:nvCxnSpPr>
        <p:spPr>
          <a:xfrm>
            <a:off x="2428875" y="2686050"/>
            <a:ext cx="0" cy="457200"/>
          </a:xfrm>
          <a:prstGeom prst="straightConnector1">
            <a:avLst/>
          </a:prstGeom>
          <a:ln w="19050">
            <a:solidFill>
              <a:srgbClr val="42679A"/>
            </a:solidFill>
            <a:tailEnd type="triangle" w="med" len="med"/>
          </a:ln>
        </p:spPr>
      </p:cxnSp>
      <p:cxnSp>
        <p:nvCxnSpPr>
          <p:cNvPr id="149" name="直接箭头连接符 130"/>
          <p:cNvCxnSpPr>
            <a:stCxn id="108" idx="2"/>
            <a:endCxn id="109" idx="0"/>
          </p:cNvCxnSpPr>
          <p:nvPr/>
        </p:nvCxnSpPr>
        <p:spPr>
          <a:xfrm>
            <a:off x="2428875" y="1733550"/>
            <a:ext cx="0" cy="457200"/>
          </a:xfrm>
          <a:prstGeom prst="straightConnector1">
            <a:avLst/>
          </a:prstGeom>
          <a:ln w="19050">
            <a:solidFill>
              <a:srgbClr val="42679A"/>
            </a:solidFill>
            <a:tailEnd type="triangle" w="med" len="med"/>
          </a:ln>
        </p:spPr>
      </p:cxnSp>
      <p:cxnSp>
        <p:nvCxnSpPr>
          <p:cNvPr id="150" name="直接箭头连接符 131"/>
          <p:cNvCxnSpPr>
            <a:stCxn id="111" idx="3"/>
            <a:endCxn id="115" idx="1"/>
          </p:cNvCxnSpPr>
          <p:nvPr/>
        </p:nvCxnSpPr>
        <p:spPr>
          <a:xfrm>
            <a:off x="4286250" y="4343400"/>
            <a:ext cx="1285875" cy="0"/>
          </a:xfrm>
          <a:prstGeom prst="straightConnector1">
            <a:avLst/>
          </a:prstGeom>
          <a:ln w="19050">
            <a:solidFill>
              <a:srgbClr val="42679A"/>
            </a:solidFill>
            <a:tailEnd type="triangle" w="med" len="med"/>
          </a:ln>
        </p:spPr>
      </p:cxnSp>
      <p:cxnSp>
        <p:nvCxnSpPr>
          <p:cNvPr id="151" name="直接箭头连接符 132"/>
          <p:cNvCxnSpPr>
            <a:stCxn id="110" idx="3"/>
            <a:endCxn id="114" idx="1"/>
          </p:cNvCxnSpPr>
          <p:nvPr/>
        </p:nvCxnSpPr>
        <p:spPr>
          <a:xfrm>
            <a:off x="4286250" y="3390900"/>
            <a:ext cx="1285875" cy="0"/>
          </a:xfrm>
          <a:prstGeom prst="straightConnector1">
            <a:avLst/>
          </a:prstGeom>
          <a:ln w="19050">
            <a:solidFill>
              <a:srgbClr val="42679A"/>
            </a:solidFill>
            <a:tailEnd type="triangle" w="med" len="med"/>
          </a:ln>
        </p:spPr>
      </p:cxnSp>
      <p:cxnSp>
        <p:nvCxnSpPr>
          <p:cNvPr id="152" name="直接箭头连接符 133"/>
          <p:cNvCxnSpPr>
            <a:stCxn id="109" idx="3"/>
            <a:endCxn id="113" idx="1"/>
          </p:cNvCxnSpPr>
          <p:nvPr/>
        </p:nvCxnSpPr>
        <p:spPr>
          <a:xfrm>
            <a:off x="4286250" y="2438400"/>
            <a:ext cx="1285875" cy="0"/>
          </a:xfrm>
          <a:prstGeom prst="straightConnector1">
            <a:avLst/>
          </a:prstGeom>
          <a:ln w="19050">
            <a:solidFill>
              <a:srgbClr val="42679A"/>
            </a:solidFill>
            <a:tailEnd type="triangle" w="med" len="med"/>
          </a:ln>
        </p:spPr>
      </p:cxnSp>
      <p:cxnSp>
        <p:nvCxnSpPr>
          <p:cNvPr id="153" name="直接箭头连接符 134"/>
          <p:cNvCxnSpPr>
            <a:stCxn id="108" idx="3"/>
            <a:endCxn id="112" idx="1"/>
          </p:cNvCxnSpPr>
          <p:nvPr/>
        </p:nvCxnSpPr>
        <p:spPr>
          <a:xfrm>
            <a:off x="4286250" y="1485900"/>
            <a:ext cx="1285875" cy="0"/>
          </a:xfrm>
          <a:prstGeom prst="straightConnector1">
            <a:avLst/>
          </a:prstGeom>
          <a:ln w="19050">
            <a:solidFill>
              <a:srgbClr val="42679A"/>
            </a:solidFill>
            <a:tailEnd type="triangle" w="med" len="med"/>
          </a:ln>
        </p:spPr>
      </p:cxnSp>
      <p:sp>
        <p:nvSpPr>
          <p:cNvPr id="108" name="trend"/>
          <p:cNvSpPr>
            <a:spLocks noGrp="1"/>
          </p:cNvSpPr>
          <p:nvPr/>
        </p:nvSpPr>
        <p:spPr>
          <a:xfrm>
            <a:off x="571500" y="12382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1  SPY &gt; long-term SMA?</a:t>
            </a:r>
            <a:endParaRPr sz="1575" b="0">
              <a:solidFill>
                <a:srgbClr val="0A2A8C"/>
              </a:solidFill>
            </a:endParaRPr>
          </a:p>
        </p:txBody>
      </p:sp>
      <p:sp>
        <p:nvSpPr>
          <p:cNvPr id="109" name="oversold-tqqq"/>
          <p:cNvSpPr>
            <a:spLocks noGrp="1"/>
          </p:cNvSpPr>
          <p:nvPr/>
        </p:nvSpPr>
        <p:spPr>
          <a:xfrm>
            <a:off x="571500" y="21907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2  TQQQ RSI &lt; oversold?</a:t>
            </a:r>
            <a:endParaRPr sz="1575" b="0">
              <a:solidFill>
                <a:srgbClr val="0A2A8C"/>
              </a:solidFill>
            </a:endParaRPr>
          </a:p>
        </p:txBody>
      </p:sp>
      <p:sp>
        <p:nvSpPr>
          <p:cNvPr id="110" name="oversold-spy"/>
          <p:cNvSpPr>
            <a:spLocks noGrp="1"/>
          </p:cNvSpPr>
          <p:nvPr/>
        </p:nvSpPr>
        <p:spPr>
          <a:xfrm>
            <a:off x="571500" y="31432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SPY RSI &lt; oversold?</a:t>
            </a:r>
            <a:endParaRPr sz="1575" b="0">
              <a:solidFill>
                <a:srgbClr val="0A2A8C"/>
              </a:solidFill>
            </a:endParaRPr>
          </a:p>
        </p:txBody>
      </p:sp>
      <p:sp>
        <p:nvSpPr>
          <p:cNvPr id="111" name="fear"/>
          <p:cNvSpPr>
            <a:spLocks noGrp="1"/>
          </p:cNvSpPr>
          <p:nvPr/>
        </p:nvSpPr>
        <p:spPr>
          <a:xfrm>
            <a:off x="571500" y="4095750"/>
            <a:ext cx="3714750" cy="495300"/>
          </a:xfrm>
          <a:prstGeom prst="roundRect">
            <a:avLst>
              <a:gd name="adj" fmla="val 15385"/>
            </a:avLst>
          </a:prstGeom>
          <a:solidFill>
            <a:srgbClr val="EEF3F9"/>
          </a:solidFill>
          <a:ln w="11430">
            <a:solidFill>
              <a:srgbClr val="42679A"/>
            </a:solidFill>
          </a:ln>
        </p:spPr>
        <p:txBody>
          <a:bodyPr anchor="ctr"/>
          <a:lstStyle>
            <a:lvl1pPr algn="ctr">
              <a:buNone/>
              <a:defRPr sz="1575" b="0">
                <a:solidFill>
                  <a:srgbClr val="0A2A8C"/>
                </a:solidFill>
              </a:defRPr>
            </a:lvl1pPr>
            <a:lvl2pPr algn="ctr">
              <a:buNone/>
              <a:defRPr sz="1575" b="0">
                <a:solidFill>
                  <a:srgbClr val="0A2A8C"/>
                </a:solidFill>
              </a:defRPr>
            </a:lvl2pPr>
            <a:lvl3pPr algn="ctr">
              <a:buNone/>
              <a:defRPr sz="1575" b="0">
                <a:solidFill>
                  <a:srgbClr val="0A2A8C"/>
                </a:solidFill>
              </a:defRPr>
            </a:lvl3pPr>
            <a:lvl4pPr algn="ctr">
              <a:buNone/>
              <a:defRPr sz="1575" b="0">
                <a:solidFill>
                  <a:srgbClr val="0A2A8C"/>
                </a:solidFill>
              </a:defRPr>
            </a:lvl4pPr>
            <a:lvl5pPr algn="ctr">
              <a:buNone/>
              <a:defRPr sz="1575" b="0">
                <a:solidFill>
                  <a:srgbClr val="0A2A8C"/>
                </a:solidFill>
              </a:defRPr>
            </a:lvl5pPr>
            <a:lvl6pPr algn="ctr">
              <a:buNone/>
              <a:defRPr sz="1575" b="0">
                <a:solidFill>
                  <a:srgbClr val="0A2A8C"/>
                </a:solidFill>
              </a:defRPr>
            </a:lvl6pPr>
            <a:lvl7pPr algn="ctr">
              <a:buNone/>
              <a:defRPr sz="1575" b="0">
                <a:solidFill>
                  <a:srgbClr val="0A2A8C"/>
                </a:solidFill>
              </a:defRPr>
            </a:lvl7pPr>
            <a:lvl8pPr algn="ctr">
              <a:buNone/>
              <a:defRPr sz="1575" b="0">
                <a:solidFill>
                  <a:srgbClr val="0A2A8C"/>
                </a:solidFill>
              </a:defRPr>
            </a:lvl8pPr>
            <a:lvl9pPr algn="ctr">
              <a:buNone/>
              <a:defRPr sz="1575" b="0">
                <a:solidFill>
                  <a:srgbClr val="0A2A8C"/>
                </a:solidFill>
              </a:defRPr>
            </a:lvl9pPr>
          </a:lstStyle>
          <a:p>
            <a:pPr algn="ctr">
              <a:buNone/>
              <a:defRPr sz="1575" b="0">
                <a:solidFill>
                  <a:srgbClr val="0A2A8C"/>
                </a:solidFill>
              </a:defRPr>
            </a:pPr>
            <a:r>
              <a:rPr sz="1575" b="0">
                <a:solidFill>
                  <a:srgbClr val="0A2A8C"/>
                </a:solidFill>
              </a:rPr>
              <a:t>3  fear &lt; UVXY RSI ≤ extreme?</a:t>
            </a:r>
            <a:endParaRPr sz="1575" b="0">
              <a:solidFill>
                <a:srgbClr val="0A2A8C"/>
              </a:solidFill>
            </a:endParaRPr>
          </a:p>
        </p:txBody>
      </p:sp>
      <p:sp>
        <p:nvSpPr>
          <p:cNvPr id="112" name="bull-outcome"/>
          <p:cNvSpPr>
            <a:spLocks noGrp="1"/>
          </p:cNvSpPr>
          <p:nvPr/>
        </p:nvSpPr>
        <p:spPr>
          <a:xfrm>
            <a:off x="5572125" y="1143000"/>
            <a:ext cx="3095625" cy="685800"/>
          </a:xfrm>
          <a:prstGeom prst="roundRect">
            <a:avLst>
              <a:gd name="adj" fmla="val 11111"/>
            </a:avLst>
          </a:prstGeom>
          <a:solidFill>
            <a:srgbClr val="FFF0DC"/>
          </a:solidFill>
          <a:ln w="11430">
            <a:solidFill>
              <a:srgbClr val="42679A"/>
            </a:solidFill>
          </a:ln>
        </p:spPr>
        <p:txBody>
          <a:bodyPr anchor="ctr"/>
          <a:lstStyle>
            <a:lvl1pPr algn="ctr">
              <a:buNone/>
              <a:defRPr sz="1500" b="1">
                <a:solidFill>
                  <a:srgbClr val="0A2A8C"/>
                </a:solidFill>
              </a:defRPr>
            </a:lvl1pPr>
            <a:lvl2pPr algn="ctr">
              <a:buNone/>
              <a:defRPr sz="1500" b="1">
                <a:solidFill>
                  <a:srgbClr val="0A2A8C"/>
                </a:solidFill>
              </a:defRPr>
            </a:lvl2pPr>
            <a:lvl3pPr algn="ctr">
              <a:buNone/>
              <a:defRPr sz="1500" b="1">
                <a:solidFill>
                  <a:srgbClr val="0A2A8C"/>
                </a:solidFill>
              </a:defRPr>
            </a:lvl3pPr>
            <a:lvl4pPr algn="ctr">
              <a:buNone/>
              <a:defRPr sz="1500" b="1">
                <a:solidFill>
                  <a:srgbClr val="0A2A8C"/>
                </a:solidFill>
              </a:defRPr>
            </a:lvl4pPr>
            <a:lvl5pPr algn="ctr">
              <a:buNone/>
              <a:defRPr sz="1500" b="1">
                <a:solidFill>
                  <a:srgbClr val="0A2A8C"/>
                </a:solidFill>
              </a:defRPr>
            </a:lvl5pPr>
            <a:lvl6pPr algn="ctr">
              <a:buNone/>
              <a:defRPr sz="1500" b="1">
                <a:solidFill>
                  <a:srgbClr val="0A2A8C"/>
                </a:solidFill>
              </a:defRPr>
            </a:lvl6pPr>
            <a:lvl7pPr algn="ctr">
              <a:buNone/>
              <a:defRPr sz="1500" b="1">
                <a:solidFill>
                  <a:srgbClr val="0A2A8C"/>
                </a:solidFill>
              </a:defRPr>
            </a:lvl7pPr>
            <a:lvl8pPr algn="ctr">
              <a:buNone/>
              <a:defRPr sz="1500" b="1">
                <a:solidFill>
                  <a:srgbClr val="0A2A8C"/>
                </a:solidFill>
              </a:defRPr>
            </a:lvl8pPr>
            <a:lvl9pPr algn="ctr">
              <a:buNone/>
              <a:defRPr sz="1500" b="1">
                <a:solidFill>
                  <a:srgbClr val="0A2A8C"/>
                </a:solidFill>
              </a:defRPr>
            </a:lvl9pPr>
          </a:lstStyle>
          <a:p>
            <a:pPr algn="ctr">
              <a:buNone/>
              <a:defRPr sz="1500" b="1">
                <a:solidFill>
                  <a:srgbClr val="0A2A8C"/>
                </a:solidFill>
              </a:defRPr>
            </a:pPr>
            <a:r>
              <a:rPr sz="1500" b="1">
                <a:solidFill>
                  <a:srgbClr val="0A2A8C"/>
                </a:solidFill>
              </a:rPr>
              <a:t>QQQ or SPY RSI &gt; overheat?</a:t>
            </a:r>
            <a:endParaRPr sz="1500" b="1">
              <a:solidFill>
                <a:srgbClr val="0A2A8C"/>
              </a:solidFill>
            </a:endParaRPr>
          </a:p>
          <a:p>
            <a:pPr algn="ctr">
              <a:buNone/>
              <a:defRPr sz="1500" b="1">
                <a:solidFill>
                  <a:srgbClr val="0A2A8C"/>
                </a:solidFill>
              </a:defRPr>
            </a:pPr>
            <a:r>
              <a:rPr sz="1500" b="1">
                <a:solidFill>
                  <a:srgbClr val="0A2A8C"/>
                </a:solidFill>
              </a:rPr>
              <a:t>Yes: UVXY     No: TQQQ</a:t>
            </a:r>
            <a:endParaRPr sz="1500" b="1">
              <a:solidFill>
                <a:srgbClr val="0A2A8C"/>
              </a:solidFill>
            </a:endParaRPr>
          </a:p>
        </p:txBody>
      </p:sp>
      <p:sp>
        <p:nvSpPr>
          <p:cNvPr id="113" name="tecl"/>
          <p:cNvSpPr>
            <a:spLocks noGrp="1"/>
          </p:cNvSpPr>
          <p:nvPr/>
        </p:nvSpPr>
        <p:spPr>
          <a:xfrm>
            <a:off x="5572125" y="21907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TECL</a:t>
            </a:r>
            <a:endParaRPr sz="1650" b="1">
              <a:solidFill>
                <a:srgbClr val="0A2A8C"/>
              </a:solidFill>
            </a:endParaRPr>
          </a:p>
        </p:txBody>
      </p:sp>
      <p:sp>
        <p:nvSpPr>
          <p:cNvPr id="114" name="spxl"/>
          <p:cNvSpPr>
            <a:spLocks noGrp="1"/>
          </p:cNvSpPr>
          <p:nvPr/>
        </p:nvSpPr>
        <p:spPr>
          <a:xfrm>
            <a:off x="5572125" y="31432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SPXL</a:t>
            </a:r>
            <a:endParaRPr sz="1650" b="1">
              <a:solidFill>
                <a:srgbClr val="0A2A8C"/>
              </a:solidFill>
            </a:endParaRPr>
          </a:p>
        </p:txBody>
      </p:sp>
      <p:sp>
        <p:nvSpPr>
          <p:cNvPr id="115" name="uvxy"/>
          <p:cNvSpPr>
            <a:spLocks noGrp="1"/>
          </p:cNvSpPr>
          <p:nvPr/>
        </p:nvSpPr>
        <p:spPr>
          <a:xfrm>
            <a:off x="5572125" y="4095750"/>
            <a:ext cx="3095625" cy="495300"/>
          </a:xfrm>
          <a:prstGeom prst="roundRect">
            <a:avLst>
              <a:gd name="adj" fmla="val 15385"/>
            </a:avLst>
          </a:prstGeom>
          <a:solidFill>
            <a:srgbClr val="FFF0DC"/>
          </a:solidFill>
          <a:ln w="11430">
            <a:solidFill>
              <a:srgbClr val="42679A"/>
            </a:solidFill>
          </a:ln>
        </p:spPr>
        <p:txBody>
          <a:bodyPr anchor="ctr"/>
          <a:lstStyle>
            <a:lvl1pPr algn="ctr">
              <a:buNone/>
              <a:defRPr sz="1650" b="1">
                <a:solidFill>
                  <a:srgbClr val="0A2A8C"/>
                </a:solidFill>
              </a:defRPr>
            </a:lvl1pPr>
            <a:lvl2pPr algn="ctr">
              <a:buNone/>
              <a:defRPr sz="1650" b="1">
                <a:solidFill>
                  <a:srgbClr val="0A2A8C"/>
                </a:solidFill>
              </a:defRPr>
            </a:lvl2pPr>
            <a:lvl3pPr algn="ctr">
              <a:buNone/>
              <a:defRPr sz="1650" b="1">
                <a:solidFill>
                  <a:srgbClr val="0A2A8C"/>
                </a:solidFill>
              </a:defRPr>
            </a:lvl3pPr>
            <a:lvl4pPr algn="ctr">
              <a:buNone/>
              <a:defRPr sz="1650" b="1">
                <a:solidFill>
                  <a:srgbClr val="0A2A8C"/>
                </a:solidFill>
              </a:defRPr>
            </a:lvl4pPr>
            <a:lvl5pPr algn="ctr">
              <a:buNone/>
              <a:defRPr sz="1650" b="1">
                <a:solidFill>
                  <a:srgbClr val="0A2A8C"/>
                </a:solidFill>
              </a:defRPr>
            </a:lvl5pPr>
            <a:lvl6pPr algn="ctr">
              <a:buNone/>
              <a:defRPr sz="1650" b="1">
                <a:solidFill>
                  <a:srgbClr val="0A2A8C"/>
                </a:solidFill>
              </a:defRPr>
            </a:lvl6pPr>
            <a:lvl7pPr algn="ctr">
              <a:buNone/>
              <a:defRPr sz="1650" b="1">
                <a:solidFill>
                  <a:srgbClr val="0A2A8C"/>
                </a:solidFill>
              </a:defRPr>
            </a:lvl7pPr>
            <a:lvl8pPr algn="ctr">
              <a:buNone/>
              <a:defRPr sz="1650" b="1">
                <a:solidFill>
                  <a:srgbClr val="0A2A8C"/>
                </a:solidFill>
              </a:defRPr>
            </a:lvl8pPr>
            <a:lvl9pPr algn="ctr">
              <a:buNone/>
              <a:defRPr sz="1650" b="1">
                <a:solidFill>
                  <a:srgbClr val="0A2A8C"/>
                </a:solidFill>
              </a:defRPr>
            </a:lvl9pPr>
          </a:lstStyle>
          <a:p>
            <a:pPr algn="ctr">
              <a:buNone/>
              <a:defRPr sz="1650" b="1">
                <a:solidFill>
                  <a:srgbClr val="0A2A8C"/>
                </a:solidFill>
              </a:defRPr>
            </a:pPr>
            <a:r>
              <a:rPr sz="1650" b="1">
                <a:solidFill>
                  <a:srgbClr val="0A2A8C"/>
                </a:solidFill>
              </a:rPr>
              <a:t>Select UVXY</a:t>
            </a:r>
            <a:endParaRPr sz="1650" b="1">
              <a:solidFill>
                <a:srgbClr val="0A2A8C"/>
              </a:solidFill>
            </a:endParaRPr>
          </a:p>
        </p:txBody>
      </p:sp>
      <p:sp>
        <p:nvSpPr>
          <p:cNvPr id="116" name="矩形 115"/>
          <p:cNvSpPr>
            <a:spLocks noGrp="1"/>
          </p:cNvSpPr>
          <p:nvPr/>
        </p:nvSpPr>
        <p:spPr>
          <a:xfrm>
            <a:off x="4476750" y="11430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endParaRPr sz="1275" b="1">
              <a:solidFill>
                <a:srgbClr val="42679A"/>
              </a:solidFill>
            </a:endParaRPr>
          </a:p>
        </p:txBody>
      </p:sp>
      <p:sp>
        <p:nvSpPr>
          <p:cNvPr id="117" name="矩形 116"/>
          <p:cNvSpPr>
            <a:spLocks noGrp="1"/>
          </p:cNvSpPr>
          <p:nvPr/>
        </p:nvSpPr>
        <p:spPr>
          <a:xfrm>
            <a:off x="4476750" y="20955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endParaRPr sz="1275" b="1">
              <a:solidFill>
                <a:srgbClr val="42679A"/>
              </a:solidFill>
            </a:endParaRPr>
          </a:p>
        </p:txBody>
      </p:sp>
      <p:sp>
        <p:nvSpPr>
          <p:cNvPr id="118" name="矩形 117"/>
          <p:cNvSpPr>
            <a:spLocks noGrp="1"/>
          </p:cNvSpPr>
          <p:nvPr/>
        </p:nvSpPr>
        <p:spPr>
          <a:xfrm>
            <a:off x="4476750" y="30480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endParaRPr sz="1275" b="1">
              <a:solidFill>
                <a:srgbClr val="42679A"/>
              </a:solidFill>
            </a:endParaRPr>
          </a:p>
        </p:txBody>
      </p:sp>
      <p:sp>
        <p:nvSpPr>
          <p:cNvPr id="119" name="矩形 118"/>
          <p:cNvSpPr>
            <a:spLocks noGrp="1"/>
          </p:cNvSpPr>
          <p:nvPr/>
        </p:nvSpPr>
        <p:spPr>
          <a:xfrm>
            <a:off x="4476750" y="4000500"/>
            <a:ext cx="857250" cy="247650"/>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Yes</a:t>
            </a:r>
            <a:endParaRPr sz="1275" b="1">
              <a:solidFill>
                <a:srgbClr val="42679A"/>
              </a:solidFill>
            </a:endParaRPr>
          </a:p>
        </p:txBody>
      </p:sp>
      <p:sp>
        <p:nvSpPr>
          <p:cNvPr id="120" name="矩形 119"/>
          <p:cNvSpPr>
            <a:spLocks noGrp="1"/>
          </p:cNvSpPr>
          <p:nvPr/>
        </p:nvSpPr>
        <p:spPr>
          <a:xfrm>
            <a:off x="2486025" y="18383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endParaRPr sz="1275" b="1">
              <a:solidFill>
                <a:srgbClr val="42679A"/>
              </a:solidFill>
            </a:endParaRPr>
          </a:p>
        </p:txBody>
      </p:sp>
      <p:sp>
        <p:nvSpPr>
          <p:cNvPr id="121" name="矩形 120"/>
          <p:cNvSpPr>
            <a:spLocks noGrp="1"/>
          </p:cNvSpPr>
          <p:nvPr/>
        </p:nvSpPr>
        <p:spPr>
          <a:xfrm>
            <a:off x="2486025" y="27908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endParaRPr sz="1275" b="1">
              <a:solidFill>
                <a:srgbClr val="42679A"/>
              </a:solidFill>
            </a:endParaRPr>
          </a:p>
        </p:txBody>
      </p:sp>
      <p:sp>
        <p:nvSpPr>
          <p:cNvPr id="122" name="矩形 121"/>
          <p:cNvSpPr>
            <a:spLocks noGrp="1"/>
          </p:cNvSpPr>
          <p:nvPr/>
        </p:nvSpPr>
        <p:spPr>
          <a:xfrm>
            <a:off x="2486025" y="3743325"/>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endParaRPr sz="1275" b="1">
              <a:solidFill>
                <a:srgbClr val="42679A"/>
              </a:solidFill>
            </a:endParaRPr>
          </a:p>
        </p:txBody>
      </p:sp>
      <p:sp>
        <p:nvSpPr>
          <p:cNvPr id="123" name="filter"/>
          <p:cNvSpPr>
            <a:spLocks noGrp="1"/>
          </p:cNvSpPr>
          <p:nvPr/>
        </p:nvSpPr>
        <p:spPr>
          <a:xfrm>
            <a:off x="571500" y="4937760"/>
            <a:ext cx="8096250" cy="905256"/>
          </a:xfrm>
          <a:prstGeom prst="roundRect">
            <a:avLst>
              <a:gd name="adj" fmla="val 8421"/>
            </a:avLst>
          </a:prstGeom>
          <a:solidFill>
            <a:srgbClr val="EEF3F9"/>
          </a:solidFill>
          <a:ln w="11430">
            <a:solidFill>
              <a:srgbClr val="42679A"/>
            </a:solidFill>
          </a:ln>
        </p:spPr>
        <p:txBody>
          <a:bodyPr anchor="ctr"/>
          <a:lstStyle>
            <a:lvl1pPr algn="ctr">
              <a:buNone/>
              <a:defRPr sz="1500" b="0">
                <a:solidFill>
                  <a:srgbClr val="0A2A8C"/>
                </a:solidFill>
              </a:defRPr>
            </a:lvl1pPr>
            <a:lvl2pPr algn="ctr">
              <a:buNone/>
              <a:defRPr sz="1500" b="0">
                <a:solidFill>
                  <a:srgbClr val="0A2A8C"/>
                </a:solidFill>
              </a:defRPr>
            </a:lvl2pPr>
            <a:lvl3pPr algn="ctr">
              <a:buNone/>
              <a:defRPr sz="1500" b="0">
                <a:solidFill>
                  <a:srgbClr val="0A2A8C"/>
                </a:solidFill>
              </a:defRPr>
            </a:lvl3pPr>
            <a:lvl4pPr algn="ctr">
              <a:buNone/>
              <a:defRPr sz="1500" b="0">
                <a:solidFill>
                  <a:srgbClr val="0A2A8C"/>
                </a:solidFill>
              </a:defRPr>
            </a:lvl4pPr>
            <a:lvl5pPr algn="ctr">
              <a:buNone/>
              <a:defRPr sz="1500" b="0">
                <a:solidFill>
                  <a:srgbClr val="0A2A8C"/>
                </a:solidFill>
              </a:defRPr>
            </a:lvl5pPr>
            <a:lvl6pPr algn="ctr">
              <a:buNone/>
              <a:defRPr sz="1500" b="0">
                <a:solidFill>
                  <a:srgbClr val="0A2A8C"/>
                </a:solidFill>
              </a:defRPr>
            </a:lvl6pPr>
            <a:lvl7pPr algn="ctr">
              <a:buNone/>
              <a:defRPr sz="1500" b="0">
                <a:solidFill>
                  <a:srgbClr val="0A2A8C"/>
                </a:solidFill>
              </a:defRPr>
            </a:lvl7pPr>
            <a:lvl8pPr algn="ctr">
              <a:buNone/>
              <a:defRPr sz="1500" b="0">
                <a:solidFill>
                  <a:srgbClr val="0A2A8C"/>
                </a:solidFill>
              </a:defRPr>
            </a:lvl8pPr>
            <a:lvl9pPr algn="ctr">
              <a:buNone/>
              <a:defRPr sz="1500" b="0">
                <a:solidFill>
                  <a:srgbClr val="0A2A8C"/>
                </a:solidFill>
              </a:defRPr>
            </a:lvl9pPr>
          </a:lstStyle>
          <a:p>
            <a:pPr algn="ctr">
              <a:buNone/>
              <a:defRPr sz="1500" b="0">
                <a:solidFill>
                  <a:srgbClr val="0A2A8C"/>
                </a:solidFill>
              </a:defRPr>
            </a:pPr>
            <a:r>
              <a:rPr sz="1500" b="0">
                <a:solidFill>
                  <a:srgbClr val="0A2A8C"/>
                </a:solidFill>
              </a:rPr>
              <a:t>4  Choose the trend filter: extreme fear → QQQ; otherwise → TQQQ</a:t>
            </a:r>
            <a:endParaRPr sz="1500" b="0">
              <a:solidFill>
                <a:srgbClr val="0A2A8C"/>
              </a:solidFill>
            </a:endParaRPr>
          </a:p>
          <a:p>
            <a:pPr algn="ctr">
              <a:buNone/>
              <a:defRPr sz="1500" b="0">
                <a:solidFill>
                  <a:srgbClr val="0A2A8C"/>
                </a:solidFill>
              </a:defRPr>
            </a:pPr>
            <a:r>
              <a:rPr sz="1500" b="0">
                <a:solidFill>
                  <a:srgbClr val="0A2A8C"/>
                </a:solidFill>
              </a:rPr>
              <a:t>Price &gt; SMA20: TECS if SQQQ RSI &lt; line; otherwise TECL.</a:t>
            </a:r>
            <a:endParaRPr sz="1500" b="0">
              <a:solidFill>
                <a:srgbClr val="0A2A8C"/>
              </a:solidFill>
            </a:endParaRPr>
          </a:p>
          <a:p>
            <a:pPr algn="ctr">
              <a:buNone/>
              <a:defRPr sz="1500" b="0">
                <a:solidFill>
                  <a:srgbClr val="0A2A8C"/>
                </a:solidFill>
              </a:defRPr>
            </a:pPr>
            <a:r>
              <a:rPr sz="1500" b="0">
                <a:solidFill>
                  <a:srgbClr val="0A2A8C"/>
                </a:solidFill>
              </a:rPr>
              <a:t>Price ≤ SMA20: higher RSI of TECS / BSV (tie: TECS).</a:t>
            </a:r>
            <a:endParaRPr sz="1500" b="0">
              <a:solidFill>
                <a:srgbClr val="0A2A8C"/>
              </a:solidFill>
            </a:endParaRPr>
          </a:p>
        </p:txBody>
      </p:sp>
      <p:sp>
        <p:nvSpPr>
          <p:cNvPr id="124" name="矩形 123"/>
          <p:cNvSpPr>
            <a:spLocks noGrp="1"/>
          </p:cNvSpPr>
          <p:nvPr/>
        </p:nvSpPr>
        <p:spPr>
          <a:xfrm>
            <a:off x="2486025" y="4636008"/>
            <a:ext cx="666750" cy="238125"/>
          </a:xfrm>
          <a:prstGeom prst="rect">
            <a:avLst/>
          </a:prstGeom>
          <a:noFill/>
          <a:ln w="0">
            <a:noFill/>
          </a:ln>
        </p:spPr>
        <p:txBody>
          <a:bodyPr/>
          <a:lstStyle>
            <a:lvl1pPr algn="ctr">
              <a:buNone/>
              <a:defRPr sz="1275" b="1">
                <a:solidFill>
                  <a:srgbClr val="42679A"/>
                </a:solidFill>
              </a:defRPr>
            </a:lvl1pPr>
            <a:lvl2pPr algn="ctr">
              <a:buNone/>
              <a:defRPr sz="1275" b="1">
                <a:solidFill>
                  <a:srgbClr val="42679A"/>
                </a:solidFill>
              </a:defRPr>
            </a:lvl2pPr>
            <a:lvl3pPr algn="ctr">
              <a:buNone/>
              <a:defRPr sz="1275" b="1">
                <a:solidFill>
                  <a:srgbClr val="42679A"/>
                </a:solidFill>
              </a:defRPr>
            </a:lvl3pPr>
            <a:lvl4pPr algn="ctr">
              <a:buNone/>
              <a:defRPr sz="1275" b="1">
                <a:solidFill>
                  <a:srgbClr val="42679A"/>
                </a:solidFill>
              </a:defRPr>
            </a:lvl4pPr>
            <a:lvl5pPr algn="ctr">
              <a:buNone/>
              <a:defRPr sz="1275" b="1">
                <a:solidFill>
                  <a:srgbClr val="42679A"/>
                </a:solidFill>
              </a:defRPr>
            </a:lvl5pPr>
            <a:lvl6pPr algn="ctr">
              <a:buNone/>
              <a:defRPr sz="1275" b="1">
                <a:solidFill>
                  <a:srgbClr val="42679A"/>
                </a:solidFill>
              </a:defRPr>
            </a:lvl6pPr>
            <a:lvl7pPr algn="ctr">
              <a:buNone/>
              <a:defRPr sz="1275" b="1">
                <a:solidFill>
                  <a:srgbClr val="42679A"/>
                </a:solidFill>
              </a:defRPr>
            </a:lvl7pPr>
            <a:lvl8pPr algn="ctr">
              <a:buNone/>
              <a:defRPr sz="1275" b="1">
                <a:solidFill>
                  <a:srgbClr val="42679A"/>
                </a:solidFill>
              </a:defRPr>
            </a:lvl8pPr>
            <a:lvl9pPr algn="ctr">
              <a:buNone/>
              <a:defRPr sz="1275" b="1">
                <a:solidFill>
                  <a:srgbClr val="42679A"/>
                </a:solidFill>
              </a:defRPr>
            </a:lvl9pPr>
          </a:lstStyle>
          <a:p>
            <a:pPr algn="ctr">
              <a:buNone/>
              <a:defRPr sz="1275" b="1">
                <a:solidFill>
                  <a:srgbClr val="42679A"/>
                </a:solidFill>
              </a:defRPr>
            </a:pPr>
            <a:r>
              <a:rPr sz="1275" b="1">
                <a:solidFill>
                  <a:srgbClr val="42679A"/>
                </a:solidFill>
              </a:rPr>
              <a:t>No</a:t>
            </a:r>
            <a:endParaRPr sz="1275" b="1">
              <a:solidFill>
                <a:srgbClr val="42679A"/>
              </a:solidFill>
            </a:endParaRPr>
          </a:p>
        </p:txBody>
      </p:sp>
    </p:spTree>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anchor="ctr"/>
          <a:lstStyle/>
          <a:p>
            <a:pPr marL="0" indent="0" algn="l">
              <a:buNone/>
            </a:pPr>
            <a:r>
              <a:rPr sz="3200" b="1">
                <a:solidFill>
                  <a:schemeClr val="tx2"/>
                </a:solidFill>
              </a:rPr>
              <a:t>Ensemble: 6,336-Parameter Voting</a:t>
            </a:r>
            <a:endParaRPr sz="3200"/>
          </a:p>
        </p:txBody>
      </p:sp>
      <p:sp>
        <p:nvSpPr>
          <p:cNvPr id="3" name="Shape 1"/>
          <p:cNvSpPr>
            <a:spLocks noGrp="1"/>
          </p:cNvSpPr>
          <p:nvPr/>
        </p:nvSpPr>
        <p:spPr>
          <a:xfrm>
            <a:off x="457200" y="1371600"/>
            <a:ext cx="1828800" cy="2468880"/>
          </a:xfrm>
          <a:prstGeom prst="roundRect">
            <a:avLst>
              <a:gd name="adj" fmla="val 4000"/>
            </a:avLst>
          </a:prstGeom>
          <a:solidFill>
            <a:schemeClr val="bg2"/>
          </a:solidFill>
          <a:ln w="12700">
            <a:solidFill>
              <a:schemeClr val="bg2"/>
            </a:solidFill>
            <a:prstDash val="solid"/>
          </a:ln>
        </p:spPr>
      </p:sp>
      <p:sp>
        <p:nvSpPr>
          <p:cNvPr id="4" name="Shape 2"/>
          <p:cNvSpPr>
            <a:spLocks noGrp="1"/>
          </p:cNvSpPr>
          <p:nvPr/>
        </p:nvSpPr>
        <p:spPr>
          <a:xfrm>
            <a:off x="1097280" y="1554480"/>
            <a:ext cx="548640" cy="548640"/>
          </a:xfrm>
          <a:prstGeom prst="ellipse">
            <a:avLst/>
          </a:prstGeom>
          <a:solidFill>
            <a:schemeClr val="accent2"/>
          </a:solidFill>
          <a:ln w="12700">
            <a:solidFill>
              <a:schemeClr val="accent2"/>
            </a:solidFill>
            <a:prstDash val="solid"/>
          </a:ln>
        </p:spPr>
      </p:sp>
      <p:sp>
        <p:nvSpPr>
          <p:cNvPr id="5" name="Text 3"/>
          <p:cNvSpPr>
            <a:spLocks noGrp="1"/>
          </p:cNvSpPr>
          <p:nvPr/>
        </p:nvSpPr>
        <p:spPr>
          <a:xfrm>
            <a:off x="1097280" y="1554480"/>
            <a:ext cx="548640" cy="548640"/>
          </a:xfrm>
          <a:prstGeom prst="rect">
            <a:avLst/>
          </a:prstGeom>
          <a:noFill/>
        </p:spPr>
        <p:txBody>
          <a:bodyPr wrap="square" lIns="0" tIns="0" rIns="0" bIns="0" anchor="ctr"/>
          <a:lstStyle/>
          <a:p>
            <a:pPr marL="0" indent="0" algn="ctr">
              <a:buNone/>
            </a:pPr>
            <a:r>
              <a:rPr sz="1800" b="1">
                <a:solidFill>
                  <a:schemeClr val="bg1"/>
                </a:solidFill>
              </a:rPr>
              <a:t>1</a:t>
            </a:r>
            <a:endParaRPr sz="1800"/>
          </a:p>
        </p:txBody>
      </p:sp>
      <p:sp>
        <p:nvSpPr>
          <p:cNvPr id="6" name="Text 4"/>
          <p:cNvSpPr>
            <a:spLocks noGrp="1"/>
          </p:cNvSpPr>
          <p:nvPr/>
        </p:nvSpPr>
        <p:spPr>
          <a:xfrm>
            <a:off x="457200" y="2240280"/>
            <a:ext cx="1828800" cy="457200"/>
          </a:xfrm>
          <a:prstGeom prst="rect">
            <a:avLst/>
          </a:prstGeom>
          <a:noFill/>
        </p:spPr>
        <p:txBody>
          <a:bodyPr wrap="square" anchor="ctr"/>
          <a:lstStyle/>
          <a:p>
            <a:pPr marL="0" indent="0" algn="ctr">
              <a:buNone/>
            </a:pPr>
            <a:r>
              <a:rPr sz="1800" b="1">
                <a:solidFill>
                  <a:schemeClr val="tx2"/>
                </a:solidFill>
              </a:rPr>
              <a:t>Grid</a:t>
            </a:r>
            <a:endParaRPr sz="1800"/>
          </a:p>
        </p:txBody>
      </p:sp>
      <p:sp>
        <p:nvSpPr>
          <p:cNvPr id="7" name="Text 5"/>
          <p:cNvSpPr>
            <a:spLocks noGrp="1"/>
          </p:cNvSpPr>
          <p:nvPr/>
        </p:nvSpPr>
        <p:spPr>
          <a:xfrm>
            <a:off x="594360" y="2697480"/>
            <a:ext cx="1554480" cy="1005840"/>
          </a:xfrm>
          <a:prstGeom prst="rect">
            <a:avLst/>
          </a:prstGeom>
          <a:noFill/>
        </p:spPr>
        <p:txBody>
          <a:bodyPr wrap="square" anchor="t"/>
          <a:lstStyle/>
          <a:p>
            <a:pPr marL="0" indent="0" algn="ctr">
              <a:buNone/>
            </a:pPr>
            <a:r>
              <a:rPr sz="1300">
                <a:solidFill>
                  <a:schemeClr val="tx1"/>
                </a:solidFill>
              </a:rPr>
              <a:t>7 parameters, 3–4 values each: 6,912 combinations</a:t>
            </a:r>
            <a:endParaRPr sz="1300"/>
          </a:p>
        </p:txBody>
      </p:sp>
      <p:sp>
        <p:nvSpPr>
          <p:cNvPr id="8" name="Shape 6"/>
          <p:cNvSpPr>
            <a:spLocks noGrp="1"/>
          </p:cNvSpPr>
          <p:nvPr/>
        </p:nvSpPr>
        <p:spPr>
          <a:xfrm>
            <a:off x="2322576" y="2468880"/>
            <a:ext cx="182880" cy="274320"/>
          </a:xfrm>
          <a:prstGeom prst="rtTriangle">
            <a:avLst/>
          </a:prstGeom>
          <a:solidFill>
            <a:schemeClr val="accent1"/>
          </a:solidFill>
          <a:ln w="12700">
            <a:solidFill>
              <a:schemeClr val="accent1"/>
            </a:solidFill>
            <a:prstDash val="solid"/>
          </a:ln>
        </p:spPr>
      </p:sp>
      <p:sp>
        <p:nvSpPr>
          <p:cNvPr id="9" name="Shape 7"/>
          <p:cNvSpPr>
            <a:spLocks noGrp="1"/>
          </p:cNvSpPr>
          <p:nvPr/>
        </p:nvSpPr>
        <p:spPr>
          <a:xfrm>
            <a:off x="2560320" y="1371600"/>
            <a:ext cx="1828800" cy="2468880"/>
          </a:xfrm>
          <a:prstGeom prst="roundRect">
            <a:avLst>
              <a:gd name="adj" fmla="val 4000"/>
            </a:avLst>
          </a:prstGeom>
          <a:solidFill>
            <a:schemeClr val="bg2"/>
          </a:solidFill>
          <a:ln w="12700">
            <a:solidFill>
              <a:schemeClr val="bg2"/>
            </a:solidFill>
            <a:prstDash val="solid"/>
          </a:ln>
        </p:spPr>
      </p:sp>
      <p:sp>
        <p:nvSpPr>
          <p:cNvPr id="10" name="Shape 8"/>
          <p:cNvSpPr>
            <a:spLocks noGrp="1"/>
          </p:cNvSpPr>
          <p:nvPr/>
        </p:nvSpPr>
        <p:spPr>
          <a:xfrm>
            <a:off x="3200400" y="1554480"/>
            <a:ext cx="548640" cy="548640"/>
          </a:xfrm>
          <a:prstGeom prst="ellipse">
            <a:avLst/>
          </a:prstGeom>
          <a:solidFill>
            <a:schemeClr val="accent2"/>
          </a:solidFill>
          <a:ln w="12700">
            <a:solidFill>
              <a:schemeClr val="accent2"/>
            </a:solidFill>
            <a:prstDash val="solid"/>
          </a:ln>
        </p:spPr>
      </p:sp>
      <p:sp>
        <p:nvSpPr>
          <p:cNvPr id="11" name="Text 9"/>
          <p:cNvSpPr>
            <a:spLocks noGrp="1"/>
          </p:cNvSpPr>
          <p:nvPr/>
        </p:nvSpPr>
        <p:spPr>
          <a:xfrm>
            <a:off x="3200400" y="1554480"/>
            <a:ext cx="548640" cy="548640"/>
          </a:xfrm>
          <a:prstGeom prst="rect">
            <a:avLst/>
          </a:prstGeom>
          <a:noFill/>
        </p:spPr>
        <p:txBody>
          <a:bodyPr wrap="square" lIns="0" tIns="0" rIns="0" bIns="0" anchor="ctr"/>
          <a:lstStyle/>
          <a:p>
            <a:pPr marL="0" indent="0" algn="ctr">
              <a:buNone/>
            </a:pPr>
            <a:r>
              <a:rPr sz="1800" b="1">
                <a:solidFill>
                  <a:schemeClr val="bg1"/>
                </a:solidFill>
              </a:rPr>
              <a:t>2</a:t>
            </a:r>
            <a:endParaRPr sz="1800"/>
          </a:p>
        </p:txBody>
      </p:sp>
      <p:sp>
        <p:nvSpPr>
          <p:cNvPr id="12" name="Text 10"/>
          <p:cNvSpPr>
            <a:spLocks noGrp="1"/>
          </p:cNvSpPr>
          <p:nvPr/>
        </p:nvSpPr>
        <p:spPr>
          <a:xfrm>
            <a:off x="2560320" y="2240280"/>
            <a:ext cx="1828800" cy="457200"/>
          </a:xfrm>
          <a:prstGeom prst="rect">
            <a:avLst/>
          </a:prstGeom>
          <a:noFill/>
        </p:spPr>
        <p:txBody>
          <a:bodyPr wrap="square" anchor="ctr"/>
          <a:lstStyle/>
          <a:p>
            <a:pPr marL="0" indent="0" algn="ctr">
              <a:buNone/>
            </a:pPr>
            <a:r>
              <a:rPr sz="1800" b="1">
                <a:solidFill>
                  <a:schemeClr val="tx2"/>
                </a:solidFill>
              </a:rPr>
              <a:t>Filter</a:t>
            </a:r>
            <a:endParaRPr sz="1800"/>
          </a:p>
        </p:txBody>
      </p:sp>
      <p:sp>
        <p:nvSpPr>
          <p:cNvPr id="13" name="Text 11"/>
          <p:cNvSpPr>
            <a:spLocks noGrp="1"/>
          </p:cNvSpPr>
          <p:nvPr/>
        </p:nvSpPr>
        <p:spPr>
          <a:xfrm>
            <a:off x="2697480" y="2697480"/>
            <a:ext cx="1554480" cy="1005840"/>
          </a:xfrm>
          <a:prstGeom prst="rect">
            <a:avLst/>
          </a:prstGeom>
          <a:noFill/>
        </p:spPr>
        <p:txBody>
          <a:bodyPr wrap="square" anchor="t"/>
          <a:lstStyle/>
          <a:p>
            <a:pPr marL="0" indent="0" algn="ctr">
              <a:buNone/>
            </a:pPr>
            <a:r>
              <a:rPr sz="1300">
                <a:solidFill>
                  <a:schemeClr val="tx1"/>
                </a:solidFill>
              </a:rPr>
              <a:t>Keep UVXY extreme &gt; fear: 6,336 valid sets</a:t>
            </a:r>
            <a:endParaRPr sz="1300"/>
          </a:p>
        </p:txBody>
      </p:sp>
      <p:sp>
        <p:nvSpPr>
          <p:cNvPr id="14" name="Shape 12"/>
          <p:cNvSpPr>
            <a:spLocks noGrp="1"/>
          </p:cNvSpPr>
          <p:nvPr/>
        </p:nvSpPr>
        <p:spPr>
          <a:xfrm>
            <a:off x="4425696" y="2468880"/>
            <a:ext cx="182880" cy="274320"/>
          </a:xfrm>
          <a:prstGeom prst="rtTriangle">
            <a:avLst/>
          </a:prstGeom>
          <a:solidFill>
            <a:schemeClr val="accent1"/>
          </a:solidFill>
          <a:ln w="12700">
            <a:solidFill>
              <a:schemeClr val="accent1"/>
            </a:solidFill>
            <a:prstDash val="solid"/>
          </a:ln>
        </p:spPr>
      </p:sp>
      <p:sp>
        <p:nvSpPr>
          <p:cNvPr id="15" name="Shape 13"/>
          <p:cNvSpPr>
            <a:spLocks noGrp="1"/>
          </p:cNvSpPr>
          <p:nvPr/>
        </p:nvSpPr>
        <p:spPr>
          <a:xfrm>
            <a:off x="4663440" y="1371600"/>
            <a:ext cx="1828800" cy="2468880"/>
          </a:xfrm>
          <a:prstGeom prst="roundRect">
            <a:avLst>
              <a:gd name="adj" fmla="val 4000"/>
            </a:avLst>
          </a:prstGeom>
          <a:solidFill>
            <a:schemeClr val="bg2"/>
          </a:solidFill>
          <a:ln w="12700">
            <a:solidFill>
              <a:schemeClr val="bg2"/>
            </a:solidFill>
            <a:prstDash val="solid"/>
          </a:ln>
        </p:spPr>
      </p:sp>
      <p:sp>
        <p:nvSpPr>
          <p:cNvPr id="16" name="Shape 14"/>
          <p:cNvSpPr>
            <a:spLocks noGrp="1"/>
          </p:cNvSpPr>
          <p:nvPr/>
        </p:nvSpPr>
        <p:spPr>
          <a:xfrm>
            <a:off x="5303520" y="1554480"/>
            <a:ext cx="548640" cy="548640"/>
          </a:xfrm>
          <a:prstGeom prst="ellipse">
            <a:avLst/>
          </a:prstGeom>
          <a:solidFill>
            <a:schemeClr val="accent2"/>
          </a:solidFill>
          <a:ln w="12700">
            <a:solidFill>
              <a:schemeClr val="accent2"/>
            </a:solidFill>
            <a:prstDash val="solid"/>
          </a:ln>
        </p:spPr>
      </p:sp>
      <p:sp>
        <p:nvSpPr>
          <p:cNvPr id="17" name="Text 15"/>
          <p:cNvSpPr>
            <a:spLocks noGrp="1"/>
          </p:cNvSpPr>
          <p:nvPr/>
        </p:nvSpPr>
        <p:spPr>
          <a:xfrm>
            <a:off x="5303520" y="1554480"/>
            <a:ext cx="548640" cy="548640"/>
          </a:xfrm>
          <a:prstGeom prst="rect">
            <a:avLst/>
          </a:prstGeom>
          <a:noFill/>
        </p:spPr>
        <p:txBody>
          <a:bodyPr wrap="square" lIns="0" tIns="0" rIns="0" bIns="0" anchor="ctr"/>
          <a:lstStyle/>
          <a:p>
            <a:pPr marL="0" indent="0" algn="ctr">
              <a:buNone/>
            </a:pPr>
            <a:r>
              <a:rPr sz="1800" b="1">
                <a:solidFill>
                  <a:schemeClr val="bg1"/>
                </a:solidFill>
              </a:rPr>
              <a:t>3</a:t>
            </a:r>
            <a:endParaRPr sz="1800"/>
          </a:p>
        </p:txBody>
      </p:sp>
      <p:sp>
        <p:nvSpPr>
          <p:cNvPr id="18" name="Text 16"/>
          <p:cNvSpPr>
            <a:spLocks noGrp="1"/>
          </p:cNvSpPr>
          <p:nvPr/>
        </p:nvSpPr>
        <p:spPr>
          <a:xfrm>
            <a:off x="4663440" y="2240280"/>
            <a:ext cx="1828800" cy="457200"/>
          </a:xfrm>
          <a:prstGeom prst="rect">
            <a:avLst/>
          </a:prstGeom>
          <a:noFill/>
        </p:spPr>
        <p:txBody>
          <a:bodyPr wrap="square" anchor="ctr"/>
          <a:lstStyle/>
          <a:p>
            <a:pPr marL="0" indent="0" algn="ctr">
              <a:buNone/>
            </a:pPr>
            <a:r>
              <a:rPr sz="1800" b="1">
                <a:solidFill>
                  <a:schemeClr val="tx2"/>
                </a:solidFill>
              </a:rPr>
              <a:t>Vote</a:t>
            </a:r>
            <a:endParaRPr sz="1800"/>
          </a:p>
        </p:txBody>
      </p:sp>
      <p:sp>
        <p:nvSpPr>
          <p:cNvPr id="19" name="Text 17"/>
          <p:cNvSpPr>
            <a:spLocks noGrp="1"/>
          </p:cNvSpPr>
          <p:nvPr/>
        </p:nvSpPr>
        <p:spPr>
          <a:xfrm>
            <a:off x="4800600" y="2697480"/>
            <a:ext cx="1554480" cy="1005840"/>
          </a:xfrm>
          <a:prstGeom prst="rect">
            <a:avLst/>
          </a:prstGeom>
          <a:noFill/>
        </p:spPr>
        <p:txBody>
          <a:bodyPr wrap="square" anchor="t"/>
          <a:lstStyle/>
          <a:p>
            <a:pPr marL="0" indent="0" algn="ctr">
              <a:buNone/>
            </a:pPr>
            <a:r>
              <a:rPr sz="1300">
                <a:solidFill>
                  <a:schemeClr val="tx1"/>
                </a:solidFill>
              </a:rPr>
              <a:t>Each set picks one ETF; weight = votes / 6,336</a:t>
            </a:r>
            <a:endParaRPr sz="1300"/>
          </a:p>
        </p:txBody>
      </p:sp>
      <p:sp>
        <p:nvSpPr>
          <p:cNvPr id="20" name="Shape 18"/>
          <p:cNvSpPr>
            <a:spLocks noGrp="1"/>
          </p:cNvSpPr>
          <p:nvPr/>
        </p:nvSpPr>
        <p:spPr>
          <a:xfrm>
            <a:off x="6528816" y="2468880"/>
            <a:ext cx="182880" cy="274320"/>
          </a:xfrm>
          <a:prstGeom prst="rtTriangle">
            <a:avLst/>
          </a:prstGeom>
          <a:solidFill>
            <a:schemeClr val="accent1"/>
          </a:solidFill>
          <a:ln w="12700">
            <a:solidFill>
              <a:schemeClr val="accent1"/>
            </a:solidFill>
            <a:prstDash val="solid"/>
          </a:ln>
        </p:spPr>
      </p:sp>
      <p:sp>
        <p:nvSpPr>
          <p:cNvPr id="21" name="Shape 19"/>
          <p:cNvSpPr>
            <a:spLocks noGrp="1"/>
          </p:cNvSpPr>
          <p:nvPr/>
        </p:nvSpPr>
        <p:spPr>
          <a:xfrm>
            <a:off x="6766560" y="1371600"/>
            <a:ext cx="1828800" cy="2468880"/>
          </a:xfrm>
          <a:prstGeom prst="roundRect">
            <a:avLst>
              <a:gd name="adj" fmla="val 4000"/>
            </a:avLst>
          </a:prstGeom>
          <a:solidFill>
            <a:schemeClr val="bg2"/>
          </a:solidFill>
          <a:ln w="12700">
            <a:solidFill>
              <a:schemeClr val="bg2"/>
            </a:solidFill>
            <a:prstDash val="solid"/>
          </a:ln>
        </p:spPr>
      </p:sp>
      <p:sp>
        <p:nvSpPr>
          <p:cNvPr id="22" name="Shape 20"/>
          <p:cNvSpPr>
            <a:spLocks noGrp="1"/>
          </p:cNvSpPr>
          <p:nvPr/>
        </p:nvSpPr>
        <p:spPr>
          <a:xfrm>
            <a:off x="7406640" y="1554480"/>
            <a:ext cx="548640" cy="548640"/>
          </a:xfrm>
          <a:prstGeom prst="ellipse">
            <a:avLst/>
          </a:prstGeom>
          <a:solidFill>
            <a:schemeClr val="accent2"/>
          </a:solidFill>
          <a:ln w="12700">
            <a:solidFill>
              <a:schemeClr val="accent2"/>
            </a:solidFill>
            <a:prstDash val="solid"/>
          </a:ln>
        </p:spPr>
      </p:sp>
      <p:sp>
        <p:nvSpPr>
          <p:cNvPr id="23" name="Text 21"/>
          <p:cNvSpPr>
            <a:spLocks noGrp="1"/>
          </p:cNvSpPr>
          <p:nvPr/>
        </p:nvSpPr>
        <p:spPr>
          <a:xfrm>
            <a:off x="7406640" y="1554480"/>
            <a:ext cx="548640" cy="548640"/>
          </a:xfrm>
          <a:prstGeom prst="rect">
            <a:avLst/>
          </a:prstGeom>
          <a:noFill/>
        </p:spPr>
        <p:txBody>
          <a:bodyPr wrap="square" lIns="0" tIns="0" rIns="0" bIns="0" anchor="ctr"/>
          <a:lstStyle/>
          <a:p>
            <a:pPr marL="0" indent="0" algn="ctr">
              <a:buNone/>
            </a:pPr>
            <a:r>
              <a:rPr sz="1800" b="1">
                <a:solidFill>
                  <a:schemeClr val="bg1"/>
                </a:solidFill>
              </a:rPr>
              <a:t>4</a:t>
            </a:r>
            <a:endParaRPr sz="1800"/>
          </a:p>
        </p:txBody>
      </p:sp>
      <p:sp>
        <p:nvSpPr>
          <p:cNvPr id="24" name="Text 22"/>
          <p:cNvSpPr>
            <a:spLocks noGrp="1"/>
          </p:cNvSpPr>
          <p:nvPr/>
        </p:nvSpPr>
        <p:spPr>
          <a:xfrm>
            <a:off x="6766560" y="2240280"/>
            <a:ext cx="1828800" cy="457200"/>
          </a:xfrm>
          <a:prstGeom prst="rect">
            <a:avLst/>
          </a:prstGeom>
          <a:noFill/>
        </p:spPr>
        <p:txBody>
          <a:bodyPr wrap="square" anchor="ctr"/>
          <a:lstStyle/>
          <a:p>
            <a:pPr marL="0" indent="0" algn="ctr">
              <a:buNone/>
            </a:pPr>
            <a:r>
              <a:rPr sz="1800" b="1">
                <a:solidFill>
                  <a:schemeClr val="tx2"/>
                </a:solidFill>
              </a:rPr>
              <a:t>Execute</a:t>
            </a:r>
            <a:endParaRPr sz="1800"/>
          </a:p>
        </p:txBody>
      </p:sp>
      <p:sp>
        <p:nvSpPr>
          <p:cNvPr id="25" name="Text 23"/>
          <p:cNvSpPr>
            <a:spLocks noGrp="1"/>
          </p:cNvSpPr>
          <p:nvPr/>
        </p:nvSpPr>
        <p:spPr>
          <a:xfrm>
            <a:off x="6903720" y="2697480"/>
            <a:ext cx="1554480" cy="1005840"/>
          </a:xfrm>
          <a:prstGeom prst="rect">
            <a:avLst/>
          </a:prstGeom>
          <a:noFill/>
        </p:spPr>
        <p:txBody>
          <a:bodyPr wrap="square" anchor="t"/>
          <a:lstStyle/>
          <a:p>
            <a:pPr marL="0" indent="0" algn="ctr">
              <a:buNone/>
            </a:pPr>
            <a:r>
              <a:rPr sz="1300">
                <a:solidFill>
                  <a:schemeClr val="tx1"/>
                </a:solidFill>
              </a:rPr>
              <a:t>Signal at close T, trade at open T+1, after costs</a:t>
            </a:r>
            <a:endParaRPr sz="1300"/>
          </a:p>
        </p:txBody>
      </p:sp>
      <p:sp>
        <p:nvSpPr>
          <p:cNvPr id="26" name="Text 24"/>
          <p:cNvSpPr>
            <a:spLocks noGrp="1"/>
          </p:cNvSpPr>
          <p:nvPr/>
        </p:nvSpPr>
        <p:spPr>
          <a:xfrm>
            <a:off x="457200" y="3977639"/>
            <a:ext cx="8229600" cy="731520"/>
          </a:xfrm>
          <a:prstGeom prst="rect">
            <a:avLst/>
          </a:prstGeom>
          <a:noFill/>
        </p:spPr>
        <p:txBody>
          <a:bodyPr wrap="square" anchor="ctr"/>
          <a:lstStyle/>
          <a:p>
            <a:pPr marL="0" indent="0">
              <a:buNone/>
            </a:pPr>
            <a:r>
              <a:rPr sz="1400" b="1">
                <a:solidFill>
                  <a:schemeClr val="tx1"/>
                </a:solidFill>
              </a:rPr>
              <a:t>Grid: </a:t>
            </a:r>
            <a:r>
              <a:rPr sz="1400">
                <a:solidFill>
                  <a:schemeClr val="tx1"/>
                </a:solidFill>
              </a:rPr>
              <a:t>RSI window 7 / 10 / 14 · SPY SMA 100 / 120 / 150 / 200 · overheat 70 / 75 / 80 / 85 · oversold 20 / 25 / 30 / 35 · UVXY fear 64 / 70 / 74 / 80 · UVXY extreme 80 / 84 / 88 · SQQQ line 30 / 34 / 38</a:t>
            </a:r>
            <a:endParaRPr sz="1400"/>
          </a:p>
        </p:txBody>
      </p:sp>
      <p:sp>
        <p:nvSpPr>
          <p:cNvPr id="27" name="Takeaway"/>
          <p:cNvSpPr>
            <a:spLocks noGrp="1"/>
          </p:cNvSpPr>
          <p:nvPr/>
        </p:nvSpPr>
        <p:spPr>
          <a:xfrm>
            <a:off x="457200" y="4846320"/>
            <a:ext cx="8229600" cy="1325880"/>
          </a:xfrm>
          <a:prstGeom prst="rect">
            <a:avLst/>
          </a:prstGeom>
          <a:noFill/>
        </p:spPr>
        <p:txBody>
          <a:bodyPr wrap="square" anchor="ctr"/>
          <a:lstStyle>
            <a:lvl1pPr algn="l">
              <a:buNone/>
              <a:defRPr sz="1275" b="0">
                <a:solidFill>
                  <a:srgbClr val="7A5CC2"/>
                </a:solidFill>
              </a:defRPr>
            </a:lvl1pPr>
            <a:lvl2pPr algn="l">
              <a:buNone/>
              <a:defRPr sz="1275" b="0">
                <a:solidFill>
                  <a:srgbClr val="7A5CC2"/>
                </a:solidFill>
              </a:defRPr>
            </a:lvl2pPr>
            <a:lvl3pPr algn="l">
              <a:buNone/>
              <a:defRPr sz="1275" b="0">
                <a:solidFill>
                  <a:srgbClr val="7A5CC2"/>
                </a:solidFill>
              </a:defRPr>
            </a:lvl3pPr>
            <a:lvl4pPr algn="l">
              <a:buNone/>
              <a:defRPr sz="1275" b="0">
                <a:solidFill>
                  <a:srgbClr val="7A5CC2"/>
                </a:solidFill>
              </a:defRPr>
            </a:lvl4pPr>
            <a:lvl5pPr algn="l">
              <a:buNone/>
              <a:defRPr sz="1275" b="0">
                <a:solidFill>
                  <a:srgbClr val="7A5CC2"/>
                </a:solidFill>
              </a:defRPr>
            </a:lvl5pPr>
            <a:lvl6pPr algn="l">
              <a:buNone/>
              <a:defRPr sz="1275" b="0">
                <a:solidFill>
                  <a:srgbClr val="7A5CC2"/>
                </a:solidFill>
              </a:defRPr>
            </a:lvl6pPr>
            <a:lvl7pPr algn="l">
              <a:buNone/>
              <a:defRPr sz="1275" b="0">
                <a:solidFill>
                  <a:srgbClr val="7A5CC2"/>
                </a:solidFill>
              </a:defRPr>
            </a:lvl7pPr>
            <a:lvl8pPr algn="l">
              <a:buNone/>
              <a:defRPr sz="1275" b="0">
                <a:solidFill>
                  <a:srgbClr val="7A5CC2"/>
                </a:solidFill>
              </a:defRPr>
            </a:lvl8pPr>
            <a:lvl9pPr algn="l">
              <a:buNone/>
              <a:defRPr sz="1275" b="0">
                <a:solidFill>
                  <a:srgbClr val="7A5CC2"/>
                </a:solidFill>
              </a:defRPr>
            </a:lvl9pPr>
          </a:lstStyle>
          <a:p>
            <a:pPr marL="0" indent="0" algn="l">
              <a:buNone/>
              <a:defRPr sz="1275" b="0">
                <a:solidFill>
                  <a:srgbClr val="7A5CC2"/>
                </a:solidFill>
              </a:defRPr>
            </a:pPr>
            <a:r>
              <a:rPr sz="1275" b="0" i="1">
                <a:solidFill>
                  <a:srgbClr val="7A5CC2"/>
                </a:solidFill>
                <a:latin typeface="Arial" panose="020B0604020202020204"/>
                <a:ea typeface="Arial" panose="020B0604020202020204"/>
                <a:cs typeface="Arial" panose="020B0604020202020204"/>
              </a:rPr>
              <a:t>RSI and trend-filter background: Wilder (1978), Brock et al. (1992), and Faber (2007). UVXY / SQQQ thresholds come from the original code. Equal voting reduces dependence on one setting</a:t>
            </a:r>
            <a:r>
              <a:rPr lang="en-US" sz="1275" b="0" i="1">
                <a:solidFill>
                  <a:srgbClr val="7A5CC2"/>
                </a:solidFill>
                <a:latin typeface="Arial" panose="020B0604020202020204"/>
                <a:ea typeface="Arial" panose="020B0604020202020204"/>
                <a:cs typeface="Arial" panose="020B0604020202020204"/>
              </a:rPr>
              <a:t>.</a:t>
            </a:r>
            <a:endParaRPr lang="en-US" sz="1275" b="0" i="1">
              <a:solidFill>
                <a:srgbClr val="7A5CC2"/>
              </a:solidFill>
              <a:latin typeface="Arial" panose="020B0604020202020204"/>
              <a:ea typeface="Arial" panose="020B0604020202020204"/>
              <a:cs typeface="Arial" panose="020B0604020202020204"/>
            </a:endParaRPr>
          </a:p>
        </p:txBody>
      </p:sp>
    </p:spTree>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9" name="矩形 18"/>
          <p:cNvSpPr>
            <a:spLocks noGrp="1"/>
          </p:cNvSpPr>
          <p:nvPr/>
        </p:nvSpPr>
        <p:spPr>
          <a:xfrm>
            <a:off x="409575" y="323850"/>
            <a:ext cx="8286750" cy="723900"/>
          </a:xfrm>
          <a:prstGeom prst="rect">
            <a:avLst/>
          </a:prstGeom>
          <a:noFill/>
          <a:ln w="0">
            <a:noFill/>
          </a:ln>
        </p:spPr>
        <p:txBody>
          <a:bodyPr anchor="ctr"/>
          <a:lstStyle>
            <a:lvl1pPr>
              <a:buNone/>
              <a:defRPr sz="2925" b="1">
                <a:solidFill>
                  <a:srgbClr val="0A2A8C"/>
                </a:solidFill>
              </a:defRPr>
            </a:lvl1pPr>
            <a:lvl2pPr>
              <a:buNone/>
              <a:defRPr sz="2925" b="1">
                <a:solidFill>
                  <a:srgbClr val="0A2A8C"/>
                </a:solidFill>
              </a:defRPr>
            </a:lvl2pPr>
            <a:lvl3pPr>
              <a:buNone/>
              <a:defRPr sz="2925" b="1">
                <a:solidFill>
                  <a:srgbClr val="0A2A8C"/>
                </a:solidFill>
              </a:defRPr>
            </a:lvl3pPr>
            <a:lvl4pPr>
              <a:buNone/>
              <a:defRPr sz="2925" b="1">
                <a:solidFill>
                  <a:srgbClr val="0A2A8C"/>
                </a:solidFill>
              </a:defRPr>
            </a:lvl4pPr>
            <a:lvl5pPr>
              <a:buNone/>
              <a:defRPr sz="2925" b="1">
                <a:solidFill>
                  <a:srgbClr val="0A2A8C"/>
                </a:solidFill>
              </a:defRPr>
            </a:lvl5pPr>
            <a:lvl6pPr>
              <a:buNone/>
              <a:defRPr sz="2925" b="1">
                <a:solidFill>
                  <a:srgbClr val="0A2A8C"/>
                </a:solidFill>
              </a:defRPr>
            </a:lvl6pPr>
            <a:lvl7pPr>
              <a:buNone/>
              <a:defRPr sz="2925" b="1">
                <a:solidFill>
                  <a:srgbClr val="0A2A8C"/>
                </a:solidFill>
              </a:defRPr>
            </a:lvl7pPr>
            <a:lvl8pPr>
              <a:buNone/>
              <a:defRPr sz="2925" b="1">
                <a:solidFill>
                  <a:srgbClr val="0A2A8C"/>
                </a:solidFill>
              </a:defRPr>
            </a:lvl8pPr>
            <a:lvl9pPr>
              <a:buNone/>
              <a:defRPr sz="2925" b="1">
                <a:solidFill>
                  <a:srgbClr val="0A2A8C"/>
                </a:solidFill>
              </a:defRPr>
            </a:lvl9pPr>
          </a:lstStyle>
          <a:p>
            <a:pPr>
              <a:buNone/>
              <a:defRPr sz="2925" b="1">
                <a:solidFill>
                  <a:srgbClr val="0A2A8C"/>
                </a:solidFill>
              </a:defRPr>
            </a:pPr>
            <a:r>
              <a:rPr sz="3200" b="1">
                <a:solidFill>
                  <a:srgbClr val="0A2A8C"/>
                </a:solidFill>
              </a:rPr>
              <a:t>CPI Overlay: Role &amp; Trigger Conditions</a:t>
            </a:r>
            <a:endParaRPr sz="3200" b="1">
              <a:solidFill>
                <a:srgbClr val="0A2A8C"/>
              </a:solidFill>
            </a:endParaRPr>
          </a:p>
        </p:txBody>
      </p:sp>
      <p:sp>
        <p:nvSpPr>
          <p:cNvPr id="2" name="矩形 1"/>
          <p:cNvSpPr>
            <a:spLocks noGrp="1"/>
          </p:cNvSpPr>
          <p:nvPr/>
        </p:nvSpPr>
        <p:spPr>
          <a:xfrm>
            <a:off x="8515350" y="190500"/>
            <a:ext cx="333375" cy="238125"/>
          </a:xfrm>
          <a:prstGeom prst="rect">
            <a:avLst/>
          </a:prstGeom>
          <a:noFill/>
          <a:ln w="0">
            <a:noFill/>
          </a:ln>
        </p:spPr>
        <p:txBody>
          <a:bodyPr anchor="ctr"/>
          <a:lstStyle>
            <a:lvl1pPr>
              <a:buNone/>
              <a:defRPr sz="1050" b="0">
                <a:solidFill>
                  <a:srgbClr val="1F1F1F"/>
                </a:solidFill>
              </a:defRPr>
            </a:lvl1pPr>
            <a:lvl2pPr>
              <a:buNone/>
              <a:defRPr sz="1050" b="0">
                <a:solidFill>
                  <a:srgbClr val="1F1F1F"/>
                </a:solidFill>
              </a:defRPr>
            </a:lvl2pPr>
            <a:lvl3pPr>
              <a:buNone/>
              <a:defRPr sz="1050" b="0">
                <a:solidFill>
                  <a:srgbClr val="1F1F1F"/>
                </a:solidFill>
              </a:defRPr>
            </a:lvl3pPr>
            <a:lvl4pPr>
              <a:buNone/>
              <a:defRPr sz="1050" b="0">
                <a:solidFill>
                  <a:srgbClr val="1F1F1F"/>
                </a:solidFill>
              </a:defRPr>
            </a:lvl4pPr>
            <a:lvl5pPr>
              <a:buNone/>
              <a:defRPr sz="1050" b="0">
                <a:solidFill>
                  <a:srgbClr val="1F1F1F"/>
                </a:solidFill>
              </a:defRPr>
            </a:lvl5pPr>
            <a:lvl6pPr>
              <a:buNone/>
              <a:defRPr sz="1050" b="0">
                <a:solidFill>
                  <a:srgbClr val="1F1F1F"/>
                </a:solidFill>
              </a:defRPr>
            </a:lvl6pPr>
            <a:lvl7pPr>
              <a:buNone/>
              <a:defRPr sz="1050" b="0">
                <a:solidFill>
                  <a:srgbClr val="1F1F1F"/>
                </a:solidFill>
              </a:defRPr>
            </a:lvl7pPr>
            <a:lvl8pPr>
              <a:buNone/>
              <a:defRPr sz="1050" b="0">
                <a:solidFill>
                  <a:srgbClr val="1F1F1F"/>
                </a:solidFill>
              </a:defRPr>
            </a:lvl8pPr>
            <a:lvl9pPr>
              <a:buNone/>
              <a:defRPr sz="1050" b="0">
                <a:solidFill>
                  <a:srgbClr val="1F1F1F"/>
                </a:solidFill>
              </a:defRPr>
            </a:lvl9pPr>
          </a:lstStyle>
          <a:p>
            <a:pPr>
              <a:buNone/>
              <a:defRPr sz="1050" b="0">
                <a:solidFill>
                  <a:srgbClr val="1F1F1F"/>
                </a:solidFill>
              </a:defRPr>
            </a:pPr>
            <a:r>
              <a:rPr sz="1050" b="0">
                <a:solidFill>
                  <a:srgbClr val="1F1F1F"/>
                </a:solidFill>
              </a:rPr>
              <a:t>7</a:t>
            </a:r>
            <a:endParaRPr sz="1050" b="0">
              <a:solidFill>
                <a:srgbClr val="1F1F1F"/>
              </a:solidFill>
            </a:endParaRPr>
          </a:p>
        </p:txBody>
      </p:sp>
      <p:sp>
        <p:nvSpPr>
          <p:cNvPr id="3" name="矩形 2"/>
          <p:cNvSpPr>
            <a:spLocks noGrp="1"/>
          </p:cNvSpPr>
          <p:nvPr/>
        </p:nvSpPr>
        <p:spPr>
          <a:xfrm>
            <a:off x="0" y="6353175"/>
            <a:ext cx="9144000" cy="504825"/>
          </a:xfrm>
          <a:prstGeom prst="rect">
            <a:avLst/>
          </a:prstGeom>
          <a:solidFill>
            <a:srgbClr val="376A9F"/>
          </a:solidFill>
          <a:ln w="0">
            <a:noFill/>
          </a:ln>
        </p:spPr>
      </p:sp>
      <p:sp>
        <p:nvSpPr>
          <p:cNvPr id="4" name="矩形 3"/>
          <p:cNvSpPr>
            <a:spLocks noGrp="1"/>
          </p:cNvSpPr>
          <p:nvPr/>
        </p:nvSpPr>
        <p:spPr>
          <a:xfrm>
            <a:off x="209550" y="6496050"/>
            <a:ext cx="8096250" cy="238125"/>
          </a:xfrm>
          <a:prstGeom prst="rect">
            <a:avLst/>
          </a:prstGeom>
          <a:noFill/>
          <a:ln w="0">
            <a:noFill/>
          </a:ln>
        </p:spPr>
        <p:txBody>
          <a:bodyPr anchor="ctr"/>
          <a:lstStyle>
            <a:lvl1pPr>
              <a:buNone/>
              <a:defRPr sz="1200" b="1">
                <a:solidFill>
                  <a:srgbClr val="FF9200"/>
                </a:solidFill>
              </a:defRPr>
            </a:lvl1pPr>
            <a:lvl2pPr>
              <a:buNone/>
              <a:defRPr sz="1200" b="1">
                <a:solidFill>
                  <a:srgbClr val="FF9200"/>
                </a:solidFill>
              </a:defRPr>
            </a:lvl2pPr>
            <a:lvl3pPr>
              <a:buNone/>
              <a:defRPr sz="1200" b="1">
                <a:solidFill>
                  <a:srgbClr val="FF9200"/>
                </a:solidFill>
              </a:defRPr>
            </a:lvl3pPr>
            <a:lvl4pPr>
              <a:buNone/>
              <a:defRPr sz="1200" b="1">
                <a:solidFill>
                  <a:srgbClr val="FF9200"/>
                </a:solidFill>
              </a:defRPr>
            </a:lvl4pPr>
            <a:lvl5pPr>
              <a:buNone/>
              <a:defRPr sz="1200" b="1">
                <a:solidFill>
                  <a:srgbClr val="FF9200"/>
                </a:solidFill>
              </a:defRPr>
            </a:lvl5pPr>
            <a:lvl6pPr>
              <a:buNone/>
              <a:defRPr sz="1200" b="1">
                <a:solidFill>
                  <a:srgbClr val="FF9200"/>
                </a:solidFill>
              </a:defRPr>
            </a:lvl6pPr>
            <a:lvl7pPr>
              <a:buNone/>
              <a:defRPr sz="1200" b="1">
                <a:solidFill>
                  <a:srgbClr val="FF9200"/>
                </a:solidFill>
              </a:defRPr>
            </a:lvl7pPr>
            <a:lvl8pPr>
              <a:buNone/>
              <a:defRPr sz="1200" b="1">
                <a:solidFill>
                  <a:srgbClr val="FF9200"/>
                </a:solidFill>
              </a:defRPr>
            </a:lvl8pPr>
            <a:lvl9pPr>
              <a:buNone/>
              <a:defRPr sz="1200" b="1">
                <a:solidFill>
                  <a:srgbClr val="FF9200"/>
                </a:solidFill>
              </a:defRPr>
            </a:lvl9pPr>
          </a:lstStyle>
          <a:p>
            <a:pPr>
              <a:buNone/>
              <a:defRPr sz="1200" b="1">
                <a:solidFill>
                  <a:srgbClr val="FF9200"/>
                </a:solidFill>
              </a:defRPr>
            </a:pPr>
            <a:r>
              <a:rPr sz="1200" b="1">
                <a:solidFill>
                  <a:srgbClr val="FF9200"/>
                </a:solidFill>
              </a:rPr>
              <a:t>ReReRe · FE5209 Financial Econometrics</a:t>
            </a:r>
            <a:endParaRPr sz="1200" b="1">
              <a:solidFill>
                <a:srgbClr val="FF9200"/>
              </a:solidFill>
            </a:endParaRPr>
          </a:p>
        </p:txBody>
      </p:sp>
      <p:sp>
        <p:nvSpPr>
          <p:cNvPr id="5" name="矩形 4"/>
          <p:cNvSpPr>
            <a:spLocks noGrp="1"/>
          </p:cNvSpPr>
          <p:nvPr/>
        </p:nvSpPr>
        <p:spPr>
          <a:xfrm>
            <a:off x="457200" y="1143000"/>
            <a:ext cx="8229600" cy="352425"/>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Role: a short-term event adjustment to US V2</a:t>
            </a:r>
            <a:endParaRPr sz="1875" b="1">
              <a:solidFill>
                <a:srgbClr val="0A2A8C"/>
              </a:solidFill>
            </a:endParaRPr>
          </a:p>
        </p:txBody>
      </p:sp>
      <p:sp>
        <p:nvSpPr>
          <p:cNvPr id="6" name="矩形 5"/>
          <p:cNvSpPr>
            <a:spLocks noGrp="1"/>
          </p:cNvSpPr>
          <p:nvPr/>
        </p:nvSpPr>
        <p:spPr>
          <a:xfrm>
            <a:off x="457200" y="1552575"/>
            <a:ext cx="8229600" cy="647700"/>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Temporarily replace TQQQ with UVXY to address post-CPI market stress.</a:t>
            </a:r>
            <a:endParaRPr sz="1650" b="0">
              <a:solidFill>
                <a:srgbClr val="1F1F1F"/>
              </a:solidFill>
            </a:endParaRPr>
          </a:p>
          <a:p>
            <a:pPr>
              <a:buNone/>
              <a:defRPr sz="1650" b="0">
                <a:solidFill>
                  <a:srgbClr val="1F1F1F"/>
                </a:solidFill>
              </a:defRPr>
            </a:pPr>
            <a:r>
              <a:rPr sz="1650" b="0">
                <a:solidFill>
                  <a:srgbClr val="1F1F1F"/>
                </a:solidFill>
              </a:rPr>
              <a:t>Otherwise follow V2. Singapore allocation rules stay unchanged.</a:t>
            </a:r>
            <a:endParaRPr sz="1650" b="0">
              <a:solidFill>
                <a:srgbClr val="1F1F1F"/>
              </a:solidFill>
            </a:endParaRPr>
          </a:p>
        </p:txBody>
      </p:sp>
      <p:sp>
        <p:nvSpPr>
          <p:cNvPr id="7" name="矩形 6"/>
          <p:cNvSpPr>
            <a:spLocks noGrp="1"/>
          </p:cNvSpPr>
          <p:nvPr/>
        </p:nvSpPr>
        <p:spPr>
          <a:xfrm>
            <a:off x="457200" y="2305050"/>
            <a:ext cx="8229600" cy="333375"/>
          </a:xfrm>
          <a:prstGeom prst="rect">
            <a:avLst/>
          </a:prstGeom>
          <a:noFill/>
          <a:ln w="0">
            <a:noFill/>
          </a:ln>
        </p:spPr>
        <p:txBody>
          <a:bodyPr anchor="ctr"/>
          <a:lstStyle>
            <a:lvl1pPr>
              <a:buNone/>
              <a:defRPr sz="1725" b="1">
                <a:solidFill>
                  <a:srgbClr val="0A2A8C"/>
                </a:solidFill>
              </a:defRPr>
            </a:lvl1pPr>
            <a:lvl2pPr>
              <a:buNone/>
              <a:defRPr sz="1725" b="1">
                <a:solidFill>
                  <a:srgbClr val="0A2A8C"/>
                </a:solidFill>
              </a:defRPr>
            </a:lvl2pPr>
            <a:lvl3pPr>
              <a:buNone/>
              <a:defRPr sz="1725" b="1">
                <a:solidFill>
                  <a:srgbClr val="0A2A8C"/>
                </a:solidFill>
              </a:defRPr>
            </a:lvl3pPr>
            <a:lvl4pPr>
              <a:buNone/>
              <a:defRPr sz="1725" b="1">
                <a:solidFill>
                  <a:srgbClr val="0A2A8C"/>
                </a:solidFill>
              </a:defRPr>
            </a:lvl4pPr>
            <a:lvl5pPr>
              <a:buNone/>
              <a:defRPr sz="1725" b="1">
                <a:solidFill>
                  <a:srgbClr val="0A2A8C"/>
                </a:solidFill>
              </a:defRPr>
            </a:lvl5pPr>
            <a:lvl6pPr>
              <a:buNone/>
              <a:defRPr sz="1725" b="1">
                <a:solidFill>
                  <a:srgbClr val="0A2A8C"/>
                </a:solidFill>
              </a:defRPr>
            </a:lvl6pPr>
            <a:lvl7pPr>
              <a:buNone/>
              <a:defRPr sz="1725" b="1">
                <a:solidFill>
                  <a:srgbClr val="0A2A8C"/>
                </a:solidFill>
              </a:defRPr>
            </a:lvl7pPr>
            <a:lvl8pPr>
              <a:buNone/>
              <a:defRPr sz="1725" b="1">
                <a:solidFill>
                  <a:srgbClr val="0A2A8C"/>
                </a:solidFill>
              </a:defRPr>
            </a:lvl8pPr>
            <a:lvl9pPr>
              <a:buNone/>
              <a:defRPr sz="1725" b="1">
                <a:solidFill>
                  <a:srgbClr val="0A2A8C"/>
                </a:solidFill>
              </a:defRPr>
            </a:lvl9pPr>
          </a:lstStyle>
          <a:p>
            <a:pPr>
              <a:buNone/>
              <a:defRPr sz="1725" b="1">
                <a:solidFill>
                  <a:srgbClr val="0A2A8C"/>
                </a:solidFill>
              </a:defRPr>
            </a:pPr>
            <a:r>
              <a:rPr sz="1725" b="1">
                <a:solidFill>
                  <a:srgbClr val="0A2A8C"/>
                </a:solidFill>
              </a:rPr>
              <a:t>Activate only when ALL three conditions hold:</a:t>
            </a:r>
            <a:endParaRPr sz="1725" b="1">
              <a:solidFill>
                <a:srgbClr val="0A2A8C"/>
              </a:solidFill>
            </a:endParaRPr>
          </a:p>
        </p:txBody>
      </p:sp>
      <p:sp>
        <p:nvSpPr>
          <p:cNvPr id="8" name="圆角矩形 7"/>
          <p:cNvSpPr>
            <a:spLocks noGrp="1"/>
          </p:cNvSpPr>
          <p:nvPr/>
        </p:nvSpPr>
        <p:spPr>
          <a:xfrm>
            <a:off x="457200" y="2752725"/>
            <a:ext cx="8229600" cy="561975"/>
          </a:xfrm>
          <a:prstGeom prst="roundRect">
            <a:avLst>
              <a:gd name="adj" fmla="val 13559"/>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p:txBody>
      </p:sp>
      <p:sp>
        <p:nvSpPr>
          <p:cNvPr id="9" name="椭圆 8"/>
          <p:cNvSpPr>
            <a:spLocks noGrp="1"/>
          </p:cNvSpPr>
          <p:nvPr/>
        </p:nvSpPr>
        <p:spPr>
          <a:xfrm>
            <a:off x="590550" y="284797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1</a:t>
            </a:r>
            <a:endParaRPr sz="1725" b="1">
              <a:solidFill>
                <a:srgbClr val="FFFFFF"/>
              </a:solidFill>
            </a:endParaRPr>
          </a:p>
        </p:txBody>
      </p:sp>
      <p:sp>
        <p:nvSpPr>
          <p:cNvPr id="10" name="矩形 9"/>
          <p:cNvSpPr>
            <a:spLocks noGrp="1"/>
          </p:cNvSpPr>
          <p:nvPr/>
        </p:nvSpPr>
        <p:spPr>
          <a:xfrm>
            <a:off x="1104900" y="2790825"/>
            <a:ext cx="7429500" cy="476250"/>
          </a:xfrm>
          <a:prstGeom prst="rect">
            <a:avLst/>
          </a:prstGeom>
          <a:noFill/>
          <a:ln w="0">
            <a:noFill/>
          </a:ln>
        </p:spPr>
        <p:txBody>
          <a:bodyPr anchor="ctr"/>
          <a:lstStyle>
            <a:lvl1pPr>
              <a:buNone/>
              <a:defRPr sz="1725" b="0">
                <a:solidFill>
                  <a:srgbClr val="1F1F1F"/>
                </a:solidFill>
              </a:defRPr>
            </a:lvl1pPr>
            <a:lvl2pPr>
              <a:buNone/>
              <a:defRPr sz="1725" b="0">
                <a:solidFill>
                  <a:srgbClr val="1F1F1F"/>
                </a:solidFill>
              </a:defRPr>
            </a:lvl2pPr>
            <a:lvl3pPr>
              <a:buNone/>
              <a:defRPr sz="1725" b="0">
                <a:solidFill>
                  <a:srgbClr val="1F1F1F"/>
                </a:solidFill>
              </a:defRPr>
            </a:lvl3pPr>
            <a:lvl4pPr>
              <a:buNone/>
              <a:defRPr sz="1725" b="0">
                <a:solidFill>
                  <a:srgbClr val="1F1F1F"/>
                </a:solidFill>
              </a:defRPr>
            </a:lvl4pPr>
            <a:lvl5pPr>
              <a:buNone/>
              <a:defRPr sz="1725" b="0">
                <a:solidFill>
                  <a:srgbClr val="1F1F1F"/>
                </a:solidFill>
              </a:defRPr>
            </a:lvl5pPr>
            <a:lvl6pPr>
              <a:buNone/>
              <a:defRPr sz="1725" b="0">
                <a:solidFill>
                  <a:srgbClr val="1F1F1F"/>
                </a:solidFill>
              </a:defRPr>
            </a:lvl6pPr>
            <a:lvl7pPr>
              <a:buNone/>
              <a:defRPr sz="1725" b="0">
                <a:solidFill>
                  <a:srgbClr val="1F1F1F"/>
                </a:solidFill>
              </a:defRPr>
            </a:lvl7pPr>
            <a:lvl8pPr>
              <a:buNone/>
              <a:defRPr sz="1725" b="0">
                <a:solidFill>
                  <a:srgbClr val="1F1F1F"/>
                </a:solidFill>
              </a:defRPr>
            </a:lvl8pPr>
            <a:lvl9pPr>
              <a:buNone/>
              <a:defRPr sz="1725" b="0">
                <a:solidFill>
                  <a:srgbClr val="1F1F1F"/>
                </a:solidFill>
              </a:defRPr>
            </a:lvl9pPr>
          </a:lstStyle>
          <a:p>
            <a:pPr>
              <a:buNone/>
              <a:defRPr sz="1725" b="0">
                <a:solidFill>
                  <a:srgbClr val="1F1F1F"/>
                </a:solidFill>
              </a:defRPr>
            </a:pPr>
            <a:r>
              <a:rPr sz="1725" b="0">
                <a:solidFill>
                  <a:srgbClr val="1F1F1F"/>
                </a:solidFill>
              </a:rPr>
              <a:t>Current actual CPI YoY &gt; forecast.</a:t>
            </a:r>
            <a:endParaRPr sz="1725" b="0">
              <a:solidFill>
                <a:srgbClr val="1F1F1F"/>
              </a:solidFill>
            </a:endParaRPr>
          </a:p>
        </p:txBody>
      </p:sp>
      <p:sp>
        <p:nvSpPr>
          <p:cNvPr id="11" name="圆角矩形 10"/>
          <p:cNvSpPr>
            <a:spLocks noGrp="1"/>
          </p:cNvSpPr>
          <p:nvPr/>
        </p:nvSpPr>
        <p:spPr>
          <a:xfrm>
            <a:off x="457200" y="3419475"/>
            <a:ext cx="8229600" cy="561975"/>
          </a:xfrm>
          <a:prstGeom prst="roundRect">
            <a:avLst>
              <a:gd name="adj" fmla="val 13559"/>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p:txBody>
      </p:sp>
      <p:sp>
        <p:nvSpPr>
          <p:cNvPr id="12" name="椭圆 11"/>
          <p:cNvSpPr>
            <a:spLocks noGrp="1"/>
          </p:cNvSpPr>
          <p:nvPr/>
        </p:nvSpPr>
        <p:spPr>
          <a:xfrm>
            <a:off x="590550" y="351472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2</a:t>
            </a:r>
            <a:endParaRPr sz="1725" b="1">
              <a:solidFill>
                <a:srgbClr val="FFFFFF"/>
              </a:solidFill>
            </a:endParaRPr>
          </a:p>
        </p:txBody>
      </p:sp>
      <p:sp>
        <p:nvSpPr>
          <p:cNvPr id="13" name="矩形 12"/>
          <p:cNvSpPr>
            <a:spLocks noGrp="1"/>
          </p:cNvSpPr>
          <p:nvPr/>
        </p:nvSpPr>
        <p:spPr>
          <a:xfrm>
            <a:off x="1104900" y="3457575"/>
            <a:ext cx="7429500" cy="476250"/>
          </a:xfrm>
          <a:prstGeom prst="rect">
            <a:avLst/>
          </a:prstGeom>
          <a:noFill/>
          <a:ln w="0">
            <a:noFill/>
          </a:ln>
        </p:spPr>
        <p:txBody>
          <a:bodyPr anchor="ctr"/>
          <a:lstStyle>
            <a:lvl1pPr>
              <a:buNone/>
              <a:defRPr sz="1725" b="0">
                <a:solidFill>
                  <a:srgbClr val="1F1F1F"/>
                </a:solidFill>
              </a:defRPr>
            </a:lvl1pPr>
            <a:lvl2pPr>
              <a:buNone/>
              <a:defRPr sz="1725" b="0">
                <a:solidFill>
                  <a:srgbClr val="1F1F1F"/>
                </a:solidFill>
              </a:defRPr>
            </a:lvl2pPr>
            <a:lvl3pPr>
              <a:buNone/>
              <a:defRPr sz="1725" b="0">
                <a:solidFill>
                  <a:srgbClr val="1F1F1F"/>
                </a:solidFill>
              </a:defRPr>
            </a:lvl3pPr>
            <a:lvl4pPr>
              <a:buNone/>
              <a:defRPr sz="1725" b="0">
                <a:solidFill>
                  <a:srgbClr val="1F1F1F"/>
                </a:solidFill>
              </a:defRPr>
            </a:lvl4pPr>
            <a:lvl5pPr>
              <a:buNone/>
              <a:defRPr sz="1725" b="0">
                <a:solidFill>
                  <a:srgbClr val="1F1F1F"/>
                </a:solidFill>
              </a:defRPr>
            </a:lvl5pPr>
            <a:lvl6pPr>
              <a:buNone/>
              <a:defRPr sz="1725" b="0">
                <a:solidFill>
                  <a:srgbClr val="1F1F1F"/>
                </a:solidFill>
              </a:defRPr>
            </a:lvl6pPr>
            <a:lvl7pPr>
              <a:buNone/>
              <a:defRPr sz="1725" b="0">
                <a:solidFill>
                  <a:srgbClr val="1F1F1F"/>
                </a:solidFill>
              </a:defRPr>
            </a:lvl7pPr>
            <a:lvl8pPr>
              <a:buNone/>
              <a:defRPr sz="1725" b="0">
                <a:solidFill>
                  <a:srgbClr val="1F1F1F"/>
                </a:solidFill>
              </a:defRPr>
            </a:lvl8pPr>
            <a:lvl9pPr>
              <a:buNone/>
              <a:defRPr sz="1725" b="0">
                <a:solidFill>
                  <a:srgbClr val="1F1F1F"/>
                </a:solidFill>
              </a:defRPr>
            </a:lvl9pPr>
          </a:lstStyle>
          <a:p>
            <a:pPr>
              <a:buNone/>
              <a:defRPr sz="1725" b="0">
                <a:solidFill>
                  <a:srgbClr val="1F1F1F"/>
                </a:solidFill>
              </a:defRPr>
            </a:pPr>
            <a:r>
              <a:rPr sz="1725" b="0">
                <a:solidFill>
                  <a:srgbClr val="1F1F1F"/>
                </a:solidFill>
              </a:rPr>
              <a:t>Previous published actual CPI YoY ≥ 3%.</a:t>
            </a:r>
            <a:endParaRPr sz="1725" b="0">
              <a:solidFill>
                <a:srgbClr val="1F1F1F"/>
              </a:solidFill>
            </a:endParaRPr>
          </a:p>
        </p:txBody>
      </p:sp>
      <p:sp>
        <p:nvSpPr>
          <p:cNvPr id="14" name="圆角矩形 13"/>
          <p:cNvSpPr>
            <a:spLocks noGrp="1"/>
          </p:cNvSpPr>
          <p:nvPr/>
        </p:nvSpPr>
        <p:spPr>
          <a:xfrm>
            <a:off x="457200" y="4086225"/>
            <a:ext cx="8229600" cy="781050"/>
          </a:xfrm>
          <a:prstGeom prst="roundRect">
            <a:avLst>
              <a:gd name="adj" fmla="val 9756"/>
            </a:avLst>
          </a:prstGeom>
          <a:solidFill>
            <a:srgbClr val="EEF3F9"/>
          </a:solid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p:txBody>
      </p:sp>
      <p:sp>
        <p:nvSpPr>
          <p:cNvPr id="15" name="椭圆 14"/>
          <p:cNvSpPr>
            <a:spLocks noGrp="1"/>
          </p:cNvSpPr>
          <p:nvPr/>
        </p:nvSpPr>
        <p:spPr>
          <a:xfrm>
            <a:off x="590550" y="4181475"/>
            <a:ext cx="371475" cy="371475"/>
          </a:xfrm>
          <a:prstGeom prst="ellipse">
            <a:avLst/>
          </a:prstGeom>
          <a:solidFill>
            <a:srgbClr val="E8851A"/>
          </a:solidFill>
          <a:ln w="0">
            <a:noFill/>
          </a:ln>
        </p:spPr>
        <p:txBody>
          <a:bodyPr anchor="ctr"/>
          <a:lstStyle>
            <a:lvl1pPr algn="ctr">
              <a:buNone/>
              <a:defRPr sz="1725" b="1">
                <a:solidFill>
                  <a:srgbClr val="FFFFFF"/>
                </a:solidFill>
              </a:defRPr>
            </a:lvl1pPr>
            <a:lvl2pPr algn="ctr">
              <a:buNone/>
              <a:defRPr sz="1725" b="1">
                <a:solidFill>
                  <a:srgbClr val="FFFFFF"/>
                </a:solidFill>
              </a:defRPr>
            </a:lvl2pPr>
            <a:lvl3pPr algn="ctr">
              <a:buNone/>
              <a:defRPr sz="1725" b="1">
                <a:solidFill>
                  <a:srgbClr val="FFFFFF"/>
                </a:solidFill>
              </a:defRPr>
            </a:lvl3pPr>
            <a:lvl4pPr algn="ctr">
              <a:buNone/>
              <a:defRPr sz="1725" b="1">
                <a:solidFill>
                  <a:srgbClr val="FFFFFF"/>
                </a:solidFill>
              </a:defRPr>
            </a:lvl4pPr>
            <a:lvl5pPr algn="ctr">
              <a:buNone/>
              <a:defRPr sz="1725" b="1">
                <a:solidFill>
                  <a:srgbClr val="FFFFFF"/>
                </a:solidFill>
              </a:defRPr>
            </a:lvl5pPr>
            <a:lvl6pPr algn="ctr">
              <a:buNone/>
              <a:defRPr sz="1725" b="1">
                <a:solidFill>
                  <a:srgbClr val="FFFFFF"/>
                </a:solidFill>
              </a:defRPr>
            </a:lvl6pPr>
            <a:lvl7pPr algn="ctr">
              <a:buNone/>
              <a:defRPr sz="1725" b="1">
                <a:solidFill>
                  <a:srgbClr val="FFFFFF"/>
                </a:solidFill>
              </a:defRPr>
            </a:lvl7pPr>
            <a:lvl8pPr algn="ctr">
              <a:buNone/>
              <a:defRPr sz="1725" b="1">
                <a:solidFill>
                  <a:srgbClr val="FFFFFF"/>
                </a:solidFill>
              </a:defRPr>
            </a:lvl8pPr>
            <a:lvl9pPr algn="ctr">
              <a:buNone/>
              <a:defRPr sz="1725" b="1">
                <a:solidFill>
                  <a:srgbClr val="FFFFFF"/>
                </a:solidFill>
              </a:defRPr>
            </a:lvl9pPr>
          </a:lstStyle>
          <a:p>
            <a:pPr algn="ctr">
              <a:buNone/>
              <a:defRPr sz="1725" b="1">
                <a:solidFill>
                  <a:srgbClr val="FFFFFF"/>
                </a:solidFill>
              </a:defRPr>
            </a:pPr>
            <a:r>
              <a:rPr sz="1725" b="1">
                <a:solidFill>
                  <a:srgbClr val="FFFFFF"/>
                </a:solidFill>
              </a:rPr>
              <a:t>3</a:t>
            </a:r>
            <a:endParaRPr sz="1725" b="1">
              <a:solidFill>
                <a:srgbClr val="FFFFFF"/>
              </a:solidFill>
            </a:endParaRPr>
          </a:p>
        </p:txBody>
      </p:sp>
      <p:sp>
        <p:nvSpPr>
          <p:cNvPr id="16" name="矩形 15"/>
          <p:cNvSpPr>
            <a:spLocks noGrp="1"/>
          </p:cNvSpPr>
          <p:nvPr/>
        </p:nvSpPr>
        <p:spPr>
          <a:xfrm>
            <a:off x="1104900" y="4124325"/>
            <a:ext cx="7429500" cy="695325"/>
          </a:xfrm>
          <a:prstGeom prst="rect">
            <a:avLst/>
          </a:prstGeom>
          <a:noFill/>
          <a:ln w="0">
            <a:noFill/>
          </a:ln>
        </p:spPr>
        <p:txBody>
          <a:bodyPr anchor="ctr"/>
          <a:lstStyle>
            <a:lvl1pPr>
              <a:buNone/>
              <a:defRPr sz="1500" b="0">
                <a:solidFill>
                  <a:srgbClr val="1F1F1F"/>
                </a:solidFill>
              </a:defRPr>
            </a:lvl1pPr>
            <a:lvl2pPr>
              <a:buNone/>
              <a:defRPr sz="1500" b="0">
                <a:solidFill>
                  <a:srgbClr val="1F1F1F"/>
                </a:solidFill>
              </a:defRPr>
            </a:lvl2pPr>
            <a:lvl3pPr>
              <a:buNone/>
              <a:defRPr sz="1500" b="0">
                <a:solidFill>
                  <a:srgbClr val="1F1F1F"/>
                </a:solidFill>
              </a:defRPr>
            </a:lvl3pPr>
            <a:lvl4pPr>
              <a:buNone/>
              <a:defRPr sz="1500" b="0">
                <a:solidFill>
                  <a:srgbClr val="1F1F1F"/>
                </a:solidFill>
              </a:defRPr>
            </a:lvl4pPr>
            <a:lvl5pPr>
              <a:buNone/>
              <a:defRPr sz="1500" b="0">
                <a:solidFill>
                  <a:srgbClr val="1F1F1F"/>
                </a:solidFill>
              </a:defRPr>
            </a:lvl5pPr>
            <a:lvl6pPr>
              <a:buNone/>
              <a:defRPr sz="1500" b="0">
                <a:solidFill>
                  <a:srgbClr val="1F1F1F"/>
                </a:solidFill>
              </a:defRPr>
            </a:lvl6pPr>
            <a:lvl7pPr>
              <a:buNone/>
              <a:defRPr sz="1500" b="0">
                <a:solidFill>
                  <a:srgbClr val="1F1F1F"/>
                </a:solidFill>
              </a:defRPr>
            </a:lvl7pPr>
            <a:lvl8pPr>
              <a:buNone/>
              <a:defRPr sz="1500" b="0">
                <a:solidFill>
                  <a:srgbClr val="1F1F1F"/>
                </a:solidFill>
              </a:defRPr>
            </a:lvl8pPr>
            <a:lvl9pPr>
              <a:buNone/>
              <a:defRPr sz="1500" b="0">
                <a:solidFill>
                  <a:srgbClr val="1F1F1F"/>
                </a:solidFill>
              </a:defRPr>
            </a:lvl9pPr>
          </a:lstStyle>
          <a:p>
            <a:pPr>
              <a:buNone/>
              <a:defRPr sz="1500" b="0">
                <a:solidFill>
                  <a:srgbClr val="1F1F1F"/>
                </a:solidFill>
              </a:defRPr>
            </a:pPr>
            <a:r>
              <a:rPr sz="1500" b="0">
                <a:solidFill>
                  <a:srgbClr val="1F1F1F"/>
                </a:solidFill>
              </a:rPr>
              <a:t>Prior directional hit rate ≥ 70%.</a:t>
            </a:r>
            <a:endParaRPr sz="1500" b="0">
              <a:solidFill>
                <a:srgbClr val="1F1F1F"/>
              </a:solidFill>
            </a:endParaRPr>
          </a:p>
          <a:p>
            <a:pPr>
              <a:buNone/>
              <a:defRPr sz="1500" b="0">
                <a:solidFill>
                  <a:srgbClr val="1F1F1F"/>
                </a:solidFill>
              </a:defRPr>
            </a:pPr>
            <a:r>
              <a:rPr sz="1500" b="0">
                <a:solidFill>
                  <a:srgbClr val="1F1F1F"/>
                </a:solidFill>
              </a:rPr>
              <a:t>Use up to 16 releases where actual differs from forecast (minimum 8).</a:t>
            </a:r>
            <a:endParaRPr sz="1500" b="0">
              <a:solidFill>
                <a:srgbClr val="1F1F1F"/>
              </a:solidFill>
            </a:endParaRPr>
          </a:p>
        </p:txBody>
      </p:sp>
      <p:sp>
        <p:nvSpPr>
          <p:cNvPr id="17" name="矩形 16"/>
          <p:cNvSpPr>
            <a:spLocks noGrp="1"/>
          </p:cNvSpPr>
          <p:nvPr/>
        </p:nvSpPr>
        <p:spPr>
          <a:xfrm>
            <a:off x="457200" y="5019675"/>
            <a:ext cx="8229600" cy="628650"/>
          </a:xfrm>
          <a:prstGeom prst="rect">
            <a:avLst/>
          </a:prstGeom>
          <a:noFill/>
          <a:ln w="0">
            <a:noFill/>
          </a:ln>
        </p:spPr>
        <p:txBody>
          <a:bodyPr anchor="ctr"/>
          <a:lstStyle>
            <a:lvl1pPr>
              <a:buNone/>
              <a:defRPr sz="1575" b="0">
                <a:solidFill>
                  <a:srgbClr val="0A2A8C"/>
                </a:solidFill>
              </a:defRPr>
            </a:lvl1pPr>
            <a:lvl2pPr>
              <a:buNone/>
              <a:defRPr sz="1575" b="0">
                <a:solidFill>
                  <a:srgbClr val="0A2A8C"/>
                </a:solidFill>
              </a:defRPr>
            </a:lvl2pPr>
            <a:lvl3pPr>
              <a:buNone/>
              <a:defRPr sz="1575" b="0">
                <a:solidFill>
                  <a:srgbClr val="0A2A8C"/>
                </a:solidFill>
              </a:defRPr>
            </a:lvl3pPr>
            <a:lvl4pPr>
              <a:buNone/>
              <a:defRPr sz="1575" b="0">
                <a:solidFill>
                  <a:srgbClr val="0A2A8C"/>
                </a:solidFill>
              </a:defRPr>
            </a:lvl4pPr>
            <a:lvl5pPr>
              <a:buNone/>
              <a:defRPr sz="1575" b="0">
                <a:solidFill>
                  <a:srgbClr val="0A2A8C"/>
                </a:solidFill>
              </a:defRPr>
            </a:lvl5pPr>
            <a:lvl6pPr>
              <a:buNone/>
              <a:defRPr sz="1575" b="0">
                <a:solidFill>
                  <a:srgbClr val="0A2A8C"/>
                </a:solidFill>
              </a:defRPr>
            </a:lvl6pPr>
            <a:lvl7pPr>
              <a:buNone/>
              <a:defRPr sz="1575" b="0">
                <a:solidFill>
                  <a:srgbClr val="0A2A8C"/>
                </a:solidFill>
              </a:defRPr>
            </a:lvl7pPr>
            <a:lvl8pPr>
              <a:buNone/>
              <a:defRPr sz="1575" b="0">
                <a:solidFill>
                  <a:srgbClr val="0A2A8C"/>
                </a:solidFill>
              </a:defRPr>
            </a:lvl8pPr>
            <a:lvl9pPr>
              <a:buNone/>
              <a:defRPr sz="1575" b="0">
                <a:solidFill>
                  <a:srgbClr val="0A2A8C"/>
                </a:solidFill>
              </a:defRPr>
            </a:lvl9pPr>
          </a:lstStyle>
          <a:p>
            <a:pPr>
              <a:buNone/>
              <a:defRPr sz="1575" b="0">
                <a:solidFill>
                  <a:srgbClr val="0A2A8C"/>
                </a:solidFill>
              </a:defRPr>
            </a:pPr>
            <a:r>
              <a:rPr sz="1575" b="0">
                <a:solidFill>
                  <a:srgbClr val="0A2A8C"/>
                </a:solidFill>
              </a:rPr>
              <a:t>Hit: CPI above forecast + QQQ opens lower, or</a:t>
            </a:r>
            <a:endParaRPr sz="1575" b="0">
              <a:solidFill>
                <a:srgbClr val="0A2A8C"/>
              </a:solidFill>
            </a:endParaRPr>
          </a:p>
          <a:p>
            <a:pPr>
              <a:buNone/>
              <a:defRPr sz="1575" b="0">
                <a:solidFill>
                  <a:srgbClr val="0A2A8C"/>
                </a:solidFill>
              </a:defRPr>
            </a:pPr>
            <a:r>
              <a:rPr sz="1575" b="0">
                <a:solidFill>
                  <a:srgbClr val="0A2A8C"/>
                </a:solidFill>
              </a:rPr>
              <a:t>CPI below forecast + QQQ opens higher (vs previous close).</a:t>
            </a:r>
            <a:endParaRPr sz="1575" b="0">
              <a:solidFill>
                <a:srgbClr val="0A2A8C"/>
              </a:solidFill>
            </a:endParaRPr>
          </a:p>
        </p:txBody>
      </p:sp>
      <p:sp>
        <p:nvSpPr>
          <p:cNvPr id="18" name="矩形 17"/>
          <p:cNvSpPr>
            <a:spLocks noGrp="1"/>
          </p:cNvSpPr>
          <p:nvPr/>
        </p:nvSpPr>
        <p:spPr>
          <a:xfrm>
            <a:off x="457200" y="5772150"/>
            <a:ext cx="8229600" cy="447675"/>
          </a:xfrm>
          <a:prstGeom prst="rect">
            <a:avLst/>
          </a:prstGeom>
          <a:noFill/>
          <a:ln w="0">
            <a:noFill/>
          </a:ln>
        </p:spPr>
        <p:txBody>
          <a:bodyPr anchor="ctr"/>
          <a:lstStyle>
            <a:lvl1pPr>
              <a:buNone/>
              <a:defRPr sz="1275" b="0">
                <a:solidFill>
                  <a:srgbClr val="7A5CC2"/>
                </a:solidFill>
              </a:defRPr>
            </a:lvl1pPr>
            <a:lvl2pPr>
              <a:buNone/>
              <a:defRPr sz="1275" b="0">
                <a:solidFill>
                  <a:srgbClr val="7A5CC2"/>
                </a:solidFill>
              </a:defRPr>
            </a:lvl2pPr>
            <a:lvl3pPr>
              <a:buNone/>
              <a:defRPr sz="1275" b="0">
                <a:solidFill>
                  <a:srgbClr val="7A5CC2"/>
                </a:solidFill>
              </a:defRPr>
            </a:lvl3pPr>
            <a:lvl4pPr>
              <a:buNone/>
              <a:defRPr sz="1275" b="0">
                <a:solidFill>
                  <a:srgbClr val="7A5CC2"/>
                </a:solidFill>
              </a:defRPr>
            </a:lvl4pPr>
            <a:lvl5pPr>
              <a:buNone/>
              <a:defRPr sz="1275" b="0">
                <a:solidFill>
                  <a:srgbClr val="7A5CC2"/>
                </a:solidFill>
              </a:defRPr>
            </a:lvl5pPr>
            <a:lvl6pPr>
              <a:buNone/>
              <a:defRPr sz="1275" b="0">
                <a:solidFill>
                  <a:srgbClr val="7A5CC2"/>
                </a:solidFill>
              </a:defRPr>
            </a:lvl6pPr>
            <a:lvl7pPr>
              <a:buNone/>
              <a:defRPr sz="1275" b="0">
                <a:solidFill>
                  <a:srgbClr val="7A5CC2"/>
                </a:solidFill>
              </a:defRPr>
            </a:lvl7pPr>
            <a:lvl8pPr>
              <a:buNone/>
              <a:defRPr sz="1275" b="0">
                <a:solidFill>
                  <a:srgbClr val="7A5CC2"/>
                </a:solidFill>
              </a:defRPr>
            </a:lvl8pPr>
            <a:lvl9pPr>
              <a:buNone/>
              <a:defRPr sz="1275" b="0">
                <a:solidFill>
                  <a:srgbClr val="7A5CC2"/>
                </a:solidFill>
              </a:defRPr>
            </a:lvl9pPr>
          </a:lstStyle>
          <a:p>
            <a:pPr>
              <a:buNone/>
              <a:defRPr sz="1275" b="0">
                <a:solidFill>
                  <a:srgbClr val="7A5CC2"/>
                </a:solidFill>
              </a:defRPr>
            </a:pPr>
            <a:endParaRPr sz="1275" b="0">
              <a:solidFill>
                <a:srgbClr val="7A5CC2"/>
              </a:solidFill>
            </a:endParaRPr>
          </a:p>
        </p:txBody>
      </p:sp>
    </p:spTree>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p:sp>
        <p:nvSpPr>
          <p:cNvPr id="16" name="矩形 15"/>
          <p:cNvSpPr>
            <a:spLocks noGrp="1"/>
          </p:cNvSpPr>
          <p:nvPr/>
        </p:nvSpPr>
        <p:spPr>
          <a:xfrm>
            <a:off x="409575" y="323850"/>
            <a:ext cx="8286750" cy="723900"/>
          </a:xfrm>
          <a:prstGeom prst="rect">
            <a:avLst/>
          </a:prstGeom>
          <a:noFill/>
          <a:ln w="0">
            <a:noFill/>
          </a:ln>
        </p:spPr>
        <p:txBody>
          <a:bodyPr anchor="ctr"/>
          <a:lstStyle>
            <a:lvl1pPr>
              <a:buNone/>
              <a:defRPr sz="2925" b="1">
                <a:solidFill>
                  <a:srgbClr val="0A2A8C"/>
                </a:solidFill>
              </a:defRPr>
            </a:lvl1pPr>
            <a:lvl2pPr>
              <a:buNone/>
              <a:defRPr sz="2925" b="1">
                <a:solidFill>
                  <a:srgbClr val="0A2A8C"/>
                </a:solidFill>
              </a:defRPr>
            </a:lvl2pPr>
            <a:lvl3pPr>
              <a:buNone/>
              <a:defRPr sz="2925" b="1">
                <a:solidFill>
                  <a:srgbClr val="0A2A8C"/>
                </a:solidFill>
              </a:defRPr>
            </a:lvl3pPr>
            <a:lvl4pPr>
              <a:buNone/>
              <a:defRPr sz="2925" b="1">
                <a:solidFill>
                  <a:srgbClr val="0A2A8C"/>
                </a:solidFill>
              </a:defRPr>
            </a:lvl4pPr>
            <a:lvl5pPr>
              <a:buNone/>
              <a:defRPr sz="2925" b="1">
                <a:solidFill>
                  <a:srgbClr val="0A2A8C"/>
                </a:solidFill>
              </a:defRPr>
            </a:lvl5pPr>
            <a:lvl6pPr>
              <a:buNone/>
              <a:defRPr sz="2925" b="1">
                <a:solidFill>
                  <a:srgbClr val="0A2A8C"/>
                </a:solidFill>
              </a:defRPr>
            </a:lvl6pPr>
            <a:lvl7pPr>
              <a:buNone/>
              <a:defRPr sz="2925" b="1">
                <a:solidFill>
                  <a:srgbClr val="0A2A8C"/>
                </a:solidFill>
              </a:defRPr>
            </a:lvl7pPr>
            <a:lvl8pPr>
              <a:buNone/>
              <a:defRPr sz="2925" b="1">
                <a:solidFill>
                  <a:srgbClr val="0A2A8C"/>
                </a:solidFill>
              </a:defRPr>
            </a:lvl8pPr>
            <a:lvl9pPr>
              <a:buNone/>
              <a:defRPr sz="2925" b="1">
                <a:solidFill>
                  <a:srgbClr val="0A2A8C"/>
                </a:solidFill>
              </a:defRPr>
            </a:lvl9pPr>
          </a:lstStyle>
          <a:p>
            <a:pPr>
              <a:buNone/>
              <a:defRPr sz="2925" b="1">
                <a:solidFill>
                  <a:srgbClr val="0A2A8C"/>
                </a:solidFill>
              </a:defRPr>
            </a:pPr>
            <a:r>
              <a:rPr sz="3200" b="1">
                <a:solidFill>
                  <a:srgbClr val="0A2A8C"/>
                </a:solidFill>
              </a:rPr>
              <a:t>CPI Overlay: Execution &amp; Return to V2</a:t>
            </a:r>
            <a:endParaRPr sz="3200" b="1">
              <a:solidFill>
                <a:srgbClr val="0A2A8C"/>
              </a:solidFill>
            </a:endParaRPr>
          </a:p>
        </p:txBody>
      </p:sp>
      <p:sp>
        <p:nvSpPr>
          <p:cNvPr id="2" name="矩形 1"/>
          <p:cNvSpPr>
            <a:spLocks noGrp="1"/>
          </p:cNvSpPr>
          <p:nvPr/>
        </p:nvSpPr>
        <p:spPr>
          <a:xfrm>
            <a:off x="8515350" y="190500"/>
            <a:ext cx="333375" cy="238125"/>
          </a:xfrm>
          <a:prstGeom prst="rect">
            <a:avLst/>
          </a:prstGeom>
          <a:noFill/>
          <a:ln w="0">
            <a:noFill/>
          </a:ln>
        </p:spPr>
        <p:txBody>
          <a:bodyPr anchor="ctr"/>
          <a:lstStyle>
            <a:lvl1pPr>
              <a:buNone/>
              <a:defRPr sz="1050" b="0">
                <a:solidFill>
                  <a:srgbClr val="1F1F1F"/>
                </a:solidFill>
              </a:defRPr>
            </a:lvl1pPr>
            <a:lvl2pPr>
              <a:buNone/>
              <a:defRPr sz="1050" b="0">
                <a:solidFill>
                  <a:srgbClr val="1F1F1F"/>
                </a:solidFill>
              </a:defRPr>
            </a:lvl2pPr>
            <a:lvl3pPr>
              <a:buNone/>
              <a:defRPr sz="1050" b="0">
                <a:solidFill>
                  <a:srgbClr val="1F1F1F"/>
                </a:solidFill>
              </a:defRPr>
            </a:lvl3pPr>
            <a:lvl4pPr>
              <a:buNone/>
              <a:defRPr sz="1050" b="0">
                <a:solidFill>
                  <a:srgbClr val="1F1F1F"/>
                </a:solidFill>
              </a:defRPr>
            </a:lvl4pPr>
            <a:lvl5pPr>
              <a:buNone/>
              <a:defRPr sz="1050" b="0">
                <a:solidFill>
                  <a:srgbClr val="1F1F1F"/>
                </a:solidFill>
              </a:defRPr>
            </a:lvl5pPr>
            <a:lvl6pPr>
              <a:buNone/>
              <a:defRPr sz="1050" b="0">
                <a:solidFill>
                  <a:srgbClr val="1F1F1F"/>
                </a:solidFill>
              </a:defRPr>
            </a:lvl6pPr>
            <a:lvl7pPr>
              <a:buNone/>
              <a:defRPr sz="1050" b="0">
                <a:solidFill>
                  <a:srgbClr val="1F1F1F"/>
                </a:solidFill>
              </a:defRPr>
            </a:lvl7pPr>
            <a:lvl8pPr>
              <a:buNone/>
              <a:defRPr sz="1050" b="0">
                <a:solidFill>
                  <a:srgbClr val="1F1F1F"/>
                </a:solidFill>
              </a:defRPr>
            </a:lvl8pPr>
            <a:lvl9pPr>
              <a:buNone/>
              <a:defRPr sz="1050" b="0">
                <a:solidFill>
                  <a:srgbClr val="1F1F1F"/>
                </a:solidFill>
              </a:defRPr>
            </a:lvl9pPr>
          </a:lstStyle>
          <a:p>
            <a:pPr>
              <a:buNone/>
              <a:defRPr sz="1050" b="0">
                <a:solidFill>
                  <a:srgbClr val="1F1F1F"/>
                </a:solidFill>
              </a:defRPr>
            </a:pPr>
            <a:r>
              <a:rPr sz="1050" b="0">
                <a:solidFill>
                  <a:srgbClr val="1F1F1F"/>
                </a:solidFill>
              </a:rPr>
              <a:t>8</a:t>
            </a:r>
            <a:endParaRPr sz="1050" b="0">
              <a:solidFill>
                <a:srgbClr val="1F1F1F"/>
              </a:solidFill>
            </a:endParaRPr>
          </a:p>
        </p:txBody>
      </p:sp>
      <p:sp>
        <p:nvSpPr>
          <p:cNvPr id="3" name="矩形 2"/>
          <p:cNvSpPr>
            <a:spLocks noGrp="1"/>
          </p:cNvSpPr>
          <p:nvPr/>
        </p:nvSpPr>
        <p:spPr>
          <a:xfrm>
            <a:off x="0" y="6353175"/>
            <a:ext cx="9144000" cy="504825"/>
          </a:xfrm>
          <a:prstGeom prst="rect">
            <a:avLst/>
          </a:prstGeom>
          <a:solidFill>
            <a:srgbClr val="376A9F"/>
          </a:solidFill>
          <a:ln w="0">
            <a:noFill/>
          </a:ln>
        </p:spPr>
      </p:sp>
      <p:sp>
        <p:nvSpPr>
          <p:cNvPr id="4" name="矩形 3"/>
          <p:cNvSpPr>
            <a:spLocks noGrp="1"/>
          </p:cNvSpPr>
          <p:nvPr/>
        </p:nvSpPr>
        <p:spPr>
          <a:xfrm>
            <a:off x="209550" y="6496050"/>
            <a:ext cx="8096250" cy="238125"/>
          </a:xfrm>
          <a:prstGeom prst="rect">
            <a:avLst/>
          </a:prstGeom>
          <a:noFill/>
          <a:ln w="0">
            <a:noFill/>
          </a:ln>
        </p:spPr>
        <p:txBody>
          <a:bodyPr anchor="ctr"/>
          <a:lstStyle>
            <a:lvl1pPr>
              <a:buNone/>
              <a:defRPr sz="1200" b="1">
                <a:solidFill>
                  <a:srgbClr val="FF9200"/>
                </a:solidFill>
              </a:defRPr>
            </a:lvl1pPr>
            <a:lvl2pPr>
              <a:buNone/>
              <a:defRPr sz="1200" b="1">
                <a:solidFill>
                  <a:srgbClr val="FF9200"/>
                </a:solidFill>
              </a:defRPr>
            </a:lvl2pPr>
            <a:lvl3pPr>
              <a:buNone/>
              <a:defRPr sz="1200" b="1">
                <a:solidFill>
                  <a:srgbClr val="FF9200"/>
                </a:solidFill>
              </a:defRPr>
            </a:lvl3pPr>
            <a:lvl4pPr>
              <a:buNone/>
              <a:defRPr sz="1200" b="1">
                <a:solidFill>
                  <a:srgbClr val="FF9200"/>
                </a:solidFill>
              </a:defRPr>
            </a:lvl4pPr>
            <a:lvl5pPr>
              <a:buNone/>
              <a:defRPr sz="1200" b="1">
                <a:solidFill>
                  <a:srgbClr val="FF9200"/>
                </a:solidFill>
              </a:defRPr>
            </a:lvl5pPr>
            <a:lvl6pPr>
              <a:buNone/>
              <a:defRPr sz="1200" b="1">
                <a:solidFill>
                  <a:srgbClr val="FF9200"/>
                </a:solidFill>
              </a:defRPr>
            </a:lvl6pPr>
            <a:lvl7pPr>
              <a:buNone/>
              <a:defRPr sz="1200" b="1">
                <a:solidFill>
                  <a:srgbClr val="FF9200"/>
                </a:solidFill>
              </a:defRPr>
            </a:lvl7pPr>
            <a:lvl8pPr>
              <a:buNone/>
              <a:defRPr sz="1200" b="1">
                <a:solidFill>
                  <a:srgbClr val="FF9200"/>
                </a:solidFill>
              </a:defRPr>
            </a:lvl8pPr>
            <a:lvl9pPr>
              <a:buNone/>
              <a:defRPr sz="1200" b="1">
                <a:solidFill>
                  <a:srgbClr val="FF9200"/>
                </a:solidFill>
              </a:defRPr>
            </a:lvl9pPr>
          </a:lstStyle>
          <a:p>
            <a:pPr>
              <a:buNone/>
              <a:defRPr sz="1200" b="1">
                <a:solidFill>
                  <a:srgbClr val="FF9200"/>
                </a:solidFill>
              </a:defRPr>
            </a:pPr>
            <a:r>
              <a:rPr sz="1200" b="1">
                <a:solidFill>
                  <a:srgbClr val="FF9200"/>
                </a:solidFill>
              </a:rPr>
              <a:t>ReReRe · FE5209 Financial Econometrics</a:t>
            </a:r>
            <a:endParaRPr sz="1200" b="1">
              <a:solidFill>
                <a:srgbClr val="FF9200"/>
              </a:solidFill>
            </a:endParaRPr>
          </a:p>
        </p:txBody>
      </p:sp>
      <p:sp>
        <p:nvSpPr>
          <p:cNvPr id="5" name="椭圆 4"/>
          <p:cNvSpPr>
            <a:spLocks noGrp="1"/>
          </p:cNvSpPr>
          <p:nvPr/>
        </p:nvSpPr>
        <p:spPr>
          <a:xfrm>
            <a:off x="457200" y="1333500"/>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1</a:t>
            </a:r>
            <a:endParaRPr sz="1875" b="1">
              <a:solidFill>
                <a:srgbClr val="FFFFFF"/>
              </a:solidFill>
            </a:endParaRPr>
          </a:p>
        </p:txBody>
      </p:sp>
      <p:sp>
        <p:nvSpPr>
          <p:cNvPr id="6" name="矩形 5"/>
          <p:cNvSpPr>
            <a:spLocks noGrp="1"/>
          </p:cNvSpPr>
          <p:nvPr/>
        </p:nvSpPr>
        <p:spPr>
          <a:xfrm>
            <a:off x="1123950" y="1238250"/>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Release day</a:t>
            </a:r>
            <a:endParaRPr sz="1875" b="1">
              <a:solidFill>
                <a:srgbClr val="0A2A8C"/>
              </a:solidFill>
            </a:endParaRPr>
          </a:p>
        </p:txBody>
      </p:sp>
      <p:sp>
        <p:nvSpPr>
          <p:cNvPr id="7" name="矩形 6"/>
          <p:cNvSpPr>
            <a:spLocks noGrp="1"/>
          </p:cNvSpPr>
          <p:nvPr/>
        </p:nvSpPr>
        <p:spPr>
          <a:xfrm>
            <a:off x="1123950" y="1638300"/>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Check the actual / forecast CPI and both historical gates.</a:t>
            </a:r>
            <a:endParaRPr sz="1650" b="0">
              <a:solidFill>
                <a:srgbClr val="1F1F1F"/>
              </a:solidFill>
            </a:endParaRPr>
          </a:p>
        </p:txBody>
      </p:sp>
      <p:sp>
        <p:nvSpPr>
          <p:cNvPr id="8" name="椭圆 7"/>
          <p:cNvSpPr>
            <a:spLocks noGrp="1"/>
          </p:cNvSpPr>
          <p:nvPr/>
        </p:nvSpPr>
        <p:spPr>
          <a:xfrm>
            <a:off x="457200" y="2486025"/>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2</a:t>
            </a:r>
            <a:endParaRPr sz="1875" b="1">
              <a:solidFill>
                <a:srgbClr val="FFFFFF"/>
              </a:solidFill>
            </a:endParaRPr>
          </a:p>
        </p:txBody>
      </p:sp>
      <p:sp>
        <p:nvSpPr>
          <p:cNvPr id="9" name="矩形 8"/>
          <p:cNvSpPr>
            <a:spLocks noGrp="1"/>
          </p:cNvSpPr>
          <p:nvPr/>
        </p:nvSpPr>
        <p:spPr>
          <a:xfrm>
            <a:off x="1123950" y="2390775"/>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Days 1–3, US open</a:t>
            </a:r>
            <a:endParaRPr sz="1875" b="1">
              <a:solidFill>
                <a:srgbClr val="0A2A8C"/>
              </a:solidFill>
            </a:endParaRPr>
          </a:p>
        </p:txBody>
      </p:sp>
      <p:sp>
        <p:nvSpPr>
          <p:cNvPr id="10" name="矩形 9"/>
          <p:cNvSpPr>
            <a:spLocks noGrp="1"/>
          </p:cNvSpPr>
          <p:nvPr/>
        </p:nvSpPr>
        <p:spPr>
          <a:xfrm>
            <a:off x="1123950" y="2790825"/>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At each open, move the entire current V2 TQQQ target to UVXY.</a:t>
            </a:r>
            <a:endParaRPr sz="1650" b="0">
              <a:solidFill>
                <a:srgbClr val="1F1F1F"/>
              </a:solidFill>
            </a:endParaRPr>
          </a:p>
          <a:p>
            <a:pPr>
              <a:buNone/>
              <a:defRPr sz="1650" b="0">
                <a:solidFill>
                  <a:srgbClr val="1F1F1F"/>
                </a:solidFill>
              </a:defRPr>
            </a:pPr>
            <a:r>
              <a:rPr sz="1650" b="0">
                <a:solidFill>
                  <a:srgbClr val="1F1F1F"/>
                </a:solidFill>
              </a:rPr>
              <a:t>Keep other target weights unchanged.</a:t>
            </a:r>
            <a:endParaRPr sz="1650" b="0">
              <a:solidFill>
                <a:srgbClr val="1F1F1F"/>
              </a:solidFill>
            </a:endParaRPr>
          </a:p>
        </p:txBody>
      </p:sp>
      <p:sp>
        <p:nvSpPr>
          <p:cNvPr id="11" name="椭圆 10"/>
          <p:cNvSpPr>
            <a:spLocks noGrp="1"/>
          </p:cNvSpPr>
          <p:nvPr/>
        </p:nvSpPr>
        <p:spPr>
          <a:xfrm>
            <a:off x="457200" y="3638550"/>
            <a:ext cx="447675" cy="447675"/>
          </a:xfrm>
          <a:prstGeom prst="ellipse">
            <a:avLst/>
          </a:prstGeom>
          <a:solidFill>
            <a:srgbClr val="E8851A"/>
          </a:solidFill>
          <a:ln w="0">
            <a:noFill/>
          </a:ln>
        </p:spPr>
        <p:txBody>
          <a:bodyPr anchor="ctr"/>
          <a:lstStyle>
            <a:lvl1pPr algn="ctr">
              <a:buNone/>
              <a:defRPr sz="1875" b="1">
                <a:solidFill>
                  <a:srgbClr val="FFFFFF"/>
                </a:solidFill>
              </a:defRPr>
            </a:lvl1pPr>
            <a:lvl2pPr algn="ctr">
              <a:buNone/>
              <a:defRPr sz="1875" b="1">
                <a:solidFill>
                  <a:srgbClr val="FFFFFF"/>
                </a:solidFill>
              </a:defRPr>
            </a:lvl2pPr>
            <a:lvl3pPr algn="ctr">
              <a:buNone/>
              <a:defRPr sz="1875" b="1">
                <a:solidFill>
                  <a:srgbClr val="FFFFFF"/>
                </a:solidFill>
              </a:defRPr>
            </a:lvl3pPr>
            <a:lvl4pPr algn="ctr">
              <a:buNone/>
              <a:defRPr sz="1875" b="1">
                <a:solidFill>
                  <a:srgbClr val="FFFFFF"/>
                </a:solidFill>
              </a:defRPr>
            </a:lvl4pPr>
            <a:lvl5pPr algn="ctr">
              <a:buNone/>
              <a:defRPr sz="1875" b="1">
                <a:solidFill>
                  <a:srgbClr val="FFFFFF"/>
                </a:solidFill>
              </a:defRPr>
            </a:lvl5pPr>
            <a:lvl6pPr algn="ctr">
              <a:buNone/>
              <a:defRPr sz="1875" b="1">
                <a:solidFill>
                  <a:srgbClr val="FFFFFF"/>
                </a:solidFill>
              </a:defRPr>
            </a:lvl6pPr>
            <a:lvl7pPr algn="ctr">
              <a:buNone/>
              <a:defRPr sz="1875" b="1">
                <a:solidFill>
                  <a:srgbClr val="FFFFFF"/>
                </a:solidFill>
              </a:defRPr>
            </a:lvl7pPr>
            <a:lvl8pPr algn="ctr">
              <a:buNone/>
              <a:defRPr sz="1875" b="1">
                <a:solidFill>
                  <a:srgbClr val="FFFFFF"/>
                </a:solidFill>
              </a:defRPr>
            </a:lvl8pPr>
            <a:lvl9pPr algn="ctr">
              <a:buNone/>
              <a:defRPr sz="1875" b="1">
                <a:solidFill>
                  <a:srgbClr val="FFFFFF"/>
                </a:solidFill>
              </a:defRPr>
            </a:lvl9pPr>
          </a:lstStyle>
          <a:p>
            <a:pPr algn="ctr">
              <a:buNone/>
              <a:defRPr sz="1875" b="1">
                <a:solidFill>
                  <a:srgbClr val="FFFFFF"/>
                </a:solidFill>
              </a:defRPr>
            </a:pPr>
            <a:r>
              <a:rPr sz="1875" b="1">
                <a:solidFill>
                  <a:srgbClr val="FFFFFF"/>
                </a:solidFill>
              </a:rPr>
              <a:t>3</a:t>
            </a:r>
            <a:endParaRPr sz="1875" b="1">
              <a:solidFill>
                <a:srgbClr val="FFFFFF"/>
              </a:solidFill>
            </a:endParaRPr>
          </a:p>
        </p:txBody>
      </p:sp>
      <p:sp>
        <p:nvSpPr>
          <p:cNvPr id="12" name="矩形 11"/>
          <p:cNvSpPr>
            <a:spLocks noGrp="1"/>
          </p:cNvSpPr>
          <p:nvPr/>
        </p:nvSpPr>
        <p:spPr>
          <a:xfrm>
            <a:off x="1123950" y="3543300"/>
            <a:ext cx="7562850" cy="342900"/>
          </a:xfrm>
          <a:prstGeom prst="rect">
            <a:avLst/>
          </a:prstGeom>
          <a:noFill/>
          <a:ln w="0">
            <a:noFill/>
          </a:ln>
        </p:spPr>
        <p:txBody>
          <a:bodyPr anchor="ctr"/>
          <a:lstStyle>
            <a:lvl1pPr>
              <a:buNone/>
              <a:defRPr sz="1875" b="1">
                <a:solidFill>
                  <a:srgbClr val="0A2A8C"/>
                </a:solidFill>
              </a:defRPr>
            </a:lvl1pPr>
            <a:lvl2pPr>
              <a:buNone/>
              <a:defRPr sz="1875" b="1">
                <a:solidFill>
                  <a:srgbClr val="0A2A8C"/>
                </a:solidFill>
              </a:defRPr>
            </a:lvl2pPr>
            <a:lvl3pPr>
              <a:buNone/>
              <a:defRPr sz="1875" b="1">
                <a:solidFill>
                  <a:srgbClr val="0A2A8C"/>
                </a:solidFill>
              </a:defRPr>
            </a:lvl3pPr>
            <a:lvl4pPr>
              <a:buNone/>
              <a:defRPr sz="1875" b="1">
                <a:solidFill>
                  <a:srgbClr val="0A2A8C"/>
                </a:solidFill>
              </a:defRPr>
            </a:lvl4pPr>
            <a:lvl5pPr>
              <a:buNone/>
              <a:defRPr sz="1875" b="1">
                <a:solidFill>
                  <a:srgbClr val="0A2A8C"/>
                </a:solidFill>
              </a:defRPr>
            </a:lvl5pPr>
            <a:lvl6pPr>
              <a:buNone/>
              <a:defRPr sz="1875" b="1">
                <a:solidFill>
                  <a:srgbClr val="0A2A8C"/>
                </a:solidFill>
              </a:defRPr>
            </a:lvl6pPr>
            <a:lvl7pPr>
              <a:buNone/>
              <a:defRPr sz="1875" b="1">
                <a:solidFill>
                  <a:srgbClr val="0A2A8C"/>
                </a:solidFill>
              </a:defRPr>
            </a:lvl7pPr>
            <a:lvl8pPr>
              <a:buNone/>
              <a:defRPr sz="1875" b="1">
                <a:solidFill>
                  <a:srgbClr val="0A2A8C"/>
                </a:solidFill>
              </a:defRPr>
            </a:lvl8pPr>
            <a:lvl9pPr>
              <a:buNone/>
              <a:defRPr sz="1875" b="1">
                <a:solidFill>
                  <a:srgbClr val="0A2A8C"/>
                </a:solidFill>
              </a:defRPr>
            </a:lvl9pPr>
          </a:lstStyle>
          <a:p>
            <a:pPr>
              <a:buNone/>
              <a:defRPr sz="1875" b="1">
                <a:solidFill>
                  <a:srgbClr val="0A2A8C"/>
                </a:solidFill>
              </a:defRPr>
            </a:pPr>
            <a:r>
              <a:rPr sz="1875" b="1">
                <a:solidFill>
                  <a:srgbClr val="0A2A8C"/>
                </a:solidFill>
              </a:rPr>
              <a:t>Day 3, US close</a:t>
            </a:r>
            <a:endParaRPr sz="1875" b="1">
              <a:solidFill>
                <a:srgbClr val="0A2A8C"/>
              </a:solidFill>
            </a:endParaRPr>
          </a:p>
        </p:txBody>
      </p:sp>
      <p:sp>
        <p:nvSpPr>
          <p:cNvPr id="13" name="矩形 12"/>
          <p:cNvSpPr>
            <a:spLocks noGrp="1"/>
          </p:cNvSpPr>
          <p:nvPr/>
        </p:nvSpPr>
        <p:spPr>
          <a:xfrm>
            <a:off x="1123950" y="3943350"/>
            <a:ext cx="7562850" cy="638175"/>
          </a:xfrm>
          <a:prstGeom prst="rect">
            <a:avLst/>
          </a:prstGeom>
          <a:noFill/>
          <a:ln w="0">
            <a:noFill/>
          </a:ln>
        </p:spPr>
        <p:txBody>
          <a:bodyPr anchor="ctr"/>
          <a:lstStyle>
            <a:lvl1pPr>
              <a:buNone/>
              <a:defRPr sz="1650" b="0">
                <a:solidFill>
                  <a:srgbClr val="1F1F1F"/>
                </a:solidFill>
              </a:defRPr>
            </a:lvl1pPr>
            <a:lvl2pPr>
              <a:buNone/>
              <a:defRPr sz="1650" b="0">
                <a:solidFill>
                  <a:srgbClr val="1F1F1F"/>
                </a:solidFill>
              </a:defRPr>
            </a:lvl2pPr>
            <a:lvl3pPr>
              <a:buNone/>
              <a:defRPr sz="1650" b="0">
                <a:solidFill>
                  <a:srgbClr val="1F1F1F"/>
                </a:solidFill>
              </a:defRPr>
            </a:lvl3pPr>
            <a:lvl4pPr>
              <a:buNone/>
              <a:defRPr sz="1650" b="0">
                <a:solidFill>
                  <a:srgbClr val="1F1F1F"/>
                </a:solidFill>
              </a:defRPr>
            </a:lvl4pPr>
            <a:lvl5pPr>
              <a:buNone/>
              <a:defRPr sz="1650" b="0">
                <a:solidFill>
                  <a:srgbClr val="1F1F1F"/>
                </a:solidFill>
              </a:defRPr>
            </a:lvl5pPr>
            <a:lvl6pPr>
              <a:buNone/>
              <a:defRPr sz="1650" b="0">
                <a:solidFill>
                  <a:srgbClr val="1F1F1F"/>
                </a:solidFill>
              </a:defRPr>
            </a:lvl6pPr>
            <a:lvl7pPr>
              <a:buNone/>
              <a:defRPr sz="1650" b="0">
                <a:solidFill>
                  <a:srgbClr val="1F1F1F"/>
                </a:solidFill>
              </a:defRPr>
            </a:lvl7pPr>
            <a:lvl8pPr>
              <a:buNone/>
              <a:defRPr sz="1650" b="0">
                <a:solidFill>
                  <a:srgbClr val="1F1F1F"/>
                </a:solidFill>
              </a:defRPr>
            </a:lvl8pPr>
            <a:lvl9pPr>
              <a:buNone/>
              <a:defRPr sz="1650" b="0">
                <a:solidFill>
                  <a:srgbClr val="1F1F1F"/>
                </a:solidFill>
              </a:defRPr>
            </a:lvl9pPr>
          </a:lstStyle>
          <a:p>
            <a:pPr>
              <a:buNone/>
              <a:defRPr sz="1650" b="0">
                <a:solidFill>
                  <a:srgbClr val="1F1F1F"/>
                </a:solidFill>
              </a:defRPr>
            </a:pPr>
            <a:r>
              <a:rPr sz="1650" b="0">
                <a:solidFill>
                  <a:srgbClr val="1F1F1F"/>
                </a:solidFill>
              </a:rPr>
              <a:t>Restore the baseline V2 target known before that day’s open.</a:t>
            </a:r>
            <a:endParaRPr sz="1650" b="0">
              <a:solidFill>
                <a:srgbClr val="1F1F1F"/>
              </a:solidFill>
            </a:endParaRPr>
          </a:p>
          <a:p>
            <a:pPr>
              <a:buNone/>
              <a:defRPr sz="1650" b="0">
                <a:solidFill>
                  <a:srgbClr val="1F1F1F"/>
                </a:solidFill>
              </a:defRPr>
            </a:pPr>
            <a:r>
              <a:rPr sz="1650" b="0">
                <a:solidFill>
                  <a:srgbClr val="1F1F1F"/>
                </a:solidFill>
              </a:rPr>
              <a:t>Keep any UVXY that baseline V2 requires.</a:t>
            </a:r>
            <a:endParaRPr sz="1650" b="0">
              <a:solidFill>
                <a:srgbClr val="1F1F1F"/>
              </a:solidFill>
            </a:endParaRPr>
          </a:p>
        </p:txBody>
      </p:sp>
      <p:sp>
        <p:nvSpPr>
          <p:cNvPr id="14" name="圆角矩形 13"/>
          <p:cNvSpPr>
            <a:spLocks noGrp="1"/>
          </p:cNvSpPr>
          <p:nvPr/>
        </p:nvSpPr>
        <p:spPr>
          <a:xfrm>
            <a:off x="457200" y="4876800"/>
            <a:ext cx="8229600" cy="1000125"/>
          </a:xfrm>
          <a:prstGeom prst="roundRect">
            <a:avLst>
              <a:gd name="adj" fmla="val 7619"/>
            </a:avLst>
          </a:prstGeom>
          <a:solidFill>
            <a:srgbClr val="EEF3F9"/>
          </a:solidFill>
          <a:ln w="0">
            <a:noFill/>
          </a:ln>
        </p:spPr>
        <p:txBody>
          <a:bodyPr anchor="ctr"/>
          <a:lstStyle>
            <a:lvl1pPr>
              <a:buNone/>
              <a:defRPr sz="1650" b="0">
                <a:solidFill>
                  <a:srgbClr val="0A2A8C"/>
                </a:solidFill>
              </a:defRPr>
            </a:lvl1pPr>
            <a:lvl2pPr>
              <a:buNone/>
              <a:defRPr sz="1650" b="0">
                <a:solidFill>
                  <a:srgbClr val="0A2A8C"/>
                </a:solidFill>
              </a:defRPr>
            </a:lvl2pPr>
            <a:lvl3pPr>
              <a:buNone/>
              <a:defRPr sz="1650" b="0">
                <a:solidFill>
                  <a:srgbClr val="0A2A8C"/>
                </a:solidFill>
              </a:defRPr>
            </a:lvl3pPr>
            <a:lvl4pPr>
              <a:buNone/>
              <a:defRPr sz="1650" b="0">
                <a:solidFill>
                  <a:srgbClr val="0A2A8C"/>
                </a:solidFill>
              </a:defRPr>
            </a:lvl4pPr>
            <a:lvl5pPr>
              <a:buNone/>
              <a:defRPr sz="1650" b="0">
                <a:solidFill>
                  <a:srgbClr val="0A2A8C"/>
                </a:solidFill>
              </a:defRPr>
            </a:lvl5pPr>
            <a:lvl6pPr>
              <a:buNone/>
              <a:defRPr sz="1650" b="0">
                <a:solidFill>
                  <a:srgbClr val="0A2A8C"/>
                </a:solidFill>
              </a:defRPr>
            </a:lvl6pPr>
            <a:lvl7pPr>
              <a:buNone/>
              <a:defRPr sz="1650" b="0">
                <a:solidFill>
                  <a:srgbClr val="0A2A8C"/>
                </a:solidFill>
              </a:defRPr>
            </a:lvl7pPr>
            <a:lvl8pPr>
              <a:buNone/>
              <a:defRPr sz="1650" b="0">
                <a:solidFill>
                  <a:srgbClr val="0A2A8C"/>
                </a:solidFill>
              </a:defRPr>
            </a:lvl8pPr>
            <a:lvl9pPr>
              <a:buNone/>
              <a:defRPr sz="1650" b="0">
                <a:solidFill>
                  <a:srgbClr val="0A2A8C"/>
                </a:solidFill>
              </a:defRPr>
            </a:lvl9pPr>
          </a:lstStyle>
          <a:p>
            <a:pPr>
              <a:buNone/>
              <a:defRPr sz="1650" b="0">
                <a:solidFill>
                  <a:srgbClr val="0A2A8C"/>
                </a:solidFill>
              </a:defRPr>
            </a:pPr>
            <a:r>
              <a:rPr sz="1650" b="0">
                <a:solidFill>
                  <a:srgbClr val="0A2A8C"/>
                </a:solidFill>
              </a:rPr>
              <a:t>Example: US-account target weights</a:t>
            </a:r>
            <a:endParaRPr sz="1650" b="0">
              <a:solidFill>
                <a:srgbClr val="0A2A8C"/>
              </a:solidFill>
            </a:endParaRPr>
          </a:p>
          <a:p>
            <a:pPr>
              <a:buNone/>
              <a:defRPr sz="1650" b="0">
                <a:solidFill>
                  <a:srgbClr val="0A2A8C"/>
                </a:solidFill>
              </a:defRPr>
            </a:pPr>
            <a:r>
              <a:rPr sz="1650" b="0">
                <a:solidFill>
                  <a:srgbClr val="0A2A8C"/>
                </a:solidFill>
              </a:rPr>
              <a:t>V2: TQQQ 50% / UVXY 10% / BSV 40%</a:t>
            </a:r>
            <a:endParaRPr sz="1650" b="0">
              <a:solidFill>
                <a:srgbClr val="0A2A8C"/>
              </a:solidFill>
            </a:endParaRPr>
          </a:p>
          <a:p>
            <a:pPr>
              <a:buNone/>
              <a:defRPr sz="1650" b="0">
                <a:solidFill>
                  <a:srgbClr val="0A2A8C"/>
                </a:solidFill>
              </a:defRPr>
            </a:pPr>
            <a:r>
              <a:rPr sz="1650" b="0">
                <a:solidFill>
                  <a:srgbClr val="0A2A8C"/>
                </a:solidFill>
              </a:rPr>
              <a:t>Overlay: TQQQ 0% / UVXY 60% / BSV 40%</a:t>
            </a:r>
            <a:endParaRPr sz="1650" b="0">
              <a:solidFill>
                <a:srgbClr val="0A2A8C"/>
              </a:solidFill>
            </a:endParaRPr>
          </a:p>
        </p:txBody>
      </p:sp>
      <p:sp>
        <p:nvSpPr>
          <p:cNvPr id="15" name="矩形 14"/>
          <p:cNvSpPr>
            <a:spLocks noGrp="1"/>
          </p:cNvSpPr>
          <p:nvPr/>
        </p:nvSpPr>
        <p:spPr>
          <a:xfrm>
            <a:off x="457200" y="5962650"/>
            <a:ext cx="8229600" cy="352425"/>
          </a:xfrm>
          <a:prstGeom prst="rect">
            <a:avLst/>
          </a:prstGeom>
          <a:noFill/>
          <a:ln w="0">
            <a:noFill/>
          </a:ln>
        </p:spPr>
        <p:txBody>
          <a:bodyPr anchor="ctr"/>
          <a:lstStyle>
            <a:lvl1pPr>
              <a:buNone/>
              <a:defRPr sz="1200" b="0">
                <a:solidFill>
                  <a:srgbClr val="7A5CC2"/>
                </a:solidFill>
              </a:defRPr>
            </a:lvl1pPr>
            <a:lvl2pPr>
              <a:buNone/>
              <a:defRPr sz="1200" b="0">
                <a:solidFill>
                  <a:srgbClr val="7A5CC2"/>
                </a:solidFill>
              </a:defRPr>
            </a:lvl2pPr>
            <a:lvl3pPr>
              <a:buNone/>
              <a:defRPr sz="1200" b="0">
                <a:solidFill>
                  <a:srgbClr val="7A5CC2"/>
                </a:solidFill>
              </a:defRPr>
            </a:lvl3pPr>
            <a:lvl4pPr>
              <a:buNone/>
              <a:defRPr sz="1200" b="0">
                <a:solidFill>
                  <a:srgbClr val="7A5CC2"/>
                </a:solidFill>
              </a:defRPr>
            </a:lvl4pPr>
            <a:lvl5pPr>
              <a:buNone/>
              <a:defRPr sz="1200" b="0">
                <a:solidFill>
                  <a:srgbClr val="7A5CC2"/>
                </a:solidFill>
              </a:defRPr>
            </a:lvl5pPr>
            <a:lvl6pPr>
              <a:buNone/>
              <a:defRPr sz="1200" b="0">
                <a:solidFill>
                  <a:srgbClr val="7A5CC2"/>
                </a:solidFill>
              </a:defRPr>
            </a:lvl6pPr>
            <a:lvl7pPr>
              <a:buNone/>
              <a:defRPr sz="1200" b="0">
                <a:solidFill>
                  <a:srgbClr val="7A5CC2"/>
                </a:solidFill>
              </a:defRPr>
            </a:lvl7pPr>
            <a:lvl8pPr>
              <a:buNone/>
              <a:defRPr sz="1200" b="0">
                <a:solidFill>
                  <a:srgbClr val="7A5CC2"/>
                </a:solidFill>
              </a:defRPr>
            </a:lvl8pPr>
            <a:lvl9pPr>
              <a:buNone/>
              <a:defRPr sz="1200" b="0">
                <a:solidFill>
                  <a:srgbClr val="7A5CC2"/>
                </a:solidFill>
              </a:defRPr>
            </a:lvl9pPr>
          </a:lstStyle>
          <a:p>
            <a:pPr>
              <a:buNone/>
              <a:defRPr sz="1200" b="0">
                <a:solidFill>
                  <a:srgbClr val="7A5CC2"/>
                </a:solidFill>
              </a:defRPr>
            </a:pPr>
            <a:endParaRPr sz="1200" b="0">
              <a:solidFill>
                <a:srgbClr val="7A5CC2"/>
              </a:solidFill>
            </a:endParaRPr>
          </a:p>
        </p:txBody>
      </p:sp>
    </p:spTree>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ph type="title" idx="102" hasCustomPrompt="1"/>
          </p:nvPr>
        </p:nvSpPr>
        <p:spPr>
          <a:xfrm>
            <a:off x="731520" y="2377440"/>
            <a:ext cx="7680960" cy="1097280"/>
          </a:xfrm>
          <a:prstGeom prst="rect">
            <a:avLst/>
          </a:prstGeom>
          <a:noFill/>
        </p:spPr>
        <p:txBody>
          <a:bodyPr wrap="square" rtlCol="0" anchor="ctr"/>
          <a:lstStyle/>
          <a:p>
            <a:pPr marL="0" indent="0" algn="ctr">
              <a:buNone/>
            </a:pPr>
            <a:r>
              <a:rPr>
                <a:sym typeface="+mn-ea"/>
              </a:rPr>
              <a:t>US V1 &amp; V2: Risk Controls</a:t>
            </a:r>
            <a:endParaRPr lang="en-US" altLang="zh-CN" sz="4000" b="1" dirty="0">
              <a:solidFill>
                <a:schemeClr val="bg1"/>
              </a:solidFill>
            </a:endParaRPr>
          </a:p>
        </p:txBody>
      </p:sp>
    </p:spTree>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p:nvPr>
            <p:ph type="title" idx="103" hasCustomPrompt="1"/>
          </p:nvPr>
        </p:nvSpPr>
        <p:spPr>
          <a:xfrm>
            <a:off x="411480" y="194945"/>
            <a:ext cx="8510905" cy="777240"/>
          </a:xfrm>
          <a:prstGeom prst="rect">
            <a:avLst/>
          </a:prstGeom>
          <a:noFill/>
        </p:spPr>
        <p:txBody>
          <a:bodyPr wrap="square" lIns="0" tIns="0" rIns="0" bIns="0" rtlCol="0" anchor="ctr"/>
          <a:lstStyle/>
          <a:p>
            <a:pPr>
              <a:defRPr sz="2800"/>
            </a:pPr>
            <a:r>
              <a:rPr sz="3200"/>
              <a:t>US Strategy | From Signals to Risk Control</a:t>
            </a:r>
            <a:endParaRPr sz="3200"/>
          </a:p>
        </p:txBody>
      </p:sp>
      <p:sp>
        <p:nvSpPr>
          <p:cNvPr id="3" name="TextBox 2"/>
          <p:cNvSpPr txBox="1"/>
          <p:nvPr/>
        </p:nvSpPr>
        <p:spPr>
          <a:xfrm>
            <a:off x="502920" y="996696"/>
            <a:ext cx="8046720" cy="310896"/>
          </a:xfrm>
          <a:prstGeom prst="rect">
            <a:avLst/>
          </a:prstGeom>
          <a:noFill/>
        </p:spPr>
        <p:txBody>
          <a:bodyPr wrap="square" lIns="27432" tIns="13716" bIns="0">
            <a:spAutoFit/>
          </a:bodyPr>
          <a:lstStyle/>
          <a:p>
            <a:pPr>
              <a:defRPr sz="1300" b="0">
                <a:solidFill>
                  <a:srgbClr val="52687C"/>
                </a:solidFill>
                <a:latin typeface="Arial" panose="020B0604020202020204"/>
              </a:defRPr>
            </a:pPr>
            <a:r>
              <a:t>Three decisions: what to buy  →  how to allocate  →  how much risk to take</a:t>
            </a:r>
          </a:p>
        </p:txBody>
      </p:sp>
      <p:sp>
        <p:nvSpPr>
          <p:cNvPr id="4" name="Rounded Rectangle 3"/>
          <p:cNvSpPr/>
          <p:nvPr/>
        </p:nvSpPr>
        <p:spPr>
          <a:xfrm>
            <a:off x="502920"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30936"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20204"/>
              </a:defRPr>
            </a:pPr>
            <a:r>
              <a:t>V0  ·  SIGNAL</a:t>
            </a:r>
          </a:p>
        </p:txBody>
      </p:sp>
      <p:sp>
        <p:nvSpPr>
          <p:cNvPr id="6" name="TextBox 5"/>
          <p:cNvSpPr txBox="1"/>
          <p:nvPr/>
        </p:nvSpPr>
        <p:spPr>
          <a:xfrm>
            <a:off x="630936" y="2002536"/>
            <a:ext cx="2340864" cy="256032"/>
          </a:xfrm>
          <a:prstGeom prst="rect">
            <a:avLst/>
          </a:prstGeom>
          <a:noFill/>
        </p:spPr>
        <p:txBody>
          <a:bodyPr wrap="square" lIns="27432" tIns="13716" bIns="0">
            <a:spAutoFit/>
          </a:bodyPr>
          <a:lstStyle/>
          <a:p>
            <a:pPr>
              <a:defRPr sz="1200" b="1">
                <a:solidFill>
                  <a:srgbClr val="122F4F"/>
                </a:solidFill>
                <a:latin typeface="Arial" panose="020B0604020202020204"/>
              </a:defRPr>
            </a:pPr>
            <a:r>
              <a:t>6,336 parameter votes</a:t>
            </a:r>
          </a:p>
        </p:txBody>
      </p:sp>
      <p:sp>
        <p:nvSpPr>
          <p:cNvPr id="7" name="TextBox 6"/>
          <p:cNvSpPr txBox="1"/>
          <p:nvPr/>
        </p:nvSpPr>
        <p:spPr>
          <a:xfrm>
            <a:off x="630936" y="2350008"/>
            <a:ext cx="2340864" cy="246888"/>
          </a:xfrm>
          <a:prstGeom prst="rect">
            <a:avLst/>
          </a:prstGeom>
          <a:noFill/>
        </p:spPr>
        <p:txBody>
          <a:bodyPr wrap="square" lIns="27432" tIns="13716" bIns="0">
            <a:spAutoFit/>
          </a:bodyPr>
          <a:lstStyle/>
          <a:p>
            <a:pPr>
              <a:defRPr sz="1100" b="0">
                <a:solidFill>
                  <a:srgbClr val="52687C"/>
                </a:solidFill>
                <a:latin typeface="Arial" panose="020B0604020202020204"/>
              </a:defRPr>
            </a:pPr>
            <a:r>
              <a:t>TQQQ concentration risk</a:t>
            </a:r>
          </a:p>
        </p:txBody>
      </p:sp>
      <p:sp>
        <p:nvSpPr>
          <p:cNvPr id="8" name="Rounded Rectangle 7"/>
          <p:cNvSpPr/>
          <p:nvPr/>
        </p:nvSpPr>
        <p:spPr>
          <a:xfrm>
            <a:off x="3264408"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9" name="TextBox 8"/>
          <p:cNvSpPr txBox="1"/>
          <p:nvPr/>
        </p:nvSpPr>
        <p:spPr>
          <a:xfrm>
            <a:off x="3392424"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20204"/>
              </a:defRPr>
            </a:pPr>
            <a:r>
              <a:t>V1  ·  REWEIGHT</a:t>
            </a:r>
          </a:p>
        </p:txBody>
      </p:sp>
      <p:sp>
        <p:nvSpPr>
          <p:cNvPr id="10" name="TextBox 9"/>
          <p:cNvSpPr txBox="1"/>
          <p:nvPr/>
        </p:nvSpPr>
        <p:spPr>
          <a:xfrm>
            <a:off x="3358515" y="2002790"/>
            <a:ext cx="2522855" cy="197485"/>
          </a:xfrm>
          <a:prstGeom prst="rect">
            <a:avLst/>
          </a:prstGeom>
          <a:noFill/>
        </p:spPr>
        <p:txBody>
          <a:bodyPr wrap="square" lIns="27432" tIns="13716" bIns="0">
            <a:spAutoFit/>
          </a:bodyPr>
          <a:lstStyle/>
          <a:p>
            <a:pPr>
              <a:defRPr sz="1200" b="1">
                <a:solidFill>
                  <a:srgbClr val="122F4F"/>
                </a:solidFill>
                <a:latin typeface="Arial" panose="020B0604020202020204"/>
              </a:defRPr>
            </a:pPr>
            <a:r>
              <a:t>60-day inverse volatility</a:t>
            </a:r>
            <a:r>
              <a:rPr lang="en-US"/>
              <a:t> </a:t>
            </a:r>
            <a:r>
              <a:rPr lang="en-US"/>
              <a:t>reweight</a:t>
            </a:r>
            <a:endParaRPr lang="en-US"/>
          </a:p>
        </p:txBody>
      </p:sp>
      <p:sp>
        <p:nvSpPr>
          <p:cNvPr id="11" name="TextBox 10"/>
          <p:cNvSpPr txBox="1"/>
          <p:nvPr/>
        </p:nvSpPr>
        <p:spPr>
          <a:xfrm>
            <a:off x="3385439" y="2338578"/>
            <a:ext cx="2340864" cy="246888"/>
          </a:xfrm>
          <a:prstGeom prst="rect">
            <a:avLst/>
          </a:prstGeom>
          <a:noFill/>
        </p:spPr>
        <p:txBody>
          <a:bodyPr wrap="square" lIns="27432" tIns="13716" bIns="0">
            <a:spAutoFit/>
          </a:bodyPr>
          <a:lstStyle/>
          <a:p>
            <a:pPr>
              <a:defRPr sz="1100" b="0">
                <a:solidFill>
                  <a:srgbClr val="52687C"/>
                </a:solidFill>
                <a:latin typeface="Arial" panose="020B0604020202020204"/>
              </a:defRPr>
            </a:pPr>
            <a:r>
              <a:t>Can still hold 100% TQQQ</a:t>
            </a:r>
          </a:p>
        </p:txBody>
      </p:sp>
      <p:sp>
        <p:nvSpPr>
          <p:cNvPr id="12" name="Rounded Rectangle 11"/>
          <p:cNvSpPr/>
          <p:nvPr/>
        </p:nvSpPr>
        <p:spPr>
          <a:xfrm>
            <a:off x="6025896" y="1444752"/>
            <a:ext cx="2606040" cy="1234440"/>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3" name="TextBox 12"/>
          <p:cNvSpPr txBox="1"/>
          <p:nvPr/>
        </p:nvSpPr>
        <p:spPr>
          <a:xfrm>
            <a:off x="6153912" y="1627632"/>
            <a:ext cx="2331720" cy="292608"/>
          </a:xfrm>
          <a:prstGeom prst="rect">
            <a:avLst/>
          </a:prstGeom>
          <a:noFill/>
        </p:spPr>
        <p:txBody>
          <a:bodyPr wrap="square" lIns="27432" tIns="13716" bIns="0">
            <a:spAutoFit/>
          </a:bodyPr>
          <a:lstStyle/>
          <a:p>
            <a:pPr>
              <a:defRPr sz="1400" b="1">
                <a:solidFill>
                  <a:srgbClr val="107D8B"/>
                </a:solidFill>
                <a:latin typeface="Arial" panose="020B0604020202020204"/>
              </a:defRPr>
            </a:pPr>
            <a:r>
              <a:t>V2  ·  RISK BUDGET</a:t>
            </a:r>
          </a:p>
        </p:txBody>
      </p:sp>
      <p:sp>
        <p:nvSpPr>
          <p:cNvPr id="14" name="TextBox 13"/>
          <p:cNvSpPr txBox="1"/>
          <p:nvPr/>
        </p:nvSpPr>
        <p:spPr>
          <a:xfrm>
            <a:off x="6153912" y="2002536"/>
            <a:ext cx="2340864" cy="256032"/>
          </a:xfrm>
          <a:prstGeom prst="rect">
            <a:avLst/>
          </a:prstGeom>
          <a:noFill/>
        </p:spPr>
        <p:txBody>
          <a:bodyPr wrap="square" lIns="27432" tIns="13716" bIns="0">
            <a:spAutoFit/>
          </a:bodyPr>
          <a:lstStyle/>
          <a:p>
            <a:pPr>
              <a:defRPr sz="1200" b="1">
                <a:solidFill>
                  <a:srgbClr val="122F4F"/>
                </a:solidFill>
                <a:latin typeface="Arial" panose="020B0604020202020204"/>
              </a:defRPr>
            </a:pPr>
            <a:r>
              <a:t>30% annual volatility target</a:t>
            </a:r>
          </a:p>
        </p:txBody>
      </p:sp>
      <p:sp>
        <p:nvSpPr>
          <p:cNvPr id="15" name="TextBox 14"/>
          <p:cNvSpPr txBox="1"/>
          <p:nvPr/>
        </p:nvSpPr>
        <p:spPr>
          <a:xfrm>
            <a:off x="6153912" y="2350008"/>
            <a:ext cx="2340864" cy="246888"/>
          </a:xfrm>
          <a:prstGeom prst="rect">
            <a:avLst/>
          </a:prstGeom>
          <a:noFill/>
        </p:spPr>
        <p:txBody>
          <a:bodyPr wrap="square" lIns="27432" tIns="13716" bIns="0">
            <a:spAutoFit/>
          </a:bodyPr>
          <a:lstStyle/>
          <a:p>
            <a:pPr>
              <a:defRPr sz="1100" b="0">
                <a:solidFill>
                  <a:srgbClr val="52687C"/>
                </a:solidFill>
                <a:latin typeface="Arial" panose="020B0604020202020204"/>
              </a:defRPr>
            </a:pPr>
            <a:r>
              <a:t>Unallocated exposure → BSV</a:t>
            </a:r>
          </a:p>
        </p:txBody>
      </p:sp>
      <p:sp>
        <p:nvSpPr>
          <p:cNvPr id="16" name="Rounded Rectangle 15"/>
          <p:cNvSpPr/>
          <p:nvPr/>
        </p:nvSpPr>
        <p:spPr>
          <a:xfrm>
            <a:off x="502920" y="2953512"/>
            <a:ext cx="3913632" cy="1417320"/>
          </a:xfrm>
          <a:prstGeom prst="roundRect">
            <a:avLst/>
          </a:prstGeom>
          <a:solidFill>
            <a:srgbClr val="FFFFFF"/>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7" name="Rounded Rectangle 16"/>
          <p:cNvSpPr/>
          <p:nvPr/>
        </p:nvSpPr>
        <p:spPr>
          <a:xfrm>
            <a:off x="4599432" y="2953512"/>
            <a:ext cx="4023360" cy="1417320"/>
          </a:xfrm>
          <a:prstGeom prst="roundRect">
            <a:avLst/>
          </a:prstGeom>
          <a:solidFill>
            <a:srgbClr val="FFFFFF"/>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8" name="TextBox 17"/>
          <p:cNvSpPr txBox="1"/>
          <p:nvPr/>
        </p:nvSpPr>
        <p:spPr>
          <a:xfrm>
            <a:off x="685800" y="3004185"/>
            <a:ext cx="3729990" cy="198120"/>
          </a:xfrm>
          <a:prstGeom prst="rect">
            <a:avLst/>
          </a:prstGeom>
          <a:noFill/>
        </p:spPr>
        <p:txBody>
          <a:bodyPr wrap="square" lIns="27432" tIns="13716" bIns="0">
            <a:noAutofit/>
          </a:bodyPr>
          <a:lstStyle/>
          <a:p>
            <a:pPr>
              <a:defRPr sz="1300" b="1">
                <a:solidFill>
                  <a:srgbClr val="107D8B"/>
                </a:solidFill>
                <a:latin typeface="Arial" panose="020B0604020202020204"/>
              </a:defRPr>
            </a:pPr>
            <a:r>
              <a:rPr>
                <a:sym typeface="+mn-ea"/>
              </a:rPr>
              <a:t>STEP </a:t>
            </a:r>
            <a:r>
              <a:rPr lang="en-US">
                <a:sym typeface="+mn-ea"/>
              </a:rPr>
              <a:t>1</a:t>
            </a:r>
            <a:r>
              <a:rPr>
                <a:sym typeface="+mn-ea"/>
              </a:rPr>
              <a:t> · 60-day inverse volatility</a:t>
            </a:r>
            <a:r>
              <a:rPr lang="en-US">
                <a:sym typeface="+mn-ea"/>
              </a:rPr>
              <a:t> reweight</a:t>
            </a:r>
            <a:endParaRPr lang="en-US"/>
          </a:p>
          <a:p>
            <a:pPr>
              <a:defRPr sz="1300" b="1">
                <a:solidFill>
                  <a:srgbClr val="107D8B"/>
                </a:solidFill>
                <a:latin typeface="Arial" panose="020B0604020202020204"/>
              </a:defRPr>
            </a:pPr>
            <a:r>
              <a:t> </a:t>
            </a:r>
          </a:p>
        </p:txBody>
      </p:sp>
      <p:sp>
        <p:nvSpPr>
          <p:cNvPr id="20" name="TextBox 19"/>
          <p:cNvSpPr txBox="1"/>
          <p:nvPr/>
        </p:nvSpPr>
        <p:spPr>
          <a:xfrm>
            <a:off x="4782312" y="3007360"/>
            <a:ext cx="3657600" cy="274320"/>
          </a:xfrm>
          <a:prstGeom prst="rect">
            <a:avLst/>
          </a:prstGeom>
          <a:noFill/>
        </p:spPr>
        <p:txBody>
          <a:bodyPr wrap="square" lIns="27432" tIns="13716" bIns="0">
            <a:spAutoFit/>
          </a:bodyPr>
          <a:lstStyle/>
          <a:p>
            <a:pPr>
              <a:defRPr sz="1300" b="1">
                <a:solidFill>
                  <a:srgbClr val="107D8B"/>
                </a:solidFill>
                <a:latin typeface="Arial" panose="020B0604020202020204"/>
              </a:defRPr>
            </a:pPr>
            <a:r>
              <a:t>STEP 2 · Estimate V1 portfolio risk</a:t>
            </a:r>
          </a:p>
        </p:txBody>
      </p:sp>
      <p:sp>
        <p:nvSpPr>
          <p:cNvPr id="22" name="Rounded Rectangle 21"/>
          <p:cNvSpPr/>
          <p:nvPr/>
        </p:nvSpPr>
        <p:spPr>
          <a:xfrm>
            <a:off x="502920" y="4590288"/>
            <a:ext cx="8119872" cy="1207008"/>
          </a:xfrm>
          <a:prstGeom prst="roundRect">
            <a:avLst/>
          </a:prstGeom>
          <a:solidFill>
            <a:srgbClr val="F1F7FA"/>
          </a:solidFill>
          <a:ln>
            <a:solidFill>
              <a:srgbClr val="D6E2EB"/>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3" name="TextBox 22"/>
          <p:cNvSpPr txBox="1"/>
          <p:nvPr/>
        </p:nvSpPr>
        <p:spPr>
          <a:xfrm>
            <a:off x="676656" y="4754880"/>
            <a:ext cx="7589520" cy="256032"/>
          </a:xfrm>
          <a:prstGeom prst="rect">
            <a:avLst/>
          </a:prstGeom>
          <a:noFill/>
        </p:spPr>
        <p:txBody>
          <a:bodyPr wrap="square" lIns="27432" tIns="13716" bIns="0">
            <a:spAutoFit/>
          </a:bodyPr>
          <a:lstStyle/>
          <a:p>
            <a:pPr>
              <a:defRPr sz="1300" b="1">
                <a:solidFill>
                  <a:srgbClr val="107D8B"/>
                </a:solidFill>
                <a:latin typeface="Arial" panose="020B0604020202020204"/>
              </a:defRPr>
            </a:pPr>
            <a:r>
              <a:t>STEP 3 · Scale risky ETF exposure; put the residual into BSV</a:t>
            </a:r>
          </a:p>
        </p:txBody>
      </p:sp>
      <p:sp>
        <p:nvSpPr>
          <p:cNvPr id="26" name="TextBox 25"/>
          <p:cNvSpPr txBox="1"/>
          <p:nvPr/>
        </p:nvSpPr>
        <p:spPr>
          <a:xfrm>
            <a:off x="621792" y="5961888"/>
            <a:ext cx="8001000" cy="292608"/>
          </a:xfrm>
          <a:prstGeom prst="rect">
            <a:avLst/>
          </a:prstGeom>
          <a:noFill/>
        </p:spPr>
        <p:txBody>
          <a:bodyPr wrap="square" lIns="27432" tIns="13716" bIns="0">
            <a:spAutoFit/>
          </a:bodyPr>
          <a:lstStyle/>
          <a:p>
            <a:pPr algn="ctr">
              <a:defRPr sz="1200" b="1">
                <a:solidFill>
                  <a:srgbClr val="205B90"/>
                </a:solidFill>
                <a:latin typeface="Arial" panose="020B0604020202020204"/>
              </a:defRPr>
            </a:pPr>
            <a:r>
              <a:t>Example: 100% TQQQ at 60% estimated volatility  →  50% TQQQ + 50% BSV.</a:t>
            </a:r>
          </a:p>
        </p:txBody>
      </p:sp>
      <p:pic>
        <p:nvPicPr>
          <p:cNvPr id="29" name="334E55B0-647D-440b-865C-3EC943EB4CBC-1" descr="wpsoffice"/>
          <p:cNvPicPr>
            <a:picLocks noChangeAspect="1"/>
          </p:cNvPicPr>
          <p:nvPr/>
        </p:nvPicPr>
        <p:blipFill>
          <a:blip r:embed="rId1">
            <a:duotone>
              <a:schemeClr val="accent1">
                <a:shade val="45000"/>
                <a:satMod val="135000"/>
              </a:schemeClr>
              <a:prstClr val="white"/>
            </a:duotone>
          </a:blip>
          <a:stretch>
            <a:fillRect/>
          </a:stretch>
        </p:blipFill>
        <p:spPr>
          <a:xfrm>
            <a:off x="5022215" y="3531235"/>
            <a:ext cx="3177540" cy="468630"/>
          </a:xfrm>
          <a:prstGeom prst="rect">
            <a:avLst/>
          </a:prstGeom>
        </p:spPr>
      </p:pic>
      <p:pic>
        <p:nvPicPr>
          <p:cNvPr id="30" name="334E55B0-647D-440b-865C-3EC943EB4CBC-2" descr="wpsoffice"/>
          <p:cNvPicPr>
            <a:picLocks noChangeAspect="1"/>
          </p:cNvPicPr>
          <p:nvPr/>
        </p:nvPicPr>
        <p:blipFill>
          <a:blip r:embed="rId2">
            <a:duotone>
              <a:schemeClr val="accent1">
                <a:shade val="45000"/>
                <a:satMod val="135000"/>
              </a:schemeClr>
              <a:prstClr val="white"/>
            </a:duotone>
          </a:blip>
          <a:stretch>
            <a:fillRect/>
          </a:stretch>
        </p:blipFill>
        <p:spPr>
          <a:xfrm>
            <a:off x="1299845" y="5039995"/>
            <a:ext cx="2129155" cy="622935"/>
          </a:xfrm>
          <a:prstGeom prst="rect">
            <a:avLst/>
          </a:prstGeom>
        </p:spPr>
      </p:pic>
      <p:pic>
        <p:nvPicPr>
          <p:cNvPr id="31" name="334E55B0-647D-440b-865C-3EC943EB4CBC-3" descr="wpsoffice"/>
          <p:cNvPicPr>
            <a:picLocks noChangeAspect="1"/>
          </p:cNvPicPr>
          <p:nvPr/>
        </p:nvPicPr>
        <p:blipFill>
          <a:blip r:embed="rId3">
            <a:duotone>
              <a:schemeClr val="accent1">
                <a:shade val="45000"/>
                <a:satMod val="135000"/>
              </a:schemeClr>
              <a:prstClr val="white"/>
            </a:duotone>
          </a:blip>
          <a:stretch>
            <a:fillRect/>
          </a:stretch>
        </p:blipFill>
        <p:spPr>
          <a:xfrm>
            <a:off x="4599305" y="5190490"/>
            <a:ext cx="3127375" cy="333375"/>
          </a:xfrm>
          <a:prstGeom prst="rect">
            <a:avLst/>
          </a:prstGeom>
        </p:spPr>
      </p:pic>
      <p:pic>
        <p:nvPicPr>
          <p:cNvPr id="32" name="334E55B0-647D-440b-865C-3EC943EB4CBC-4" descr="wpsoffice"/>
          <p:cNvPicPr>
            <a:picLocks noChangeAspect="1"/>
          </p:cNvPicPr>
          <p:nvPr/>
        </p:nvPicPr>
        <p:blipFill>
          <a:blip r:embed="rId4">
            <a:duotone>
              <a:schemeClr val="accent1">
                <a:shade val="45000"/>
                <a:satMod val="135000"/>
              </a:schemeClr>
              <a:prstClr val="white"/>
            </a:duotone>
          </a:blip>
          <a:stretch>
            <a:fillRect/>
          </a:stretch>
        </p:blipFill>
        <p:spPr>
          <a:xfrm>
            <a:off x="1178560" y="3354070"/>
            <a:ext cx="2561590" cy="818515"/>
          </a:xfrm>
          <a:prstGeom prst="rect">
            <a:avLst/>
          </a:prstGeom>
        </p:spPr>
      </p:pic>
    </p:spTree>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p:nvPr>
            <p:ph type="title" idx="103" hasCustomPrompt="1"/>
          </p:nvPr>
        </p:nvSpPr>
        <p:spPr>
          <a:xfrm>
            <a:off x="411480" y="320040"/>
            <a:ext cx="7955280" cy="777240"/>
          </a:xfrm>
          <a:prstGeom prst="rect">
            <a:avLst/>
          </a:prstGeom>
          <a:noFill/>
        </p:spPr>
        <p:txBody>
          <a:bodyPr wrap="square" lIns="0" tIns="0" rIns="0" bIns="0" rtlCol="0" anchor="ctr"/>
          <a:lstStyle/>
          <a:p>
            <a:pPr>
              <a:defRPr sz="2900" b="1">
                <a:solidFill>
                  <a:srgbClr val="122F4F"/>
                </a:solidFill>
              </a:defRPr>
            </a:pPr>
            <a:r>
              <a:rPr sz="3200">
                <a:solidFill>
                  <a:schemeClr val="tx2"/>
                </a:solidFill>
              </a:rPr>
              <a:t>US Strategy | Backtest Results</a:t>
            </a:r>
            <a:endParaRPr sz="3200">
              <a:solidFill>
                <a:schemeClr val="tx2"/>
              </a:solidFill>
            </a:endParaRPr>
          </a:p>
        </p:txBody>
      </p:sp>
      <p:sp>
        <p:nvSpPr>
          <p:cNvPr id="3" name="TextBox 2"/>
          <p:cNvSpPr txBox="1"/>
          <p:nvPr/>
        </p:nvSpPr>
        <p:spPr>
          <a:xfrm>
            <a:off x="502920" y="1207008"/>
            <a:ext cx="8046720" cy="215900"/>
          </a:xfrm>
          <a:prstGeom prst="rect">
            <a:avLst/>
          </a:prstGeom>
          <a:noFill/>
        </p:spPr>
        <p:txBody>
          <a:bodyPr wrap="square" lIns="36576" tIns="22860" rIns="36576" bIns="9144">
            <a:spAutoFit/>
          </a:bodyPr>
          <a:lstStyle/>
          <a:p>
            <a:pPr>
              <a:defRPr sz="1200" b="0">
                <a:solidFill>
                  <a:srgbClr val="5D7084"/>
                </a:solidFill>
                <a:latin typeface="Aptos"/>
              </a:defRPr>
            </a:pPr>
            <a:r>
              <a:t>Out-of-sample backtest · 2020</a:t>
            </a:r>
            <a:r>
              <a:rPr lang="en-US"/>
              <a:t> to 30</a:t>
            </a:r>
            <a:r>
              <a:t> </a:t>
            </a:r>
            <a:r>
              <a:rPr lang="en-US"/>
              <a:t>Sep</a:t>
            </a:r>
            <a:r>
              <a:t> 2026 · same trading costs</a:t>
            </a:r>
          </a:p>
        </p:txBody>
      </p:sp>
      <p:sp>
        <p:nvSpPr>
          <p:cNvPr id="4" name="Rectangle 3"/>
          <p:cNvSpPr/>
          <p:nvPr/>
        </p:nvSpPr>
        <p:spPr>
          <a:xfrm>
            <a:off x="502920" y="1755648"/>
            <a:ext cx="7735824" cy="621792"/>
          </a:xfrm>
          <a:prstGeom prst="rect">
            <a:avLst/>
          </a:prstGeom>
          <a:solidFill>
            <a:srgbClr val="122F4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5" name="TextBox 4"/>
          <p:cNvSpPr txBox="1"/>
          <p:nvPr/>
        </p:nvSpPr>
        <p:spPr>
          <a:xfrm>
            <a:off x="612648" y="1892807"/>
            <a:ext cx="2688336" cy="338328"/>
          </a:xfrm>
          <a:prstGeom prst="rect">
            <a:avLst/>
          </a:prstGeom>
          <a:noFill/>
        </p:spPr>
        <p:txBody>
          <a:bodyPr wrap="square" lIns="36576" tIns="22860" rIns="36576" bIns="9144">
            <a:spAutoFit/>
          </a:bodyPr>
          <a:lstStyle/>
          <a:p>
            <a:pPr algn="l">
              <a:defRPr sz="1300" b="1">
                <a:solidFill>
                  <a:srgbClr val="FFFFFF"/>
                </a:solidFill>
                <a:latin typeface="Aptos"/>
              </a:defRPr>
            </a:pPr>
            <a:r>
              <a:t>Metric</a:t>
            </a:r>
          </a:p>
        </p:txBody>
      </p:sp>
      <p:sp>
        <p:nvSpPr>
          <p:cNvPr id="6" name="TextBox 5"/>
          <p:cNvSpPr txBox="1"/>
          <p:nvPr/>
        </p:nvSpPr>
        <p:spPr>
          <a:xfrm>
            <a:off x="3493008"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V0 Original</a:t>
            </a:r>
          </a:p>
        </p:txBody>
      </p:sp>
      <p:sp>
        <p:nvSpPr>
          <p:cNvPr id="7" name="TextBox 6"/>
          <p:cNvSpPr txBox="1"/>
          <p:nvPr/>
        </p:nvSpPr>
        <p:spPr>
          <a:xfrm>
            <a:off x="5111496"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V1 Inverse Vol</a:t>
            </a:r>
          </a:p>
        </p:txBody>
      </p:sp>
      <p:sp>
        <p:nvSpPr>
          <p:cNvPr id="8" name="TextBox 7"/>
          <p:cNvSpPr txBox="1"/>
          <p:nvPr/>
        </p:nvSpPr>
        <p:spPr>
          <a:xfrm>
            <a:off x="6729984" y="1892807"/>
            <a:ext cx="1426464" cy="338328"/>
          </a:xfrm>
          <a:prstGeom prst="rect">
            <a:avLst/>
          </a:prstGeom>
          <a:noFill/>
        </p:spPr>
        <p:txBody>
          <a:bodyPr wrap="square" lIns="36576" tIns="22860" rIns="36576" bIns="9144">
            <a:spAutoFit/>
          </a:bodyPr>
          <a:lstStyle/>
          <a:p>
            <a:pPr algn="ctr">
              <a:defRPr sz="1300" b="1">
                <a:solidFill>
                  <a:srgbClr val="FFFFFF"/>
                </a:solidFill>
                <a:latin typeface="Aptos"/>
              </a:defRPr>
            </a:pPr>
            <a:r>
              <a:t>V2 · 30% Target</a:t>
            </a:r>
          </a:p>
        </p:txBody>
      </p:sp>
      <p:sp>
        <p:nvSpPr>
          <p:cNvPr id="9" name="Rectangle 8"/>
          <p:cNvSpPr/>
          <p:nvPr/>
        </p:nvSpPr>
        <p:spPr>
          <a:xfrm>
            <a:off x="502920" y="2377440"/>
            <a:ext cx="7735824" cy="621792"/>
          </a:xfrm>
          <a:prstGeom prst="rect">
            <a:avLst/>
          </a:prstGeom>
          <a:solidFill>
            <a:srgbClr val="FFFFF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0" name="TextBox 9"/>
          <p:cNvSpPr txBox="1"/>
          <p:nvPr/>
        </p:nvSpPr>
        <p:spPr>
          <a:xfrm>
            <a:off x="612648" y="2514600"/>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CAGR</a:t>
            </a:r>
          </a:p>
        </p:txBody>
      </p:sp>
      <p:sp>
        <p:nvSpPr>
          <p:cNvPr id="11" name="TextBox 10"/>
          <p:cNvSpPr txBox="1"/>
          <p:nvPr/>
        </p:nvSpPr>
        <p:spPr>
          <a:xfrm>
            <a:off x="3493008"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115.56%</a:t>
            </a:r>
          </a:p>
        </p:txBody>
      </p:sp>
      <p:sp>
        <p:nvSpPr>
          <p:cNvPr id="12" name="TextBox 11"/>
          <p:cNvSpPr txBox="1"/>
          <p:nvPr/>
        </p:nvSpPr>
        <p:spPr>
          <a:xfrm>
            <a:off x="5111496"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102.46%</a:t>
            </a:r>
          </a:p>
        </p:txBody>
      </p:sp>
      <p:sp>
        <p:nvSpPr>
          <p:cNvPr id="13" name="TextBox 12"/>
          <p:cNvSpPr txBox="1"/>
          <p:nvPr/>
        </p:nvSpPr>
        <p:spPr>
          <a:xfrm>
            <a:off x="6729984" y="2514600"/>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45.91%</a:t>
            </a:r>
          </a:p>
        </p:txBody>
      </p:sp>
      <p:sp>
        <p:nvSpPr>
          <p:cNvPr id="14" name="Rectangle 13"/>
          <p:cNvSpPr/>
          <p:nvPr/>
        </p:nvSpPr>
        <p:spPr>
          <a:xfrm>
            <a:off x="502920" y="2999232"/>
            <a:ext cx="7735824" cy="621792"/>
          </a:xfrm>
          <a:prstGeom prst="rect">
            <a:avLst/>
          </a:prstGeom>
          <a:solidFill>
            <a:srgbClr val="E7F4F6"/>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15" name="TextBox 14"/>
          <p:cNvSpPr txBox="1"/>
          <p:nvPr/>
        </p:nvSpPr>
        <p:spPr>
          <a:xfrm>
            <a:off x="612648" y="3136392"/>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Annualized volatility</a:t>
            </a:r>
          </a:p>
        </p:txBody>
      </p:sp>
      <p:sp>
        <p:nvSpPr>
          <p:cNvPr id="16" name="TextBox 15"/>
          <p:cNvSpPr txBox="1"/>
          <p:nvPr/>
        </p:nvSpPr>
        <p:spPr>
          <a:xfrm>
            <a:off x="3493008" y="3136392"/>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59.38%</a:t>
            </a:r>
          </a:p>
        </p:txBody>
      </p:sp>
      <p:sp>
        <p:nvSpPr>
          <p:cNvPr id="17" name="TextBox 16"/>
          <p:cNvSpPr txBox="1"/>
          <p:nvPr/>
        </p:nvSpPr>
        <p:spPr>
          <a:xfrm>
            <a:off x="5111496" y="3136392"/>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55.78%</a:t>
            </a:r>
          </a:p>
        </p:txBody>
      </p:sp>
      <p:sp>
        <p:nvSpPr>
          <p:cNvPr id="18" name="TextBox 17"/>
          <p:cNvSpPr txBox="1"/>
          <p:nvPr/>
        </p:nvSpPr>
        <p:spPr>
          <a:xfrm>
            <a:off x="6729984" y="3136392"/>
            <a:ext cx="1426464" cy="338328"/>
          </a:xfrm>
          <a:prstGeom prst="rect">
            <a:avLst/>
          </a:prstGeom>
          <a:noFill/>
        </p:spPr>
        <p:txBody>
          <a:bodyPr wrap="square" lIns="36576" tIns="22860" rIns="36576" bIns="9144">
            <a:spAutoFit/>
          </a:bodyPr>
          <a:lstStyle/>
          <a:p>
            <a:pPr algn="ctr">
              <a:defRPr sz="1400" b="1">
                <a:solidFill>
                  <a:srgbClr val="107D8B"/>
                </a:solidFill>
                <a:latin typeface="Aptos"/>
              </a:defRPr>
            </a:pPr>
            <a:r>
              <a:t>30.08%</a:t>
            </a:r>
          </a:p>
        </p:txBody>
      </p:sp>
      <p:sp>
        <p:nvSpPr>
          <p:cNvPr id="19" name="Rectangle 18"/>
          <p:cNvSpPr/>
          <p:nvPr/>
        </p:nvSpPr>
        <p:spPr>
          <a:xfrm>
            <a:off x="502920" y="3621024"/>
            <a:ext cx="7735824" cy="621792"/>
          </a:xfrm>
          <a:prstGeom prst="rect">
            <a:avLst/>
          </a:prstGeom>
          <a:solidFill>
            <a:srgbClr val="FFFFFF"/>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0" name="TextBox 19"/>
          <p:cNvSpPr txBox="1"/>
          <p:nvPr/>
        </p:nvSpPr>
        <p:spPr>
          <a:xfrm>
            <a:off x="612648" y="3758184"/>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Sharpe ratio</a:t>
            </a:r>
          </a:p>
        </p:txBody>
      </p:sp>
      <p:sp>
        <p:nvSpPr>
          <p:cNvPr id="21" name="TextBox 20"/>
          <p:cNvSpPr txBox="1"/>
          <p:nvPr/>
        </p:nvSpPr>
        <p:spPr>
          <a:xfrm>
            <a:off x="3493008"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1.5893</a:t>
            </a:r>
          </a:p>
        </p:txBody>
      </p:sp>
      <p:sp>
        <p:nvSpPr>
          <p:cNvPr id="22" name="TextBox 21"/>
          <p:cNvSpPr txBox="1"/>
          <p:nvPr/>
        </p:nvSpPr>
        <p:spPr>
          <a:xfrm>
            <a:off x="5111496"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1.5457</a:t>
            </a:r>
          </a:p>
        </p:txBody>
      </p:sp>
      <p:sp>
        <p:nvSpPr>
          <p:cNvPr id="23" name="TextBox 22"/>
          <p:cNvSpPr txBox="1"/>
          <p:nvPr/>
        </p:nvSpPr>
        <p:spPr>
          <a:xfrm>
            <a:off x="6729984" y="3758184"/>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1.4114</a:t>
            </a:r>
          </a:p>
        </p:txBody>
      </p:sp>
      <p:sp>
        <p:nvSpPr>
          <p:cNvPr id="24" name="Rectangle 23"/>
          <p:cNvSpPr/>
          <p:nvPr/>
        </p:nvSpPr>
        <p:spPr>
          <a:xfrm>
            <a:off x="502920" y="4242816"/>
            <a:ext cx="7735824" cy="621792"/>
          </a:xfrm>
          <a:prstGeom prst="rect">
            <a:avLst/>
          </a:prstGeom>
          <a:solidFill>
            <a:srgbClr val="E7F4F6"/>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5" name="TextBox 24"/>
          <p:cNvSpPr txBox="1"/>
          <p:nvPr/>
        </p:nvSpPr>
        <p:spPr>
          <a:xfrm>
            <a:off x="612648" y="4379976"/>
            <a:ext cx="2688336" cy="338328"/>
          </a:xfrm>
          <a:prstGeom prst="rect">
            <a:avLst/>
          </a:prstGeom>
          <a:noFill/>
        </p:spPr>
        <p:txBody>
          <a:bodyPr wrap="square" lIns="36576" tIns="22860" rIns="36576" bIns="9144">
            <a:spAutoFit/>
          </a:bodyPr>
          <a:lstStyle/>
          <a:p>
            <a:pPr algn="l">
              <a:defRPr sz="1400" b="0">
                <a:solidFill>
                  <a:srgbClr val="1E2B3C"/>
                </a:solidFill>
                <a:latin typeface="Aptos"/>
              </a:defRPr>
            </a:pPr>
            <a:r>
              <a:t>Maximum drawdown</a:t>
            </a:r>
          </a:p>
        </p:txBody>
      </p:sp>
      <p:sp>
        <p:nvSpPr>
          <p:cNvPr id="26" name="TextBox 25"/>
          <p:cNvSpPr txBox="1"/>
          <p:nvPr/>
        </p:nvSpPr>
        <p:spPr>
          <a:xfrm>
            <a:off x="3493008" y="4379976"/>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−49.06%</a:t>
            </a:r>
          </a:p>
        </p:txBody>
      </p:sp>
      <p:sp>
        <p:nvSpPr>
          <p:cNvPr id="27" name="TextBox 26"/>
          <p:cNvSpPr txBox="1"/>
          <p:nvPr/>
        </p:nvSpPr>
        <p:spPr>
          <a:xfrm>
            <a:off x="5111496" y="4379976"/>
            <a:ext cx="1426464" cy="338328"/>
          </a:xfrm>
          <a:prstGeom prst="rect">
            <a:avLst/>
          </a:prstGeom>
          <a:noFill/>
        </p:spPr>
        <p:txBody>
          <a:bodyPr wrap="square" lIns="36576" tIns="22860" rIns="36576" bIns="9144">
            <a:spAutoFit/>
          </a:bodyPr>
          <a:lstStyle/>
          <a:p>
            <a:pPr algn="ctr">
              <a:defRPr sz="1400" b="0">
                <a:solidFill>
                  <a:srgbClr val="1E2B3C"/>
                </a:solidFill>
                <a:latin typeface="Aptos"/>
              </a:defRPr>
            </a:pPr>
            <a:r>
              <a:t>−44.64%</a:t>
            </a:r>
          </a:p>
        </p:txBody>
      </p:sp>
      <p:sp>
        <p:nvSpPr>
          <p:cNvPr id="28" name="TextBox 27"/>
          <p:cNvSpPr txBox="1"/>
          <p:nvPr/>
        </p:nvSpPr>
        <p:spPr>
          <a:xfrm>
            <a:off x="6729984" y="4379976"/>
            <a:ext cx="1426464" cy="338328"/>
          </a:xfrm>
          <a:prstGeom prst="rect">
            <a:avLst/>
          </a:prstGeom>
          <a:noFill/>
        </p:spPr>
        <p:txBody>
          <a:bodyPr wrap="square" lIns="36576" tIns="22860" rIns="36576" bIns="9144">
            <a:spAutoFit/>
          </a:bodyPr>
          <a:lstStyle/>
          <a:p>
            <a:pPr algn="ctr">
              <a:defRPr sz="1400" b="1">
                <a:solidFill>
                  <a:srgbClr val="107D8B"/>
                </a:solidFill>
                <a:latin typeface="Aptos"/>
              </a:defRPr>
            </a:pPr>
            <a:r>
              <a:t>−26.97%</a:t>
            </a:r>
          </a:p>
        </p:txBody>
      </p:sp>
      <p:sp>
        <p:nvSpPr>
          <p:cNvPr id="29" name="Rounded Rectangle 28"/>
          <p:cNvSpPr/>
          <p:nvPr/>
        </p:nvSpPr>
        <p:spPr>
          <a:xfrm>
            <a:off x="502920" y="5193792"/>
            <a:ext cx="7735824" cy="768096"/>
          </a:xfrm>
          <a:prstGeom prst="roundRect">
            <a:avLst/>
          </a:prstGeom>
          <a:solidFill>
            <a:srgbClr val="F0F6FB"/>
          </a:solidFill>
          <a:ln>
            <a:solidFill>
              <a:srgbClr val="D9E3ED"/>
            </a:solidFill>
          </a:ln>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TextBox 29"/>
          <p:cNvSpPr txBox="1"/>
          <p:nvPr/>
        </p:nvSpPr>
        <p:spPr>
          <a:xfrm>
            <a:off x="685800" y="5394960"/>
            <a:ext cx="7388352" cy="393192"/>
          </a:xfrm>
          <a:prstGeom prst="rect">
            <a:avLst/>
          </a:prstGeom>
          <a:noFill/>
        </p:spPr>
        <p:txBody>
          <a:bodyPr wrap="square" lIns="36576" tIns="22860" rIns="36576" bIns="9144">
            <a:spAutoFit/>
          </a:bodyPr>
          <a:lstStyle/>
          <a:p>
            <a:pPr algn="ctr">
              <a:defRPr sz="1400" b="1">
                <a:solidFill>
                  <a:srgbClr val="107D8B"/>
                </a:solidFill>
                <a:latin typeface="Aptos"/>
              </a:defRPr>
            </a:pPr>
            <a:r>
              <a:t>V2 reduces volatility by 29.30 pp and drawdown magnitude by 22.09 pp vs V0.</a:t>
            </a:r>
          </a:p>
        </p:txBody>
      </p:sp>
      <p:sp>
        <p:nvSpPr>
          <p:cNvPr id="31" name="TextBox 30"/>
          <p:cNvSpPr txBox="1"/>
          <p:nvPr/>
        </p:nvSpPr>
        <p:spPr>
          <a:xfrm>
            <a:off x="566928" y="6117336"/>
            <a:ext cx="8183879" cy="274320"/>
          </a:xfrm>
          <a:prstGeom prst="rect">
            <a:avLst/>
          </a:prstGeom>
          <a:noFill/>
        </p:spPr>
        <p:txBody>
          <a:bodyPr wrap="square" lIns="36576" tIns="22860" rIns="36576" bIns="9144">
            <a:spAutoFit/>
          </a:bodyPr>
          <a:lstStyle/>
          <a:p>
            <a:pPr>
              <a:defRPr sz="1000" b="0">
                <a:solidFill>
                  <a:srgbClr val="5D7084"/>
                </a:solidFill>
                <a:latin typeface="Aptos"/>
              </a:defRPr>
            </a:pPr>
            <a:r>
              <a:t>Trade-off: Lower risk, but lower CAGR and Sharpe.   |   30% is a target, not a guarantee.</a:t>
            </a:r>
          </a:p>
        </p:txBody>
      </p:sp>
    </p:spTree>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ph type="title" idx="102" hasCustomPrompt="1"/>
          </p:nvPr>
        </p:nvSpPr>
        <p:spPr>
          <a:xfrm>
            <a:off x="731520" y="2377440"/>
            <a:ext cx="7680960" cy="1097280"/>
          </a:xfrm>
          <a:prstGeom prst="rect">
            <a:avLst/>
          </a:prstGeom>
          <a:noFill/>
        </p:spPr>
        <p:txBody>
          <a:bodyPr wrap="square" rtlCol="0" anchor="ctr"/>
          <a:lstStyle/>
          <a:p>
            <a:pPr marL="0" indent="0" algn="ctr">
              <a:buNone/>
            </a:pPr>
            <a:r>
              <a:rPr lang="en-US" altLang="zh-CN" sz="4000" b="1" dirty="0">
                <a:solidFill>
                  <a:schemeClr val="bg1"/>
                </a:solidFill>
              </a:rPr>
              <a:t>Singapore Market &amp; GARCH</a:t>
            </a:r>
            <a:endParaRPr lang="en-US" altLang="zh-CN" sz="4000" b="1" dirty="0">
              <a:solidFill>
                <a:schemeClr val="bg1"/>
              </a:solidFill>
            </a:endParaRPr>
          </a:p>
        </p:txBody>
      </p:sp>
    </p:spTree>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p:nvPr>
            <p:ph type="title" idx="103" hasCustomPrompt="1"/>
          </p:nvPr>
        </p:nvSpPr>
        <p:spPr>
          <a:xfrm>
            <a:off x="411480" y="228600"/>
            <a:ext cx="7955280" cy="777240"/>
          </a:xfrm>
          <a:prstGeom prst="rect">
            <a:avLst/>
          </a:prstGeom>
          <a:noFill/>
        </p:spPr>
        <p:txBody>
          <a:bodyPr wrap="square" lIns="0" tIns="0" rIns="0" bIns="0" rtlCol="0" anchor="ctr"/>
          <a:lstStyle/>
          <a:p>
            <a:pPr marL="0" indent="0" algn="l">
              <a:buNone/>
            </a:pPr>
            <a:r>
              <a:rPr lang="en-US" altLang="zh-CN" sz="3200" dirty="0"/>
              <a:t>Singapore Sleeve</a:t>
            </a:r>
            <a:endParaRPr lang="en-US" altLang="zh-CN" sz="32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
        <p:nvSpPr>
          <p:cNvPr id="17" name="文本框 16"/>
          <p:cNvSpPr txBox="1"/>
          <p:nvPr/>
        </p:nvSpPr>
        <p:spPr>
          <a:xfrm>
            <a:off x="411480" y="851535"/>
            <a:ext cx="8318500" cy="368300"/>
          </a:xfrm>
          <a:prstGeom prst="rect">
            <a:avLst/>
          </a:prstGeom>
          <a:noFill/>
        </p:spPr>
        <p:txBody>
          <a:bodyPr wrap="square" rtlCol="0" anchor="t">
            <a:spAutoFit/>
          </a:bodyPr>
          <a:p>
            <a:pPr algn="l"/>
            <a:r>
              <a:rPr lang="en-US" altLang="zh-CN" b="1" dirty="0">
                <a:solidFill>
                  <a:schemeClr val="tx2"/>
                </a:solidFill>
                <a:latin typeface="+mj-lt"/>
                <a:ea typeface="+mj-ea"/>
                <a:cs typeface="+mj-cs"/>
                <a:sym typeface="+mn-ea"/>
              </a:rPr>
              <a:t>Assets: ES3.SI (SPDR STI ETF) + A35.SI (ABF Singapore Bond Index Fund)</a:t>
            </a:r>
            <a:endParaRPr lang="en-US" altLang="zh-CN" b="1" dirty="0">
              <a:solidFill>
                <a:schemeClr val="tx2"/>
              </a:solidFill>
              <a:latin typeface="+mj-lt"/>
              <a:ea typeface="+mj-ea"/>
              <a:cs typeface="+mj-cs"/>
              <a:sym typeface="+mn-ea"/>
            </a:endParaRPr>
          </a:p>
        </p:txBody>
      </p:sp>
      <p:pic>
        <p:nvPicPr>
          <p:cNvPr id="19" name="图片 18"/>
          <p:cNvPicPr>
            <a:picLocks noChangeAspect="1"/>
          </p:cNvPicPr>
          <p:nvPr/>
        </p:nvPicPr>
        <p:blipFill>
          <a:blip r:embed="rId1"/>
          <a:stretch>
            <a:fillRect/>
          </a:stretch>
        </p:blipFill>
        <p:spPr>
          <a:xfrm>
            <a:off x="280035" y="1282065"/>
            <a:ext cx="5363210" cy="3148965"/>
          </a:xfrm>
          <a:prstGeom prst="rect">
            <a:avLst/>
          </a:prstGeom>
        </p:spPr>
      </p:pic>
      <p:pic>
        <p:nvPicPr>
          <p:cNvPr id="20" name="图片 19"/>
          <p:cNvPicPr>
            <a:picLocks noChangeAspect="1"/>
          </p:cNvPicPr>
          <p:nvPr/>
        </p:nvPicPr>
        <p:blipFill>
          <a:blip r:embed="rId2"/>
          <a:stretch>
            <a:fillRect/>
          </a:stretch>
        </p:blipFill>
        <p:spPr>
          <a:xfrm>
            <a:off x="2524125" y="1713230"/>
            <a:ext cx="6391275" cy="3065780"/>
          </a:xfrm>
          <a:prstGeom prst="rect">
            <a:avLst/>
          </a:prstGeom>
        </p:spPr>
      </p:pic>
      <p:sp>
        <p:nvSpPr>
          <p:cNvPr id="21" name="右大括号 20"/>
          <p:cNvSpPr/>
          <p:nvPr/>
        </p:nvSpPr>
        <p:spPr>
          <a:xfrm rot="5400000">
            <a:off x="4220845" y="1617980"/>
            <a:ext cx="477520" cy="6798945"/>
          </a:xfrm>
          <a:prstGeom prst="rightBrace">
            <a:avLst>
              <a:gd name="adj1" fmla="val 8333"/>
              <a:gd name="adj2" fmla="val 50000"/>
            </a:avLst>
          </a:prstGeom>
          <a:ln w="57150" cap="rnd">
            <a:solidFill>
              <a:schemeClr val="accent1"/>
            </a:solidFill>
            <a:round/>
          </a:ln>
        </p:spPr>
        <p:style>
          <a:lnRef idx="0">
            <a:srgbClr val="FFFFFF"/>
          </a:lnRef>
          <a:fillRef idx="0">
            <a:srgbClr val="FFFFFF"/>
          </a:fillRef>
          <a:effectRef idx="0">
            <a:srgbClr val="FFFFFF"/>
          </a:effectRef>
          <a:fontRef idx="minor">
            <a:schemeClr val="tx1"/>
          </a:fontRef>
        </p:style>
        <p:txBody>
          <a:bodyPr rtlCol="0" anchor="ctr"/>
          <a:p>
            <a:pPr algn="ctr"/>
            <a:endParaRPr lang="zh-CN" altLang="en-US" sz="2400"/>
          </a:p>
        </p:txBody>
      </p:sp>
      <p:sp>
        <p:nvSpPr>
          <p:cNvPr id="23" name="文本框 22"/>
          <p:cNvSpPr txBox="1"/>
          <p:nvPr/>
        </p:nvSpPr>
        <p:spPr>
          <a:xfrm>
            <a:off x="1682115" y="5211445"/>
            <a:ext cx="5556250" cy="709295"/>
          </a:xfrm>
          <a:prstGeom prst="rect">
            <a:avLst/>
          </a:prstGeom>
          <a:noFill/>
        </p:spPr>
        <p:txBody>
          <a:bodyPr wrap="square" rtlCol="0" anchor="t">
            <a:noAutofit/>
          </a:bodyPr>
          <a:p>
            <a:pPr marL="0" indent="0" algn="ctr">
              <a:buNone/>
            </a:pPr>
            <a:r>
              <a:rPr lang="en-US" altLang="zh-CN" sz="2000" b="1" dirty="0">
                <a:solidFill>
                  <a:schemeClr val="accent3"/>
                </a:solidFill>
                <a:sym typeface="+mn-ea"/>
              </a:rPr>
              <a:t>“boring but reliable” portfolio </a:t>
            </a:r>
            <a:endParaRPr lang="en-US" altLang="zh-CN" sz="2000" b="1" dirty="0">
              <a:solidFill>
                <a:schemeClr val="accent3"/>
              </a:solidFill>
              <a:sym typeface="+mn-ea"/>
            </a:endParaRPr>
          </a:p>
          <a:p>
            <a:pPr marL="0" indent="0" algn="ctr">
              <a:buNone/>
            </a:pPr>
            <a:r>
              <a:rPr lang="en-US" altLang="zh-CN" dirty="0">
                <a:solidFill>
                  <a:schemeClr val="bg2"/>
                </a:solidFill>
                <a:effectLst>
                  <a:innerShdw blurRad="63500" dist="50800" dir="13500000">
                    <a:srgbClr val="000000">
                      <a:alpha val="50000"/>
                    </a:srgbClr>
                  </a:innerShdw>
                </a:effectLst>
                <a:sym typeface="+mn-ea"/>
              </a:rPr>
              <a:t>And honestly, in investing, boring is a compliment.</a:t>
            </a:r>
            <a:endParaRPr lang="en-US" altLang="zh-CN" dirty="0">
              <a:solidFill>
                <a:schemeClr val="bg2"/>
              </a:solidFill>
              <a:effectLst>
                <a:innerShdw blurRad="63500" dist="50800" dir="13500000">
                  <a:srgbClr val="000000">
                    <a:alpha val="50000"/>
                  </a:srgbClr>
                </a:innerShdw>
              </a:effectLst>
            </a:endParaRPr>
          </a:p>
          <a:p>
            <a:pPr marL="0" indent="0" algn="ctr">
              <a:buNone/>
            </a:pPr>
            <a:endParaRPr lang="en-US" altLang="zh-CN" b="1" dirty="0">
              <a:solidFill>
                <a:schemeClr val="bg2"/>
              </a:solidFill>
              <a:effectLst>
                <a:innerShdw blurRad="63500" dist="50800" dir="13500000">
                  <a:srgbClr val="000000">
                    <a:alpha val="50000"/>
                  </a:srgbClr>
                </a:innerShdw>
              </a:effectLst>
              <a:sym typeface="+mn-ea"/>
            </a:endParaRPr>
          </a:p>
        </p:txBody>
      </p:sp>
      <p:sp>
        <p:nvSpPr>
          <p:cNvPr id="26" name="文本框 25"/>
          <p:cNvSpPr txBox="1"/>
          <p:nvPr/>
        </p:nvSpPr>
        <p:spPr>
          <a:xfrm>
            <a:off x="280670" y="5823585"/>
            <a:ext cx="8449310" cy="521970"/>
          </a:xfrm>
          <a:prstGeom prst="rect">
            <a:avLst/>
          </a:prstGeom>
          <a:noFill/>
        </p:spPr>
        <p:txBody>
          <a:bodyPr wrap="square" rtlCol="0" anchor="t">
            <a:spAutoFit/>
          </a:bodyPr>
          <a:p>
            <a:pPr marL="0" indent="0" algn="ctr">
              <a:buNone/>
            </a:pPr>
            <a:r>
              <a:rPr lang="en-US" altLang="zh-CN" sz="2800" b="1" dirty="0">
                <a:solidFill>
                  <a:schemeClr val="tx2"/>
                </a:solidFill>
                <a:sym typeface="+mn-ea"/>
              </a:rPr>
              <a:t>Q: How much ES3 should we hold each day ?</a:t>
            </a:r>
            <a:endParaRPr lang="en-US" altLang="zh-CN" sz="2800" b="1" dirty="0">
              <a:solidFill>
                <a:schemeClr val="tx2"/>
              </a:solidFill>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19"/>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nodeType="click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childTnLst>
                          </p:cTn>
                        </p:par>
                      </p:childTnLst>
                    </p:cTn>
                  </p:par>
                  <p:par>
                    <p:cTn id="11" fill="hold">
                      <p:stCondLst>
                        <p:cond delay="indefinite"/>
                      </p:stCondLst>
                      <p:childTnLst>
                        <p:par>
                          <p:cTn id="12" fill="hold">
                            <p:stCondLst>
                              <p:cond delay="0"/>
                            </p:stCondLst>
                            <p:childTnLst>
                              <p:par>
                                <p:cTn id="13" presetID="1" presetClass="entr" presetSubtype="0" fill="hold" grpId="0" nodeType="click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3"/>
                                        </p:tgtEl>
                                        <p:attrNameLst>
                                          <p:attrName>style.visibility</p:attrName>
                                        </p:attrNameLst>
                                      </p:cBhvr>
                                      <p:to>
                                        <p:strVal val="visible"/>
                                      </p:to>
                                    </p:set>
                                  </p:childTnLst>
                                </p:cTn>
                              </p:par>
                            </p:childTnLst>
                          </p:cTn>
                        </p:par>
                      </p:childTnLst>
                    </p:cTn>
                  </p:par>
                  <p:par>
                    <p:cTn id="17" fill="hold">
                      <p:stCondLst>
                        <p:cond delay="indefinite"/>
                      </p:stCondLst>
                      <p:childTnLst>
                        <p:par>
                          <p:cTn id="18" fill="hold">
                            <p:stCondLst>
                              <p:cond delay="0"/>
                            </p:stCondLst>
                            <p:childTnLst>
                              <p:par>
                                <p:cTn id="19" presetID="1" presetClass="entr" presetSubtype="0" fill="hold" grpId="0" nodeType="clickEffect">
                                  <p:stCondLst>
                                    <p:cond delay="0"/>
                                  </p:stCondLst>
                                  <p:childTnLst>
                                    <p:set>
                                      <p:cBhvr>
                                        <p:cTn id="20" dur="1" fill="hold">
                                          <p:stCondLst>
                                            <p:cond delay="0"/>
                                          </p:stCondLst>
                                        </p:cTn>
                                        <p:tgtEl>
                                          <p:spTgt spid="2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21" grpId="0" animBg="1"/>
      <p:bldP spid="23" grpId="0"/>
      <p:bldP spid="21" grpId="1" animBg="1"/>
      <p:bldP spid="23" grpId="1"/>
      <p:bldP spid="26" grpId="0"/>
      <p:bldP spid="26" grpId="1"/>
    </p:bldLst>
  </p:timing>
</p:sld>
</file>

<file path=ppt/slides/slide14.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pic>
        <p:nvPicPr>
          <p:cNvPr id="5" name="图片 4"/>
          <p:cNvPicPr>
            <a:picLocks noChangeAspect="1"/>
          </p:cNvPicPr>
          <p:nvPr/>
        </p:nvPicPr>
        <p:blipFill>
          <a:blip r:embed="rId1"/>
          <a:stretch>
            <a:fillRect/>
          </a:stretch>
        </p:blipFill>
        <p:spPr>
          <a:xfrm>
            <a:off x="0" y="4675505"/>
            <a:ext cx="9144000" cy="1102995"/>
          </a:xfrm>
          <a:prstGeom prst="rect">
            <a:avLst/>
          </a:prstGeom>
        </p:spPr>
      </p:pic>
      <p:pic>
        <p:nvPicPr>
          <p:cNvPr id="4" name="图片 3"/>
          <p:cNvPicPr>
            <a:picLocks noChangeAspect="1"/>
          </p:cNvPicPr>
          <p:nvPr/>
        </p:nvPicPr>
        <p:blipFill>
          <a:blip r:embed="rId2"/>
          <a:stretch>
            <a:fillRect/>
          </a:stretch>
        </p:blipFill>
        <p:spPr>
          <a:xfrm>
            <a:off x="560705" y="1341755"/>
            <a:ext cx="5073015" cy="2853690"/>
          </a:xfrm>
          <a:prstGeom prst="rect">
            <a:avLst/>
          </a:prstGeom>
        </p:spPr>
      </p:pic>
      <p:sp>
        <p:nvSpPr>
          <p:cNvPr id="2" name="Text 3"/>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sz="2800" dirty="0"/>
              <a:t>Singapore Strategy:</a:t>
            </a:r>
            <a:r>
              <a:rPr altLang="zh-CN" sz="2000">
                <a:sym typeface="+mn-ea"/>
              </a:rPr>
              <a:t>How much ES3 should we hold each day ?</a:t>
            </a:r>
            <a:endParaRPr lang="en-US" altLang="zh-CN" sz="2000" dirty="0">
              <a:sym typeface="+mn-ea"/>
            </a:endParaRPr>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
        <p:nvSpPr>
          <p:cNvPr id="17" name="文本框 16"/>
          <p:cNvSpPr txBox="1"/>
          <p:nvPr/>
        </p:nvSpPr>
        <p:spPr>
          <a:xfrm>
            <a:off x="411480" y="973455"/>
            <a:ext cx="8318500" cy="368300"/>
          </a:xfrm>
          <a:prstGeom prst="rect">
            <a:avLst/>
          </a:prstGeom>
          <a:noFill/>
        </p:spPr>
        <p:txBody>
          <a:bodyPr wrap="square" rtlCol="0" anchor="t">
            <a:spAutoFit/>
          </a:bodyPr>
          <a:p>
            <a:pPr algn="l"/>
            <a:r>
              <a:rPr lang="en-US" altLang="zh-CN" b="1" dirty="0">
                <a:solidFill>
                  <a:schemeClr val="tx2"/>
                </a:solidFill>
                <a:latin typeface="+mj-lt"/>
                <a:ea typeface="+mj-ea"/>
                <a:cs typeface="+mj-cs"/>
                <a:sym typeface="+mn-ea"/>
              </a:rPr>
              <a:t>Q: How risky ES3 will be tomorrow?</a:t>
            </a:r>
            <a:endParaRPr lang="en-US" altLang="zh-CN" b="1" dirty="0">
              <a:solidFill>
                <a:schemeClr val="tx2"/>
              </a:solidFill>
              <a:latin typeface="+mj-lt"/>
              <a:ea typeface="+mj-ea"/>
              <a:cs typeface="+mj-cs"/>
              <a:sym typeface="+mn-ea"/>
            </a:endParaRPr>
          </a:p>
        </p:txBody>
      </p:sp>
      <p:sp>
        <p:nvSpPr>
          <p:cNvPr id="18" name="矩形 17"/>
          <p:cNvSpPr/>
          <p:nvPr/>
        </p:nvSpPr>
        <p:spPr>
          <a:xfrm>
            <a:off x="1644650" y="1957070"/>
            <a:ext cx="283845" cy="620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19" name="矩形 18"/>
          <p:cNvSpPr/>
          <p:nvPr/>
        </p:nvSpPr>
        <p:spPr>
          <a:xfrm>
            <a:off x="4130675" y="1957070"/>
            <a:ext cx="1482090" cy="620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0" name="矩形 19"/>
          <p:cNvSpPr/>
          <p:nvPr/>
        </p:nvSpPr>
        <p:spPr>
          <a:xfrm>
            <a:off x="1644650" y="2931160"/>
            <a:ext cx="322580" cy="87439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1" name="矩形 20"/>
          <p:cNvSpPr/>
          <p:nvPr/>
        </p:nvSpPr>
        <p:spPr>
          <a:xfrm>
            <a:off x="4359275" y="2827655"/>
            <a:ext cx="1073785" cy="977900"/>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23" name="文本框 22"/>
          <p:cNvSpPr txBox="1"/>
          <p:nvPr/>
        </p:nvSpPr>
        <p:spPr>
          <a:xfrm>
            <a:off x="5702300" y="2195195"/>
            <a:ext cx="3213100" cy="273685"/>
          </a:xfrm>
          <a:prstGeom prst="rect">
            <a:avLst/>
          </a:prstGeom>
          <a:noFill/>
        </p:spPr>
        <p:txBody>
          <a:bodyPr wrap="square" rtlCol="0" anchor="t">
            <a:noAutofit/>
          </a:bodyPr>
          <a:p>
            <a:pPr algn="l"/>
            <a:r>
              <a:rPr lang="en-US" altLang="zh-CN" b="1" dirty="0">
                <a:solidFill>
                  <a:srgbClr val="C00000"/>
                </a:solidFill>
                <a:latin typeface="+mj-lt"/>
                <a:ea typeface="+mj-ea"/>
                <a:cs typeface="+mj-cs"/>
                <a:sym typeface="+mn-ea"/>
              </a:rPr>
              <a:t>Returns: </a:t>
            </a:r>
            <a:r>
              <a:rPr lang="en-US" altLang="zh-CN" b="1" dirty="0">
                <a:solidFill>
                  <a:schemeClr val="tx2"/>
                </a:solidFill>
                <a:latin typeface="+mj-lt"/>
                <a:ea typeface="+mj-ea"/>
                <a:cs typeface="+mj-cs"/>
                <a:sym typeface="+mn-ea"/>
              </a:rPr>
              <a:t>no autocorrelation</a:t>
            </a:r>
            <a:endParaRPr lang="en-US" altLang="zh-CN" b="1" dirty="0">
              <a:solidFill>
                <a:schemeClr val="tx2"/>
              </a:solidFill>
              <a:latin typeface="+mj-lt"/>
              <a:ea typeface="+mj-ea"/>
              <a:cs typeface="+mj-cs"/>
              <a:sym typeface="+mn-ea"/>
            </a:endParaRPr>
          </a:p>
        </p:txBody>
      </p:sp>
      <p:sp>
        <p:nvSpPr>
          <p:cNvPr id="26" name="文本框 25"/>
          <p:cNvSpPr txBox="1"/>
          <p:nvPr/>
        </p:nvSpPr>
        <p:spPr>
          <a:xfrm>
            <a:off x="5702300" y="2812415"/>
            <a:ext cx="2959735" cy="645160"/>
          </a:xfrm>
          <a:prstGeom prst="rect">
            <a:avLst/>
          </a:prstGeom>
          <a:noFill/>
        </p:spPr>
        <p:txBody>
          <a:bodyPr wrap="square" rtlCol="0" anchor="t">
            <a:spAutoFit/>
          </a:bodyPr>
          <a:p>
            <a:pPr algn="l"/>
            <a:r>
              <a:rPr lang="en-US" altLang="zh-CN" b="1" dirty="0">
                <a:solidFill>
                  <a:srgbClr val="C00000"/>
                </a:solidFill>
                <a:latin typeface="+mj-lt"/>
                <a:ea typeface="+mj-ea"/>
                <a:cs typeface="+mj-cs"/>
                <a:sym typeface="+mn-ea"/>
              </a:rPr>
              <a:t>Squared returns: </a:t>
            </a:r>
            <a:r>
              <a:rPr lang="en-US" altLang="zh-CN" b="1" dirty="0">
                <a:solidFill>
                  <a:schemeClr val="tx2"/>
                </a:solidFill>
                <a:latin typeface="+mj-lt"/>
                <a:ea typeface="+mj-ea"/>
                <a:cs typeface="+mj-cs"/>
                <a:sym typeface="+mn-ea"/>
              </a:rPr>
              <a:t>strong autocorrelation</a:t>
            </a:r>
            <a:endParaRPr lang="en-US" altLang="zh-CN" b="1" dirty="0">
              <a:solidFill>
                <a:schemeClr val="tx2"/>
              </a:solidFill>
              <a:latin typeface="+mj-lt"/>
              <a:ea typeface="+mj-ea"/>
              <a:cs typeface="+mj-cs"/>
              <a:sym typeface="+mn-ea"/>
            </a:endParaRPr>
          </a:p>
        </p:txBody>
      </p:sp>
      <p:cxnSp>
        <p:nvCxnSpPr>
          <p:cNvPr id="28" name="直接箭头连接符 27"/>
          <p:cNvCxnSpPr/>
          <p:nvPr/>
        </p:nvCxnSpPr>
        <p:spPr>
          <a:xfrm>
            <a:off x="7308850" y="3416935"/>
            <a:ext cx="0" cy="276860"/>
          </a:xfrm>
          <a:prstGeom prst="straightConnector1">
            <a:avLst/>
          </a:prstGeom>
          <a:ln w="57150">
            <a:solidFill>
              <a:srgbClr val="C00000"/>
            </a:solidFill>
            <a:tailEnd type="arrow"/>
          </a:ln>
        </p:spPr>
        <p:style>
          <a:lnRef idx="2">
            <a:schemeClr val="accent1"/>
          </a:lnRef>
          <a:fillRef idx="0">
            <a:srgbClr val="FFFFFF"/>
          </a:fillRef>
          <a:effectRef idx="0">
            <a:srgbClr val="FFFFFF"/>
          </a:effectRef>
          <a:fontRef idx="minor">
            <a:schemeClr val="tx1"/>
          </a:fontRef>
        </p:style>
      </p:cxnSp>
      <p:sp>
        <p:nvSpPr>
          <p:cNvPr id="29" name="文本框 28"/>
          <p:cNvSpPr txBox="1"/>
          <p:nvPr/>
        </p:nvSpPr>
        <p:spPr>
          <a:xfrm>
            <a:off x="6057265" y="3628390"/>
            <a:ext cx="2502535" cy="368300"/>
          </a:xfrm>
          <a:prstGeom prst="rect">
            <a:avLst/>
          </a:prstGeom>
          <a:noFill/>
        </p:spPr>
        <p:txBody>
          <a:bodyPr wrap="square" rtlCol="0" anchor="t">
            <a:spAutoFit/>
          </a:bodyPr>
          <a:p>
            <a:pPr algn="l"/>
            <a:r>
              <a:rPr lang="en-US" altLang="zh-CN" b="1" dirty="0">
                <a:solidFill>
                  <a:srgbClr val="C00000"/>
                </a:solidFill>
                <a:latin typeface="+mj-lt"/>
                <a:ea typeface="+mj-ea"/>
                <a:cs typeface="+mj-cs"/>
                <a:sym typeface="+mn-ea"/>
              </a:rPr>
              <a:t> volatility clustering</a:t>
            </a:r>
            <a:endParaRPr lang="en-US" altLang="zh-CN" b="1" dirty="0">
              <a:solidFill>
                <a:srgbClr val="C00000"/>
              </a:solidFill>
              <a:latin typeface="+mj-lt"/>
              <a:ea typeface="+mj-ea"/>
              <a:cs typeface="+mj-cs"/>
              <a:sym typeface="+mn-ea"/>
            </a:endParaRPr>
          </a:p>
        </p:txBody>
      </p:sp>
      <p:sp>
        <p:nvSpPr>
          <p:cNvPr id="31" name="文本框 30"/>
          <p:cNvSpPr txBox="1"/>
          <p:nvPr/>
        </p:nvSpPr>
        <p:spPr>
          <a:xfrm>
            <a:off x="411480" y="4159250"/>
            <a:ext cx="4572000" cy="521970"/>
          </a:xfrm>
          <a:prstGeom prst="rect">
            <a:avLst/>
          </a:prstGeom>
          <a:noFill/>
        </p:spPr>
        <p:txBody>
          <a:bodyPr wrap="square" rtlCol="0" anchor="t">
            <a:spAutoFit/>
          </a:bodyPr>
          <a:p>
            <a:r>
              <a:rPr lang="en-US" altLang="zh-CN" sz="2800" b="1" dirty="0">
                <a:solidFill>
                  <a:schemeClr val="tx2"/>
                </a:solidFill>
                <a:latin typeface="+mj-lt"/>
                <a:cs typeface="+mj-lt"/>
                <a:sym typeface="+mn-ea"/>
              </a:rPr>
              <a:t>GARCH</a:t>
            </a:r>
            <a:endParaRPr lang="en-US" altLang="zh-CN" sz="2800" b="1" dirty="0">
              <a:solidFill>
                <a:schemeClr val="tx2"/>
              </a:solidFill>
              <a:latin typeface="+mj-lt"/>
              <a:cs typeface="+mj-lt"/>
              <a:sym typeface="+mn-ea"/>
            </a:endParaRPr>
          </a:p>
        </p:txBody>
      </p:sp>
      <p:sp>
        <p:nvSpPr>
          <p:cNvPr id="34" name="矩形 33"/>
          <p:cNvSpPr/>
          <p:nvPr/>
        </p:nvSpPr>
        <p:spPr>
          <a:xfrm>
            <a:off x="7812405" y="4682490"/>
            <a:ext cx="1331595" cy="1110615"/>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5" name="矩形 34"/>
          <p:cNvSpPr/>
          <p:nvPr/>
        </p:nvSpPr>
        <p:spPr>
          <a:xfrm>
            <a:off x="635" y="4681855"/>
            <a:ext cx="1168400" cy="1109980"/>
          </a:xfrm>
          <a:prstGeom prst="rect">
            <a:avLst/>
          </a:prstGeom>
          <a:noFill/>
          <a:ln w="38100">
            <a:solidFill>
              <a:srgbClr val="C00000"/>
            </a:solidFill>
          </a:ln>
          <a:extLst>
            <a:ext uri="{909E8E84-426E-40DD-AFC4-6F175D3DCCD1}">
              <a14:hiddenFill xmlns:a14="http://schemas.microsoft.com/office/drawing/2010/main">
                <a:solidFill>
                  <a:schemeClr val="accent1"/>
                </a:solidFill>
              </a14:hiddenFill>
            </a:ext>
          </a:extLst>
        </p:spPr>
        <p:style>
          <a:lnRef idx="2">
            <a:schemeClr val="accent1">
              <a:lumMod val="75000"/>
            </a:schemeClr>
          </a:lnRef>
          <a:fillRef idx="1">
            <a:schemeClr val="accent1"/>
          </a:fillRef>
          <a:effectRef idx="0">
            <a:srgbClr val="FFFFFF"/>
          </a:effectRef>
          <a:fontRef idx="minor">
            <a:schemeClr val="lt1"/>
          </a:fontRef>
        </p:style>
        <p:txBody>
          <a:bodyPr rtlCol="0" anchor="ctr"/>
          <a:p>
            <a:pPr algn="ctr"/>
            <a:endParaRPr lang="zh-CN" altLang="en-US"/>
          </a:p>
        </p:txBody>
      </p:sp>
      <p:sp>
        <p:nvSpPr>
          <p:cNvPr id="36" name="文本框 35"/>
          <p:cNvSpPr txBox="1"/>
          <p:nvPr/>
        </p:nvSpPr>
        <p:spPr>
          <a:xfrm>
            <a:off x="411480" y="5792470"/>
            <a:ext cx="4572000" cy="583565"/>
          </a:xfrm>
          <a:prstGeom prst="rect">
            <a:avLst/>
          </a:prstGeom>
          <a:noFill/>
        </p:spPr>
        <p:txBody>
          <a:bodyPr wrap="square" rtlCol="0" anchor="t">
            <a:spAutoFit/>
          </a:bodyPr>
          <a:p>
            <a:r>
              <a:rPr lang="en-US" altLang="zh-CN" sz="2800" b="1" dirty="0">
                <a:solidFill>
                  <a:schemeClr val="tx2"/>
                </a:solidFill>
                <a:latin typeface="+mj-lt"/>
                <a:cs typeface="+mj-lt"/>
                <a:sym typeface="+mn-ea"/>
              </a:rPr>
              <a:t>GJR-GARCH(1,1)-</a:t>
            </a:r>
            <a:r>
              <a:rPr lang="en-US" altLang="zh-CN" sz="2800" b="1" dirty="0">
                <a:solidFill>
                  <a:schemeClr val="tx2"/>
                </a:solidFill>
                <a:latin typeface="+mj-lt"/>
                <a:cs typeface="+mj-lt"/>
                <a:sym typeface="+mn-ea"/>
              </a:rPr>
              <a:t>t </a:t>
            </a:r>
            <a:r>
              <a:rPr lang="en-US" altLang="zh-CN" sz="3200" b="1" dirty="0">
                <a:solidFill>
                  <a:schemeClr val="tx2"/>
                </a:solidFill>
                <a:latin typeface="+mj-lt"/>
                <a:cs typeface="+mj-lt"/>
                <a:sym typeface="+mn-ea"/>
              </a:rPr>
              <a:t>√</a:t>
            </a:r>
            <a:endParaRPr lang="en-US" altLang="zh-CN" sz="3200" b="1" dirty="0">
              <a:solidFill>
                <a:schemeClr val="tx2"/>
              </a:solidFill>
              <a:latin typeface="+mj-lt"/>
              <a:cs typeface="+mj-lt"/>
              <a:sym typeface="+mn-ea"/>
            </a:endParaRPr>
          </a:p>
        </p:txBody>
      </p:sp>
      <p:cxnSp>
        <p:nvCxnSpPr>
          <p:cNvPr id="37" name="肘形连接符 36"/>
          <p:cNvCxnSpPr>
            <a:stCxn id="34" idx="2"/>
          </p:cNvCxnSpPr>
          <p:nvPr/>
        </p:nvCxnSpPr>
        <p:spPr>
          <a:xfrm rot="5400000">
            <a:off x="6088380" y="3737610"/>
            <a:ext cx="334645" cy="4445635"/>
          </a:xfrm>
          <a:prstGeom prst="bentConnector2">
            <a:avLst/>
          </a:prstGeom>
          <a:ln w="38100">
            <a:solidFill>
              <a:schemeClr val="tx2"/>
            </a:solidFill>
            <a:tailEnd type="arrow"/>
          </a:ln>
        </p:spPr>
        <p:style>
          <a:lnRef idx="2">
            <a:schemeClr val="accent1"/>
          </a:lnRef>
          <a:fillRef idx="0">
            <a:srgbClr val="FFFFFF"/>
          </a:fillRef>
          <a:effectRef idx="0">
            <a:srgbClr val="FFFFFF"/>
          </a:effectRef>
          <a:fontRef idx="minor">
            <a:schemeClr val="tx1"/>
          </a:fontRef>
        </p:style>
      </p:cxn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8"/>
                                        </p:tgtEl>
                                        <p:attrNameLst>
                                          <p:attrName>style.visibility</p:attrName>
                                        </p:attrNameLst>
                                      </p:cBhvr>
                                      <p:to>
                                        <p:strVal val="visible"/>
                                      </p:to>
                                    </p:set>
                                  </p:childTnLst>
                                </p:cTn>
                              </p:par>
                              <p:par>
                                <p:cTn id="9" presetID="1" presetClass="entr" presetSubtype="0" fill="hold" grpId="0" nodeType="withEffect">
                                  <p:stCondLst>
                                    <p:cond delay="0"/>
                                  </p:stCondLst>
                                  <p:childTnLst>
                                    <p:set>
                                      <p:cBhvr>
                                        <p:cTn id="10" dur="1" fill="hold">
                                          <p:stCondLst>
                                            <p:cond delay="0"/>
                                          </p:stCondLst>
                                        </p:cTn>
                                        <p:tgtEl>
                                          <p:spTgt spid="20"/>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9"/>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21"/>
                                        </p:tgtEl>
                                        <p:attrNameLst>
                                          <p:attrName>style.visibility</p:attrName>
                                        </p:attrNameLst>
                                      </p:cBhvr>
                                      <p:to>
                                        <p:strVal val="visible"/>
                                      </p:to>
                                    </p:set>
                                  </p:childTnLst>
                                </p:cTn>
                              </p:par>
                              <p:par>
                                <p:cTn id="15" presetID="1" presetClass="entr" presetSubtype="0" fill="hold" grpId="0" nodeType="withEffect">
                                  <p:stCondLst>
                                    <p:cond delay="0"/>
                                  </p:stCondLst>
                                  <p:childTnLst>
                                    <p:set>
                                      <p:cBhvr>
                                        <p:cTn id="16" dur="1" fill="hold">
                                          <p:stCondLst>
                                            <p:cond delay="0"/>
                                          </p:stCondLst>
                                        </p:cTn>
                                        <p:tgtEl>
                                          <p:spTgt spid="26"/>
                                        </p:tgtEl>
                                        <p:attrNameLst>
                                          <p:attrName>style.visibility</p:attrName>
                                        </p:attrNameLst>
                                      </p:cBhvr>
                                      <p:to>
                                        <p:strVal val="visible"/>
                                      </p:to>
                                    </p:set>
                                  </p:childTnLst>
                                </p:cTn>
                              </p:par>
                              <p:par>
                                <p:cTn id="17" presetID="1" presetClass="entr" presetSubtype="0" fill="hold" nodeType="withEffect">
                                  <p:stCondLst>
                                    <p:cond delay="0"/>
                                  </p:stCondLst>
                                  <p:childTnLst>
                                    <p:set>
                                      <p:cBhvr>
                                        <p:cTn id="18" dur="1" fill="hold">
                                          <p:stCondLst>
                                            <p:cond delay="0"/>
                                          </p:stCondLst>
                                        </p:cTn>
                                        <p:tgtEl>
                                          <p:spTgt spid="2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9"/>
                                        </p:tgtEl>
                                        <p:attrNameLst>
                                          <p:attrName>style.visibility</p:attrName>
                                        </p:attrNameLst>
                                      </p:cBhvr>
                                      <p:to>
                                        <p:strVal val="visible"/>
                                      </p:to>
                                    </p:set>
                                  </p:childTnLst>
                                </p:cTn>
                              </p:par>
                              <p:par>
                                <p:cTn id="21" presetID="1" presetClass="entr" presetSubtype="0" fill="hold" grpId="0" nodeType="withEffect">
                                  <p:stCondLst>
                                    <p:cond delay="0"/>
                                  </p:stCondLst>
                                  <p:childTnLst>
                                    <p:set>
                                      <p:cBhvr>
                                        <p:cTn id="22" dur="1" fill="hold">
                                          <p:stCondLst>
                                            <p:cond delay="0"/>
                                          </p:stCondLst>
                                        </p:cTn>
                                        <p:tgtEl>
                                          <p:spTgt spid="23"/>
                                        </p:tgtEl>
                                        <p:attrNameLst>
                                          <p:attrName>style.visibility</p:attrName>
                                        </p:attrNameLst>
                                      </p:cBhvr>
                                      <p:to>
                                        <p:strVal val="visible"/>
                                      </p:to>
                                    </p:set>
                                  </p:childTnLst>
                                </p:cTn>
                              </p:par>
                            </p:childTnLst>
                          </p:cTn>
                        </p:par>
                      </p:childTnLst>
                    </p:cTn>
                  </p:par>
                  <p:par>
                    <p:cTn id="23" fill="hold">
                      <p:stCondLst>
                        <p:cond delay="indefinite"/>
                      </p:stCondLst>
                      <p:childTnLst>
                        <p:par>
                          <p:cTn id="24" fill="hold">
                            <p:stCondLst>
                              <p:cond delay="0"/>
                            </p:stCondLst>
                            <p:childTnLst>
                              <p:par>
                                <p:cTn id="25" presetID="1" presetClass="entr" presetSubtype="0" fill="hold" grpId="0" nodeType="clickEffect">
                                  <p:stCondLst>
                                    <p:cond delay="0"/>
                                  </p:stCondLst>
                                  <p:childTnLst>
                                    <p:set>
                                      <p:cBhvr>
                                        <p:cTn id="26" dur="1" fill="hold">
                                          <p:stCondLst>
                                            <p:cond delay="0"/>
                                          </p:stCondLst>
                                        </p:cTn>
                                        <p:tgtEl>
                                          <p:spTgt spid="31"/>
                                        </p:tgtEl>
                                        <p:attrNameLst>
                                          <p:attrName>style.visibility</p:attrName>
                                        </p:attrNameLst>
                                      </p:cBhvr>
                                      <p:to>
                                        <p:strVal val="visible"/>
                                      </p:to>
                                    </p:set>
                                  </p:childTnLst>
                                </p:cTn>
                              </p:par>
                            </p:childTnLst>
                          </p:cTn>
                        </p:par>
                      </p:childTnLst>
                    </p:cTn>
                  </p:par>
                  <p:par>
                    <p:cTn id="27" fill="hold">
                      <p:stCondLst>
                        <p:cond delay="indefinite"/>
                      </p:stCondLst>
                      <p:childTnLst>
                        <p:par>
                          <p:cTn id="28" fill="hold">
                            <p:stCondLst>
                              <p:cond delay="0"/>
                            </p:stCondLst>
                            <p:childTnLst>
                              <p:par>
                                <p:cTn id="29" presetID="1" presetClass="entr" presetSubtype="0" fill="hold" nodeType="clickEffect">
                                  <p:stCondLst>
                                    <p:cond delay="0"/>
                                  </p:stCondLst>
                                  <p:childTnLst>
                                    <p:set>
                                      <p:cBhvr>
                                        <p:cTn id="30" dur="1" fill="hold">
                                          <p:stCondLst>
                                            <p:cond delay="0"/>
                                          </p:stCondLst>
                                        </p:cTn>
                                        <p:tgtEl>
                                          <p:spTgt spid="5"/>
                                        </p:tgtEl>
                                        <p:attrNameLst>
                                          <p:attrName>style.visibility</p:attrName>
                                        </p:attrNameLst>
                                      </p:cBhvr>
                                      <p:to>
                                        <p:strVal val="visible"/>
                                      </p:to>
                                    </p:set>
                                  </p:childTnLst>
                                </p:cTn>
                              </p:par>
                              <p:par>
                                <p:cTn id="31" presetID="1" presetClass="entr" presetSubtype="0" fill="hold" grpId="0" nodeType="withEffect">
                                  <p:stCondLst>
                                    <p:cond delay="0"/>
                                  </p:stCondLst>
                                  <p:childTnLst>
                                    <p:set>
                                      <p:cBhvr>
                                        <p:cTn id="32" dur="1" fill="hold">
                                          <p:stCondLst>
                                            <p:cond delay="0"/>
                                          </p:stCondLst>
                                        </p:cTn>
                                        <p:tgtEl>
                                          <p:spTgt spid="35"/>
                                        </p:tgtEl>
                                        <p:attrNameLst>
                                          <p:attrName>style.visibility</p:attrName>
                                        </p:attrNameLst>
                                      </p:cBhvr>
                                      <p:to>
                                        <p:strVal val="visible"/>
                                      </p:to>
                                    </p:set>
                                  </p:childTnLst>
                                </p:cTn>
                              </p:par>
                              <p:par>
                                <p:cTn id="33" presetID="1" presetClass="entr" presetSubtype="0" fill="hold" grpId="0" nodeType="withEffect">
                                  <p:stCondLst>
                                    <p:cond delay="0"/>
                                  </p:stCondLst>
                                  <p:childTnLst>
                                    <p:set>
                                      <p:cBhvr>
                                        <p:cTn id="34" dur="1" fill="hold">
                                          <p:stCondLst>
                                            <p:cond delay="0"/>
                                          </p:stCondLst>
                                        </p:cTn>
                                        <p:tgtEl>
                                          <p:spTgt spid="34"/>
                                        </p:tgtEl>
                                        <p:attrNameLst>
                                          <p:attrName>style.visibility</p:attrName>
                                        </p:attrNameLst>
                                      </p:cBhvr>
                                      <p:to>
                                        <p:strVal val="visible"/>
                                      </p:to>
                                    </p:set>
                                  </p:childTnLst>
                                </p:cTn>
                              </p:par>
                              <p:par>
                                <p:cTn id="35" presetID="1" presetClass="entr" presetSubtype="0" fill="hold" nodeType="withEffect">
                                  <p:stCondLst>
                                    <p:cond delay="0"/>
                                  </p:stCondLst>
                                  <p:childTnLst>
                                    <p:set>
                                      <p:cBhvr>
                                        <p:cTn id="36" dur="1" fill="hold">
                                          <p:stCondLst>
                                            <p:cond delay="0"/>
                                          </p:stCondLst>
                                        </p:cTn>
                                        <p:tgtEl>
                                          <p:spTgt spid="37"/>
                                        </p:tgtEl>
                                        <p:attrNameLst>
                                          <p:attrName>style.visibility</p:attrName>
                                        </p:attrNameLst>
                                      </p:cBhvr>
                                      <p:to>
                                        <p:strVal val="visible"/>
                                      </p:to>
                                    </p:set>
                                  </p:childTnLst>
                                </p:cTn>
                              </p:par>
                              <p:par>
                                <p:cTn id="37" presetID="1" presetClass="entr" presetSubtype="0" fill="hold" grpId="0" nodeType="withEffect">
                                  <p:stCondLst>
                                    <p:cond delay="0"/>
                                  </p:stCondLst>
                                  <p:childTnLst>
                                    <p:set>
                                      <p:cBhvr>
                                        <p:cTn id="38" dur="1" fill="hold">
                                          <p:stCondLst>
                                            <p:cond delay="0"/>
                                          </p:stCondLst>
                                        </p:cTn>
                                        <p:tgtEl>
                                          <p:spTgt spid="36"/>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18" grpId="0" animBg="1"/>
      <p:bldP spid="20" grpId="0" animBg="1"/>
      <p:bldP spid="19" grpId="0" animBg="1"/>
      <p:bldP spid="21" grpId="0" animBg="1"/>
      <p:bldP spid="26" grpId="0"/>
      <p:bldP spid="29" grpId="0"/>
      <p:bldP spid="23" grpId="0"/>
      <p:bldP spid="18" grpId="1" animBg="1"/>
      <p:bldP spid="20" grpId="1" animBg="1"/>
      <p:bldP spid="19" grpId="1" animBg="1"/>
      <p:bldP spid="21" grpId="1" animBg="1"/>
      <p:bldP spid="26" grpId="1"/>
      <p:bldP spid="29" grpId="1"/>
      <p:bldP spid="23" grpId="1"/>
      <p:bldP spid="31" grpId="0"/>
      <p:bldP spid="31" grpId="1"/>
      <p:bldP spid="35" grpId="0" animBg="1"/>
      <p:bldP spid="34" grpId="0" animBg="1"/>
      <p:bldP spid="36" grpId="0"/>
      <p:bldP spid="35" grpId="1" animBg="1"/>
      <p:bldP spid="34" grpId="1" animBg="1"/>
      <p:bldP spid="36" grpId="1"/>
    </p:bldLst>
  </p:timing>
</p:sld>
</file>

<file path=ppt/slides/slide15.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sz="2800" dirty="0"/>
              <a:t>Singapore Strategy:</a:t>
            </a:r>
            <a:r>
              <a:rPr altLang="zh-CN" sz="2000">
                <a:sym typeface="+mn-ea"/>
              </a:rPr>
              <a:t>How much ES3 should we hold each day ?</a:t>
            </a:r>
            <a:endParaRPr lang="en-US" altLang="zh-CN" sz="2000" dirty="0">
              <a:sym typeface="+mn-ea"/>
            </a:endParaRPr>
          </a:p>
        </p:txBody>
      </p:sp>
      <p:sp>
        <p:nvSpPr>
          <p:cNvPr id="3" name="Shape 1"/>
          <p:cNvSpPr/>
          <p:nvPr/>
        </p:nvSpPr>
        <p:spPr>
          <a:xfrm>
            <a:off x="457200" y="1494155"/>
            <a:ext cx="8229600" cy="1249045"/>
          </a:xfrm>
          <a:prstGeom prst="roundRect">
            <a:avLst>
              <a:gd name="adj" fmla="val 5333"/>
            </a:avLst>
          </a:prstGeom>
          <a:solidFill>
            <a:schemeClr val="bg2"/>
          </a:solidFill>
          <a:ln w="12700">
            <a:solidFill>
              <a:schemeClr val="bg2"/>
            </a:solidFill>
            <a:prstDash val="solid"/>
          </a:ln>
        </p:spPr>
      </p:sp>
      <mc:AlternateContent xmlns:mc="http://schemas.openxmlformats.org/markup-compatibility/2006">
        <mc:Choice xmlns:a14="http://schemas.microsoft.com/office/drawing/2010/main" Requires="a14">
          <p:sp>
            <p:nvSpPr>
              <p:cNvPr id="4" name="Text 2"/>
              <p:cNvSpPr txBox="1"/>
              <p:nvPr/>
            </p:nvSpPr>
            <p:spPr>
              <a:xfrm>
                <a:off x="640080" y="1531620"/>
                <a:ext cx="7863840" cy="731520"/>
              </a:xfrm>
              <a:prstGeom prst="rect">
                <a:avLst/>
              </a:prstGeom>
              <a:noFill/>
            </p:spPr>
            <p:txBody>
              <a:bodyPr wrap="square" rtlCol="0" anchor="ctr"/>
              <a:lstStyle/>
              <a:p>
                <a:pPr marL="0" indent="0" algn="ctr">
                  <a:buNone/>
                </a:pPr>
                <a14:m>
                  <m:oMath xmlns:m="http://schemas.openxmlformats.org/officeDocument/2006/math">
                    <m:r>
                      <a:rPr lang="en-US" altLang="zh-CN" sz="2200" i="1">
                        <a:solidFill>
                          <a:schemeClr val="tx2"/>
                        </a:solidFill>
                        <a:latin typeface="Cambria Math" panose="02040503050406030204" charset="0"/>
                        <a:cs typeface="Cambria Math" panose="02040503050406030204" charset="0"/>
                      </a:rPr>
                      <m:t>𝐸𝑆</m:t>
                    </m:r>
                    <m:r>
                      <a:rPr lang="en-US" altLang="zh-CN" sz="2200" i="1">
                        <a:solidFill>
                          <a:schemeClr val="tx2"/>
                        </a:solidFill>
                        <a:latin typeface="Cambria Math" panose="02040503050406030204" charset="0"/>
                        <a:ea typeface="MS Mincho" panose="02020609040205080304" charset="-128"/>
                        <a:cs typeface="Cambria Math" panose="02040503050406030204" charset="0"/>
                      </a:rPr>
                      <m:t>3</m:t>
                    </m:r>
                    <m:r>
                      <a:rPr lang="en-US" altLang="zh-CN" sz="2200" i="1">
                        <a:solidFill>
                          <a:schemeClr val="tx2"/>
                        </a:solidFill>
                        <a:latin typeface="Cambria Math" panose="02040503050406030204" charset="0"/>
                        <a:ea typeface="MS Mincho" panose="02020609040205080304" charset="-128"/>
                        <a:cs typeface="Cambria Math" panose="02040503050406030204" charset="0"/>
                      </a:rPr>
                      <m:t> </m:t>
                    </m:r>
                    <m:r>
                      <a:rPr lang="en-US" altLang="zh-CN" sz="2200" i="1">
                        <a:solidFill>
                          <a:schemeClr val="tx2"/>
                        </a:solidFill>
                        <a:latin typeface="Cambria Math" panose="02040503050406030204" charset="0"/>
                        <a:cs typeface="Cambria Math" panose="02040503050406030204" charset="0"/>
                      </a:rPr>
                      <m:t>𝑤𝑒𝑖𝑔ℎ𝑡</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func>
                      <m:funcPr>
                        <m:ctrlPr>
                          <a:rPr lang="en-US" altLang="zh-CN" sz="2200" i="1">
                            <a:solidFill>
                              <a:schemeClr val="tx2"/>
                            </a:solidFill>
                            <a:latin typeface="Cambria Math" panose="02040503050406030204" charset="0"/>
                            <a:cs typeface="Cambria Math" panose="02040503050406030204" charset="0"/>
                          </a:rPr>
                        </m:ctrlPr>
                      </m:funcPr>
                      <m:fName>
                        <m:r>
                          <a:rPr lang="en-US" sz="2200" i="1">
                            <a:solidFill>
                              <a:schemeClr val="tx2"/>
                            </a:solidFill>
                            <a:latin typeface="Cambria Math" panose="02040503050406030204" charset="0"/>
                            <a:cs typeface="Cambria Math" panose="02040503050406030204" charset="0"/>
                          </a:rPr>
                          <m:t>𝑚𝑖𝑛</m:t>
                        </m:r>
                      </m:fName>
                      <m:e>
                        <m:d>
                          <m:dPr>
                            <m:ctrlPr>
                              <a:rPr lang="en-US" altLang="zh-CN" sz="2200" i="1">
                                <a:solidFill>
                                  <a:schemeClr val="tx2"/>
                                </a:solidFill>
                                <a:latin typeface="Cambria Math" panose="02040503050406030204" charset="0"/>
                                <a:cs typeface="Cambria Math" panose="02040503050406030204" charset="0"/>
                              </a:rPr>
                            </m:ctrlPr>
                          </m:dPr>
                          <m:e>
                            <m:f>
                              <m:fPr>
                                <m:ctrlPr>
                                  <a:rPr lang="en-US" altLang="zh-CN" sz="2200" i="1">
                                    <a:solidFill>
                                      <a:schemeClr val="tx2"/>
                                    </a:solidFill>
                                    <a:latin typeface="Cambria Math" panose="02040503050406030204" charset="0"/>
                                    <a:cs typeface="Cambria Math" panose="02040503050406030204" charset="0"/>
                                  </a:rPr>
                                </m:ctrlPr>
                              </m:fPr>
                              <m:num>
                                <m:sSub>
                                  <m:sSubPr>
                                    <m:ctrlPr>
                                      <a:rPr lang="en-US" altLang="zh-CN" sz="2200" i="1">
                                        <a:solidFill>
                                          <a:schemeClr val="tx2"/>
                                        </a:solidFill>
                                        <a:latin typeface="Cambria Math" panose="02040503050406030204" charset="0"/>
                                        <a:cs typeface="Cambria Math" panose="02040503050406030204" charset="0"/>
                                      </a:rPr>
                                    </m:ctrlPr>
                                  </m:sSubPr>
                                  <m:e>
                                    <m:r>
                                      <a:rPr lang="en-US" altLang="zh-CN" sz="2200" i="1">
                                        <a:solidFill>
                                          <a:schemeClr val="tx2"/>
                                        </a:solidFill>
                                        <a:latin typeface="Cambria Math" panose="02040503050406030204" charset="0"/>
                                        <a:ea typeface="MS Mincho" panose="02020609040205080304" charset="-128"/>
                                        <a:cs typeface="Cambria Math" panose="02040503050406030204" charset="0"/>
                                      </a:rPr>
                                      <m:t>𝜎</m:t>
                                    </m:r>
                                  </m:e>
                                  <m:sub>
                                    <m:r>
                                      <a:rPr lang="en-US" altLang="zh-CN" sz="2200" i="1">
                                        <a:solidFill>
                                          <a:schemeClr val="tx2"/>
                                        </a:solidFill>
                                        <a:latin typeface="Cambria Math" panose="02040503050406030204" charset="0"/>
                                        <a:cs typeface="Cambria Math" panose="02040503050406030204" charset="0"/>
                                      </a:rPr>
                                      <m:t>𝑡𝑎𝑟𝑔𝑒𝑡</m:t>
                                    </m:r>
                                  </m:sub>
                                </m:sSub>
                              </m:num>
                              <m:den>
                                <m:sSub>
                                  <m:sSubPr>
                                    <m:ctrlPr>
                                      <a:rPr lang="en-US" altLang="zh-CN" sz="2200" i="1">
                                        <a:solidFill>
                                          <a:schemeClr val="tx2"/>
                                        </a:solidFill>
                                        <a:latin typeface="Cambria Math" panose="02040503050406030204" charset="0"/>
                                        <a:cs typeface="Cambria Math" panose="02040503050406030204" charset="0"/>
                                      </a:rPr>
                                    </m:ctrlPr>
                                  </m:sSubPr>
                                  <m:e>
                                    <m:acc>
                                      <m:accPr>
                                        <m:ctrlPr>
                                          <a:rPr lang="en-US" altLang="zh-CN" sz="2200" i="1">
                                            <a:solidFill>
                                              <a:schemeClr val="tx2"/>
                                            </a:solidFill>
                                            <a:latin typeface="Cambria Math" panose="02040503050406030204" charset="0"/>
                                            <a:cs typeface="Cambria Math" panose="02040503050406030204" charset="0"/>
                                          </a:rPr>
                                        </m:ctrlPr>
                                      </m:accPr>
                                      <m:e>
                                        <m:r>
                                          <a:rPr lang="en-US" altLang="zh-CN" sz="2200" i="1">
                                            <a:solidFill>
                                              <a:schemeClr val="tx2"/>
                                            </a:solidFill>
                                            <a:latin typeface="Cambria Math" panose="02040503050406030204" charset="0"/>
                                            <a:ea typeface="MS Mincho" panose="02020609040205080304" charset="-128"/>
                                            <a:cs typeface="Cambria Math" panose="02040503050406030204" charset="0"/>
                                          </a:rPr>
                                          <m:t>𝜎</m:t>
                                        </m:r>
                                      </m:e>
                                    </m:acc>
                                  </m:e>
                                  <m:sub>
                                    <m:r>
                                      <a:rPr lang="en-US" altLang="zh-CN" sz="2200" i="1">
                                        <a:solidFill>
                                          <a:schemeClr val="tx2"/>
                                        </a:solidFill>
                                        <a:latin typeface="Cambria Math" panose="02040503050406030204" charset="0"/>
                                        <a:cs typeface="Cambria Math" panose="02040503050406030204" charset="0"/>
                                      </a:rPr>
                                      <m:t>𝐺𝐽𝑅</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r>
                                      <a:rPr lang="en-US" altLang="zh-CN" sz="2200" i="1">
                                        <a:solidFill>
                                          <a:schemeClr val="tx2"/>
                                        </a:solidFill>
                                        <a:latin typeface="Cambria Math" panose="02040503050406030204" charset="0"/>
                                        <a:cs typeface="Cambria Math" panose="02040503050406030204" charset="0"/>
                                      </a:rPr>
                                      <m:t>𝐺𝐴𝑅𝐶𝐻</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r>
                                      <a:rPr lang="en-US" altLang="zh-CN" sz="2200" i="1">
                                        <a:solidFill>
                                          <a:schemeClr val="tx2"/>
                                        </a:solidFill>
                                        <a:latin typeface="Cambria Math" panose="02040503050406030204" charset="0"/>
                                        <a:ea typeface="MS Mincho" panose="02020609040205080304" charset="-128"/>
                                        <a:cs typeface="Cambria Math" panose="02040503050406030204" charset="0"/>
                                      </a:rPr>
                                      <m:t>1</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r>
                                      <a:rPr lang="en-US" altLang="zh-CN" sz="2200" i="1">
                                        <a:solidFill>
                                          <a:schemeClr val="tx2"/>
                                        </a:solidFill>
                                        <a:latin typeface="Cambria Math" panose="02040503050406030204" charset="0"/>
                                        <a:ea typeface="MS Mincho" panose="02020609040205080304" charset="-128"/>
                                        <a:cs typeface="Cambria Math" panose="02040503050406030204" charset="0"/>
                                      </a:rPr>
                                      <m:t>1</m:t>
                                    </m:r>
                                    <m:r>
                                      <a:rPr lang="en-US" altLang="zh-CN" sz="2200" i="1">
                                        <a:solidFill>
                                          <a:schemeClr val="tx2"/>
                                        </a:solidFill>
                                        <a:latin typeface="Cambria Math" panose="02040503050406030204" charset="0"/>
                                        <a:ea typeface="MS Mincho" panose="02020609040205080304" charset="-128"/>
                                        <a:cs typeface="Cambria Math" panose="02040503050406030204" charset="0"/>
                                      </a:rPr>
                                      <m:t>)−</m:t>
                                    </m:r>
                                    <m:r>
                                      <a:rPr lang="en-US" altLang="zh-CN" sz="2200" i="1">
                                        <a:solidFill>
                                          <a:schemeClr val="tx2"/>
                                        </a:solidFill>
                                        <a:latin typeface="Cambria Math" panose="02040503050406030204" charset="0"/>
                                        <a:cs typeface="Cambria Math" panose="02040503050406030204" charset="0"/>
                                      </a:rPr>
                                      <m:t>𝑡</m:t>
                                    </m:r>
                                  </m:sub>
                                </m:sSub>
                              </m:den>
                            </m:f>
                            <m:r>
                              <a:rPr lang="en-US" altLang="zh-CN" sz="2200" i="1">
                                <a:solidFill>
                                  <a:schemeClr val="tx2"/>
                                </a:solidFill>
                                <a:latin typeface="Cambria Math" panose="02040503050406030204" charset="0"/>
                                <a:ea typeface="MS Mincho" panose="02020609040205080304" charset="-128"/>
                                <a:cs typeface="Cambria Math" panose="02040503050406030204" charset="0"/>
                              </a:rPr>
                              <m:t>, </m:t>
                            </m:r>
                            <m:r>
                              <a:rPr lang="en-US" altLang="zh-CN" sz="2200" i="1">
                                <a:solidFill>
                                  <a:schemeClr val="tx2"/>
                                </a:solidFill>
                                <a:latin typeface="Cambria Math" panose="02040503050406030204" charset="0"/>
                                <a:ea typeface="MS Mincho" panose="02020609040205080304" charset="-128"/>
                                <a:cs typeface="Cambria Math" panose="02040503050406030204" charset="0"/>
                              </a:rPr>
                              <m:t>1</m:t>
                            </m:r>
                          </m:e>
                        </m:d>
                      </m:e>
                    </m:func>
                  </m:oMath>
                </a14:m>
                <a:r>
                  <a:rPr lang="en-US" sz="2200" dirty="0">
                    <a:solidFill>
                      <a:schemeClr val="tx2"/>
                    </a:solidFill>
                    <a:latin typeface="Cambria" panose="02040503050406030204" pitchFamily="34" charset="0"/>
                    <a:ea typeface="Cambria" panose="02040503050406030204" pitchFamily="34" charset="-122"/>
                    <a:cs typeface="Cambria" panose="02040503050406030204" pitchFamily="34" charset="-120"/>
                  </a:rPr>
                  <a:t> </a:t>
                </a:r>
                <a:endParaRPr lang="en-US" sz="2200" dirty="0">
                  <a:solidFill>
                    <a:schemeClr val="tx2"/>
                  </a:solidFill>
                  <a:latin typeface="Cambria" panose="02040503050406030204" pitchFamily="34" charset="0"/>
                  <a:ea typeface="Cambria" panose="02040503050406030204" pitchFamily="34" charset="-122"/>
                  <a:cs typeface="Cambria" panose="02040503050406030204" pitchFamily="34" charset="-120"/>
                </a:endParaRPr>
              </a:p>
            </p:txBody>
          </p:sp>
        </mc:Choice>
        <mc:Fallback>
          <p:sp>
            <p:nvSpPr>
              <p:cNvPr id="4" name="Text 2"/>
              <p:cNvSpPr txBox="1">
                <a:spLocks noRot="1" noChangeAspect="1" noMove="1" noResize="1" noEditPoints="1" noAdjustHandles="1" noChangeArrowheads="1" noChangeShapeType="1" noTextEdit="1"/>
              </p:cNvSpPr>
              <p:nvPr/>
            </p:nvSpPr>
            <p:spPr>
              <a:xfrm>
                <a:off x="640080" y="1531620"/>
                <a:ext cx="7863840" cy="731520"/>
              </a:xfrm>
              <a:prstGeom prst="rect">
                <a:avLst/>
              </a:prstGeom>
              <a:blipFill rotWithShape="1">
                <a:blip r:embed="rId1"/>
                <a:stretch>
                  <a:fillRect/>
                </a:stretch>
              </a:blipFill>
            </p:spPr>
            <p:txBody>
              <a:bodyPr/>
              <a:lstStyle/>
              <a:p>
                <a:r>
                  <a:rPr lang="zh-CN" altLang="en-US">
                    <a:noFill/>
                  </a:rPr>
                  <a:t> </a:t>
                </a:r>
              </a:p>
            </p:txBody>
          </p:sp>
        </mc:Fallback>
      </mc:AlternateContent>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
        <p:nvSpPr>
          <p:cNvPr id="17" name="文本框 16"/>
          <p:cNvSpPr txBox="1"/>
          <p:nvPr/>
        </p:nvSpPr>
        <p:spPr>
          <a:xfrm>
            <a:off x="411480" y="1034415"/>
            <a:ext cx="8318500" cy="368300"/>
          </a:xfrm>
          <a:prstGeom prst="rect">
            <a:avLst/>
          </a:prstGeom>
          <a:noFill/>
        </p:spPr>
        <p:txBody>
          <a:bodyPr wrap="square" rtlCol="0" anchor="t">
            <a:spAutoFit/>
          </a:bodyPr>
          <a:p>
            <a:pPr algn="l"/>
            <a:r>
              <a:rPr lang="en-US" altLang="zh-CN" b="1" dirty="0">
                <a:solidFill>
                  <a:schemeClr val="tx2"/>
                </a:solidFill>
                <a:latin typeface="+mj-lt"/>
                <a:ea typeface="+mj-ea"/>
                <a:cs typeface="+mj-cs"/>
                <a:sym typeface="+mn-ea"/>
              </a:rPr>
              <a:t>Assets: ES3.SI (SPDR STI ETF) + A35.SI (ABF Singapore Bond Index Fund)</a:t>
            </a:r>
            <a:endParaRPr lang="en-US" altLang="zh-CN" b="1" dirty="0">
              <a:solidFill>
                <a:schemeClr val="tx2"/>
              </a:solidFill>
              <a:latin typeface="+mj-lt"/>
              <a:ea typeface="+mj-ea"/>
              <a:cs typeface="+mj-cs"/>
              <a:sym typeface="+mn-ea"/>
            </a:endParaRPr>
          </a:p>
        </p:txBody>
      </p:sp>
      <p:sp>
        <p:nvSpPr>
          <p:cNvPr id="15" name="Text 2"/>
          <p:cNvSpPr txBox="1"/>
          <p:nvPr/>
        </p:nvSpPr>
        <p:spPr>
          <a:xfrm>
            <a:off x="640080" y="2122170"/>
            <a:ext cx="7863840" cy="731520"/>
          </a:xfrm>
          <a:prstGeom prst="rect">
            <a:avLst/>
          </a:prstGeom>
          <a:noFill/>
        </p:spPr>
        <p:txBody>
          <a:bodyPr wrap="square" rtlCol="0" anchor="ctr"/>
          <a:lstStyle/>
          <a:p>
            <a:pPr marL="0" indent="0" algn="ctr">
              <a:buNone/>
            </a:pPr>
            <a:r>
              <a:rPr lang="en-US" altLang="zh-CN" sz="2200" dirty="0">
                <a:solidFill>
                  <a:schemeClr val="tx2"/>
                </a:solidFill>
                <a:latin typeface="Cambria" panose="02040503050406030204" pitchFamily="34" charset="0"/>
                <a:ea typeface="Cambria" panose="02040503050406030204" pitchFamily="34" charset="-122"/>
                <a:cs typeface="Cambria" panose="02040503050406030204" pitchFamily="34" charset="-120"/>
              </a:rPr>
              <a:t>A35 weight = 1-ES3 weight</a:t>
            </a:r>
            <a:endParaRPr lang="zh-CN" altLang="en-US" sz="2200" dirty="0">
              <a:solidFill>
                <a:schemeClr val="tx2"/>
              </a:solidFill>
              <a:latin typeface="Cambria" panose="02040503050406030204" pitchFamily="34" charset="0"/>
              <a:ea typeface="宋体" panose="02010600030101010101" pitchFamily="2" charset="-122"/>
              <a:cs typeface="Cambria" panose="02040503050406030204" pitchFamily="34" charset="-120"/>
            </a:endParaRPr>
          </a:p>
        </p:txBody>
      </p:sp>
      <p:pic>
        <p:nvPicPr>
          <p:cNvPr id="16" name="图片 15"/>
          <p:cNvPicPr/>
          <p:nvPr/>
        </p:nvPicPr>
        <p:blipFill>
          <a:blip r:embed="rId2"/>
          <a:stretch>
            <a:fillRect/>
          </a:stretch>
        </p:blipFill>
        <p:spPr>
          <a:xfrm>
            <a:off x="792480" y="2961640"/>
            <a:ext cx="3143250" cy="2023745"/>
          </a:xfrm>
          <a:prstGeom prst="rect">
            <a:avLst/>
          </a:prstGeom>
        </p:spPr>
      </p:pic>
      <p:pic>
        <p:nvPicPr>
          <p:cNvPr id="18" name="图片 17"/>
          <p:cNvPicPr/>
          <p:nvPr/>
        </p:nvPicPr>
        <p:blipFill>
          <a:blip r:embed="rId3"/>
          <a:stretch>
            <a:fillRect/>
          </a:stretch>
        </p:blipFill>
        <p:spPr>
          <a:xfrm>
            <a:off x="5140960" y="2961640"/>
            <a:ext cx="3136265" cy="2029460"/>
          </a:xfrm>
          <a:prstGeom prst="rect">
            <a:avLst/>
          </a:prstGeom>
        </p:spPr>
      </p:pic>
      <p:sp>
        <p:nvSpPr>
          <p:cNvPr id="19" name="文本框 18"/>
          <p:cNvSpPr txBox="1"/>
          <p:nvPr/>
        </p:nvSpPr>
        <p:spPr>
          <a:xfrm>
            <a:off x="1343025" y="4991735"/>
            <a:ext cx="2042160" cy="374650"/>
          </a:xfrm>
          <a:prstGeom prst="rect">
            <a:avLst/>
          </a:prstGeom>
          <a:noFill/>
        </p:spPr>
        <p:txBody>
          <a:bodyPr wrap="square" rtlCol="0">
            <a:noAutofit/>
          </a:bodyPr>
          <a:p>
            <a:r>
              <a:rPr lang="en-US" altLang="zh-CN" b="1">
                <a:solidFill>
                  <a:schemeClr val="tx2"/>
                </a:solidFill>
                <a:latin typeface="+mj-lt"/>
                <a:cs typeface="+mj-lt"/>
              </a:rPr>
              <a:t>stock↓  bonds↑</a:t>
            </a:r>
            <a:endParaRPr lang="en-US" altLang="zh-CN" b="1">
              <a:solidFill>
                <a:schemeClr val="tx2"/>
              </a:solidFill>
              <a:latin typeface="+mj-lt"/>
              <a:cs typeface="+mj-lt"/>
            </a:endParaRPr>
          </a:p>
        </p:txBody>
      </p:sp>
      <p:sp>
        <p:nvSpPr>
          <p:cNvPr id="20" name="文本框 19"/>
          <p:cNvSpPr txBox="1"/>
          <p:nvPr/>
        </p:nvSpPr>
        <p:spPr>
          <a:xfrm>
            <a:off x="5596255" y="4997450"/>
            <a:ext cx="2225040" cy="372745"/>
          </a:xfrm>
          <a:prstGeom prst="rect">
            <a:avLst/>
          </a:prstGeom>
          <a:noFill/>
        </p:spPr>
        <p:txBody>
          <a:bodyPr wrap="square" rtlCol="0" anchor="t">
            <a:noAutofit/>
          </a:bodyPr>
          <a:p>
            <a:r>
              <a:rPr lang="en-US" altLang="zh-CN" b="1">
                <a:solidFill>
                  <a:schemeClr val="tx2"/>
                </a:solidFill>
                <a:latin typeface="+mj-lt"/>
                <a:cs typeface="+mj-lt"/>
                <a:sym typeface="+mn-ea"/>
              </a:rPr>
              <a:t>stock↑ bonds↓</a:t>
            </a:r>
            <a:endParaRPr lang="en-US" altLang="zh-CN" b="1">
              <a:solidFill>
                <a:schemeClr val="tx2"/>
              </a:solidFill>
              <a:latin typeface="+mj-lt"/>
              <a:cs typeface="+mj-lt"/>
              <a:sym typeface="+mn-ea"/>
            </a:endParaRPr>
          </a:p>
        </p:txBody>
      </p:sp>
      <p:sp>
        <p:nvSpPr>
          <p:cNvPr id="21" name="文本框 20"/>
          <p:cNvSpPr txBox="1"/>
          <p:nvPr/>
        </p:nvSpPr>
        <p:spPr>
          <a:xfrm>
            <a:off x="457200" y="5486400"/>
            <a:ext cx="8229600" cy="367665"/>
          </a:xfrm>
          <a:prstGeom prst="rect">
            <a:avLst/>
          </a:prstGeom>
          <a:solidFill>
            <a:schemeClr val="bg1">
              <a:lumMod val="85000"/>
            </a:schemeClr>
          </a:solidFill>
        </p:spPr>
        <p:txBody>
          <a:bodyPr wrap="square" rtlCol="0" anchor="t">
            <a:noAutofit/>
          </a:bodyPr>
          <a:p>
            <a:pPr algn="ctr"/>
            <a:r>
              <a:rPr lang="en-US" altLang="zh-CN" sz="1600" dirty="0">
                <a:solidFill>
                  <a:srgbClr val="C00000"/>
                </a:solidFill>
                <a:effectLst>
                  <a:innerShdw blurRad="63500" dist="50800" dir="13500000">
                    <a:srgbClr val="000000">
                      <a:alpha val="50000"/>
                    </a:srgbClr>
                  </a:innerShdw>
                </a:effectLst>
                <a:sym typeface="+mn-ea"/>
              </a:rPr>
              <a:t>We only rebalance when the weight changes by more than 10 percentage points.</a:t>
            </a:r>
            <a:endParaRPr lang="en-US" altLang="zh-CN" sz="1600" dirty="0">
              <a:solidFill>
                <a:srgbClr val="C00000"/>
              </a:solidFill>
              <a:effectLst>
                <a:innerShdw blurRad="63500" dist="50800" dir="13500000">
                  <a:srgbClr val="000000">
                    <a:alpha val="50000"/>
                  </a:srgbClr>
                </a:innerShdw>
              </a:effectLst>
              <a:sym typeface="+mn-ea"/>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4"/>
                                        </p:tgtEl>
                                        <p:attrNameLst>
                                          <p:attrName>style.visibility</p:attrName>
                                        </p:attrNameLst>
                                      </p:cBhvr>
                                      <p:to>
                                        <p:strVal val="visible"/>
                                      </p:to>
                                    </p:set>
                                  </p:childTnLst>
                                </p:cTn>
                              </p:par>
                              <p:par>
                                <p:cTn id="7" presetID="1" presetClass="entr" presetSubtype="0" fill="hold" grpId="0" nodeType="withEffect">
                                  <p:stCondLst>
                                    <p:cond delay="0"/>
                                  </p:stCondLst>
                                  <p:childTnLst>
                                    <p:set>
                                      <p:cBhvr>
                                        <p:cTn id="8" dur="1" fill="hold">
                                          <p:stCondLst>
                                            <p:cond delay="0"/>
                                          </p:stCondLst>
                                        </p:cTn>
                                        <p:tgtEl>
                                          <p:spTgt spid="15"/>
                                        </p:tgtEl>
                                        <p:attrNameLst>
                                          <p:attrName>style.visibility</p:attrName>
                                        </p:attrNameLst>
                                      </p:cBhvr>
                                      <p:to>
                                        <p:strVal val="visible"/>
                                      </p:to>
                                    </p:set>
                                  </p:childTnLst>
                                </p:cTn>
                              </p:par>
                            </p:childTnLst>
                          </p:cTn>
                        </p:par>
                      </p:childTnLst>
                    </p:cTn>
                  </p:par>
                  <p:par>
                    <p:cTn id="9" fill="hold">
                      <p:stCondLst>
                        <p:cond delay="indefinite"/>
                      </p:stCondLst>
                      <p:childTnLst>
                        <p:par>
                          <p:cTn id="10" fill="hold">
                            <p:stCondLst>
                              <p:cond delay="0"/>
                            </p:stCondLst>
                            <p:childTnLst>
                              <p:par>
                                <p:cTn id="11" presetID="1" presetClass="entr" presetSubtype="0" fill="hold" nodeType="clickEffect">
                                  <p:stCondLst>
                                    <p:cond delay="0"/>
                                  </p:stCondLst>
                                  <p:childTnLst>
                                    <p:set>
                                      <p:cBhvr>
                                        <p:cTn id="12" dur="1" fill="hold">
                                          <p:stCondLst>
                                            <p:cond delay="0"/>
                                          </p:stCondLst>
                                        </p:cTn>
                                        <p:tgtEl>
                                          <p:spTgt spid="16"/>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19"/>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18"/>
                                        </p:tgtEl>
                                        <p:attrNameLst>
                                          <p:attrName>style.visibility</p:attrName>
                                        </p:attrNameLst>
                                      </p:cBhvr>
                                      <p:to>
                                        <p:strVal val="visible"/>
                                      </p:to>
                                    </p:set>
                                  </p:childTnLst>
                                </p:cTn>
                              </p:par>
                              <p:par>
                                <p:cTn id="19" presetID="1" presetClass="entr" presetSubtype="0" fill="hold" grpId="0" nodeType="withEffect">
                                  <p:stCondLst>
                                    <p:cond delay="0"/>
                                  </p:stCondLst>
                                  <p:childTnLst>
                                    <p:set>
                                      <p:cBhvr>
                                        <p:cTn id="20" dur="1" fill="hold">
                                          <p:stCondLst>
                                            <p:cond delay="0"/>
                                          </p:stCondLst>
                                        </p:cTn>
                                        <p:tgtEl>
                                          <p:spTgt spid="20"/>
                                        </p:tgtEl>
                                        <p:attrNameLst>
                                          <p:attrName>style.visibility</p:attrName>
                                        </p:attrNameLst>
                                      </p:cBhvr>
                                      <p:to>
                                        <p:strVal val="visible"/>
                                      </p:to>
                                    </p:set>
                                  </p:childTnLst>
                                </p:cTn>
                              </p:par>
                            </p:childTnLst>
                          </p:cTn>
                        </p:par>
                      </p:childTnLst>
                    </p:cTn>
                  </p:par>
                  <p:par>
                    <p:cTn id="21" fill="hold">
                      <p:stCondLst>
                        <p:cond delay="indefinite"/>
                      </p:stCondLst>
                      <p:childTnLst>
                        <p:par>
                          <p:cTn id="22" fill="hold">
                            <p:stCondLst>
                              <p:cond delay="0"/>
                            </p:stCondLst>
                            <p:childTnLst>
                              <p:par>
                                <p:cTn id="23" presetID="1" presetClass="entr" presetSubtype="0" fill="hold" grpId="0" nodeType="clickEffect">
                                  <p:stCondLst>
                                    <p:cond delay="0"/>
                                  </p:stCondLst>
                                  <p:childTnLst>
                                    <p:set>
                                      <p:cBhvr>
                                        <p:cTn id="24" dur="1" fill="hold">
                                          <p:stCondLst>
                                            <p:cond delay="0"/>
                                          </p:stCondLst>
                                        </p:cTn>
                                        <p:tgtEl>
                                          <p:spTgt spid="21"/>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4" grpId="0"/>
      <p:bldP spid="15" grpId="0"/>
      <p:bldP spid="4" grpId="1"/>
      <p:bldP spid="15" grpId="1"/>
      <p:bldP spid="19" grpId="0"/>
      <p:bldP spid="19" grpId="1"/>
      <p:bldP spid="20" grpId="0"/>
      <p:bldP spid="20" grpId="1"/>
      <p:bldP spid="21" grpId="0" animBg="1"/>
      <p:bldP spid="21" grpId="1" animBg="1"/>
    </p:bldLst>
  </p:timing>
</p:sld>
</file>

<file path=ppt/slides/slide16.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2"/>
          <p:cNvSpPr/>
          <p:nvPr>
            <p:ph type="title" idx="102" hasCustomPrompt="1"/>
          </p:nvPr>
        </p:nvSpPr>
        <p:spPr>
          <a:xfrm>
            <a:off x="249555" y="2377440"/>
            <a:ext cx="8672830" cy="1097280"/>
          </a:xfrm>
          <a:prstGeom prst="rect">
            <a:avLst/>
          </a:prstGeom>
          <a:noFill/>
        </p:spPr>
        <p:txBody>
          <a:bodyPr wrap="square" rtlCol="0" anchor="ctr"/>
          <a:lstStyle/>
          <a:p>
            <a:pPr marL="0" indent="0" algn="ctr">
              <a:buNone/>
            </a:pPr>
            <a:r>
              <a:rPr sz="3600">
                <a:sym typeface="+mn-ea"/>
              </a:rPr>
              <a:t>Final Portfolio, Results &amp; Conclusion</a:t>
            </a:r>
            <a:r>
              <a:rPr sz="3600">
                <a:sym typeface="+mn-ea"/>
              </a:rPr>
              <a:t>s</a:t>
            </a:r>
            <a:endParaRPr sz="3600">
              <a:sym typeface="+mn-ea"/>
            </a:endParaRPr>
          </a:p>
        </p:txBody>
      </p:sp>
    </p:spTree>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Backtest vs QQQ and SPY</a:t>
            </a:r>
            <a:endParaRPr lang="en-US" sz="32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graphicFrame>
        <p:nvGraphicFramePr>
          <p:cNvPr id="26" name="Table"/>
          <p:cNvGraphicFramePr>
            <a:graphicFrameLocks noGrp="1"/>
          </p:cNvGraphicFramePr>
          <p:nvPr/>
        </p:nvGraphicFramePr>
        <p:xfrm>
          <a:off x="457200" y="1188720"/>
          <a:ext cx="8229600" cy="1316736"/>
        </p:xfrm>
        <a:graphic>
          <a:graphicData uri="http://schemas.openxmlformats.org/drawingml/2006/table">
            <a:tbl>
              <a:tblPr/>
              <a:tblGrid>
                <a:gridCol w="1600200"/>
                <a:gridCol w="1600200"/>
                <a:gridCol w="1737360"/>
                <a:gridCol w="1737360"/>
                <a:gridCol w="1554480"/>
              </a:tblGrid>
              <a:tr h="329184">
                <a:tc>
                  <a:txBody>
                    <a:bodyPr/>
                    <a:lstStyle/>
                    <a:p>
                      <a:r>
                        <a:rPr sz="1000" b="1">
                          <a:solidFill>
                            <a:srgbClr val="FFFFFF"/>
                          </a:solidFill>
                        </a:rPr>
                        <a:t>Period</a:t>
                      </a:r>
                      <a:endParaRPr sz="1000" b="1">
                        <a:solidFill>
                          <a:srgbClr val="FFFFFF"/>
                        </a:solidFill>
                      </a:endParaRP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Metric</a:t>
                      </a:r>
                      <a:endParaRPr sz="1000" b="1">
                        <a:solidFill>
                          <a:srgbClr val="FFFFFF"/>
                        </a:solidFill>
                      </a:endParaRP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Final strategy</a:t>
                      </a:r>
                      <a:endParaRPr sz="1000" b="1">
                        <a:solidFill>
                          <a:srgbClr val="FFFFFF"/>
                        </a:solidFill>
                      </a:endParaRP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QQQ</a:t>
                      </a:r>
                      <a:endParaRPr sz="1000" b="1">
                        <a:solidFill>
                          <a:srgbClr val="FFFFFF"/>
                        </a:solidFill>
                      </a:endParaRP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c>
                  <a:txBody>
                    <a:bodyPr/>
                    <a:lstStyle/>
                    <a:p>
                      <a:r>
                        <a:rPr sz="1000" b="1">
                          <a:solidFill>
                            <a:srgbClr val="FFFFFF"/>
                          </a:solidFill>
                        </a:rPr>
                        <a:t>SPY</a:t>
                      </a:r>
                      <a:endParaRPr sz="1000" b="1">
                        <a:solidFill>
                          <a:srgbClr val="FFFFFF"/>
                        </a:solidFill>
                      </a:endParaRPr>
                    </a:p>
                  </a:txBody>
                  <a:tcPr marL="54864" marR="54864" marT="22860" marB="22860" anchor="ctr">
                    <a:lnL w="9525" cap="flat" cmpd="sng" algn="ctr">
                      <a:noFill/>
                    </a:lnL>
                    <a:lnR w="9525" cap="flat" cmpd="sng" algn="ctr">
                      <a:noFill/>
                    </a:lnR>
                    <a:lnT w="9525" cap="flat" cmpd="sng" algn="ctr">
                      <a:noFill/>
                    </a:lnT>
                    <a:lnB w="9525" cap="flat" cmpd="sng" algn="ctr">
                      <a:solidFill>
                        <a:srgbClr val="D8D8D8"/>
                      </a:solidFill>
                      <a:prstDash val="solid"/>
                    </a:lnB>
                    <a:solidFill>
                      <a:srgbClr val="437B9B"/>
                    </a:solidFill>
                  </a:tcPr>
                </a:tc>
              </a:tr>
              <a:tr h="329184">
                <a:tc>
                  <a:txBody>
                    <a:bodyPr/>
                    <a:lstStyle/>
                    <a:p>
                      <a:r>
                        <a:rPr sz="1000" b="1">
                          <a:solidFill>
                            <a:schemeClr val="tx1"/>
                          </a:solidFill>
                        </a:rPr>
                        <a:t>IS 2012-08 – 2019</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CAGR / Sharpe / MDD</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28.2% / 1.06 / −39.2%</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18.7% / 1.16 / −22.8%</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14.3% / 1.10 / −19.3%</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r>
              <a:tr h="329184">
                <a:tc>
                  <a:txBody>
                    <a:bodyPr/>
                    <a:lstStyle/>
                    <a:p>
                      <a:r>
                        <a:rPr sz="1000" b="1">
                          <a:solidFill>
                            <a:schemeClr val="tx1"/>
                          </a:solidFill>
                        </a:rPr>
                        <a:t>OOS 2020 – 2026-09</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CAGR / Sharpe / MDD</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45.0% / 1.46 / −24.0%</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20.7% / 0.89 / −35.1%</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c>
                  <a:txBody>
                    <a:bodyPr/>
                    <a:lstStyle/>
                    <a:p>
                      <a:r>
                        <a:rPr sz="1000" b="1">
                          <a:solidFill>
                            <a:schemeClr val="tx1"/>
                          </a:solidFill>
                        </a:rPr>
                        <a:t>15.2% / 0.80 / −33.7%</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6EBE2"/>
                    </a:solidFill>
                  </a:tcPr>
                </a:tc>
              </a:tr>
              <a:tr h="329184">
                <a:tc>
                  <a:txBody>
                    <a:bodyPr/>
                    <a:lstStyle/>
                    <a:p>
                      <a:r>
                        <a:rPr sz="1000" b="1">
                          <a:solidFill>
                            <a:schemeClr val="tx1"/>
                          </a:solidFill>
                        </a:rPr>
                        <a:t>OOS excl. 2020</a:t>
                      </a:r>
                      <a:endParaRPr sz="1000" b="1">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CAGR / Sharpe / MDD</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35.2% / 1.24 / −24.0%</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17.1% / 0.82 / −35.1%</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c>
                  <a:txBody>
                    <a:bodyPr/>
                    <a:lstStyle/>
                    <a:p>
                      <a:r>
                        <a:rPr sz="1000" b="0">
                          <a:solidFill>
                            <a:schemeClr val="tx1"/>
                          </a:solidFill>
                        </a:rPr>
                        <a:t>14.7% / 0.90 / −24.5%</a:t>
                      </a:r>
                      <a:endParaRPr sz="1000" b="0">
                        <a:solidFill>
                          <a:schemeClr val="tx1"/>
                        </a:solidFill>
                      </a:endParaRPr>
                    </a:p>
                  </a:txBody>
                  <a:tcPr marL="54864" marR="54864" marT="22860" marB="22860"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lnB>
                    <a:solidFill>
                      <a:srgbClr val="FFFFFF"/>
                    </a:solidFill>
                  </a:tcPr>
                </a:tc>
              </a:tr>
            </a:tbl>
          </a:graphicData>
        </a:graphic>
      </p:graphicFrame>
      <p:sp>
        <p:nvSpPr>
          <p:cNvPr id="28" name="Rounded Rectangle 27"/>
          <p:cNvSpPr/>
          <p:nvPr/>
        </p:nvSpPr>
        <p:spPr>
          <a:xfrm>
            <a:off x="5852160" y="2697480"/>
            <a:ext cx="2834640" cy="2834640"/>
          </a:xfrm>
          <a:prstGeom prst="roundRect">
            <a:avLst>
              <a:gd name="adj" fmla="val 3000"/>
            </a:avLst>
          </a:prstGeom>
          <a:solidFill>
            <a:schemeClr val="bg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29" name="TextBox 28"/>
          <p:cNvSpPr txBox="1"/>
          <p:nvPr/>
        </p:nvSpPr>
        <p:spPr>
          <a:xfrm>
            <a:off x="5989320" y="2761488"/>
            <a:ext cx="2560320" cy="320040"/>
          </a:xfrm>
          <a:prstGeom prst="rect">
            <a:avLst/>
          </a:prstGeom>
          <a:noFill/>
        </p:spPr>
        <p:txBody>
          <a:bodyPr wrap="square" lIns="45720" tIns="27432" rIns="45720" bIns="27432" anchor="t">
            <a:spAutoFit/>
          </a:bodyPr>
          <a:lstStyle/>
          <a:p>
            <a:pPr marL="0" indent="0">
              <a:spcAft>
                <a:spcPts val="400"/>
              </a:spcAft>
              <a:buNone/>
            </a:pPr>
            <a:r>
              <a:rPr sz="1300" b="1" i="0">
                <a:solidFill>
                  <a:srgbClr val="437B9B"/>
                </a:solidFill>
              </a:rPr>
              <a:t>Read-out</a:t>
            </a:r>
            <a:endParaRPr sz="1300" b="1" i="0">
              <a:solidFill>
                <a:srgbClr val="437B9B"/>
              </a:solidFill>
            </a:endParaRPr>
          </a:p>
        </p:txBody>
      </p:sp>
      <p:sp>
        <p:nvSpPr>
          <p:cNvPr id="30" name="TextBox 29"/>
          <p:cNvSpPr txBox="1"/>
          <p:nvPr/>
        </p:nvSpPr>
        <p:spPr>
          <a:xfrm>
            <a:off x="5989320" y="3127248"/>
            <a:ext cx="2606040" cy="2377440"/>
          </a:xfrm>
          <a:prstGeom prst="rect">
            <a:avLst/>
          </a:prstGeom>
          <a:noFill/>
        </p:spPr>
        <p:txBody>
          <a:bodyPr wrap="square" lIns="45720" tIns="27432" rIns="45720" bIns="27432" anchor="t">
            <a:spAutoFit/>
          </a:bodyPr>
          <a:lstStyle/>
          <a:p>
            <a:pPr marL="182880" indent="-182880">
              <a:spcAft>
                <a:spcPts val="600"/>
              </a:spcAft>
              <a:buChar char="•"/>
            </a:pPr>
            <a:r>
              <a:rPr sz="1050" b="0" i="0">
                <a:solidFill>
                  <a:srgbClr val="404040"/>
                </a:solidFill>
              </a:rPr>
              <a:t>Out of sample </a:t>
            </a:r>
            <a:r>
              <a:rPr sz="1050" b="1" i="0">
                <a:solidFill>
                  <a:srgbClr val="437B9B"/>
                </a:solidFill>
              </a:rPr>
              <a:t>45.0%</a:t>
            </a:r>
            <a:r>
              <a:rPr sz="1050" b="0" i="0">
                <a:solidFill>
                  <a:srgbClr val="404040"/>
                </a:solidFill>
              </a:rPr>
              <a:t> a year, Sharpe </a:t>
            </a:r>
            <a:r>
              <a:rPr sz="1050" b="1" i="0">
                <a:solidFill>
                  <a:srgbClr val="437B9B"/>
                </a:solidFill>
              </a:rPr>
              <a:t>1.46</a:t>
            </a:r>
            <a:r>
              <a:rPr sz="1050" b="0" i="0">
                <a:solidFill>
                  <a:srgbClr val="404040"/>
                </a:solidFill>
              </a:rPr>
              <a:t>, max drawdown </a:t>
            </a:r>
            <a:r>
              <a:rPr sz="1050" b="1" i="0">
                <a:solidFill>
                  <a:srgbClr val="437B9B"/>
                </a:solidFill>
              </a:rPr>
              <a:t>−24.0%</a:t>
            </a:r>
            <a:r>
              <a:rPr sz="1050" b="0" i="0">
                <a:solidFill>
                  <a:srgbClr val="404040"/>
                </a:solidFill>
              </a:rPr>
              <a:t> vs SPY </a:t>
            </a:r>
            <a:r>
              <a:rPr sz="1050" b="1" i="0">
                <a:solidFill>
                  <a:srgbClr val="437B9B"/>
                </a:solidFill>
              </a:rPr>
              <a:t>15.2%</a:t>
            </a:r>
            <a:r>
              <a:rPr sz="1050" b="0" i="0">
                <a:solidFill>
                  <a:srgbClr val="404040"/>
                </a:solidFill>
              </a:rPr>
              <a:t>, </a:t>
            </a:r>
            <a:r>
              <a:rPr sz="1050" b="1" i="0">
                <a:solidFill>
                  <a:srgbClr val="437B9B"/>
                </a:solidFill>
              </a:rPr>
              <a:t>0.80</a:t>
            </a:r>
            <a:r>
              <a:rPr sz="1050" b="0" i="0">
                <a:solidFill>
                  <a:srgbClr val="404040"/>
                </a:solidFill>
              </a:rPr>
              <a:t>, </a:t>
            </a:r>
            <a:r>
              <a:rPr sz="1050" b="1" i="0">
                <a:solidFill>
                  <a:srgbClr val="437B9B"/>
                </a:solidFill>
              </a:rPr>
              <a:t>−33.7%</a:t>
            </a:r>
            <a:endParaRPr sz="1050" b="1" i="0">
              <a:solidFill>
                <a:srgbClr val="437B9B"/>
              </a:solidFill>
            </a:endParaRPr>
          </a:p>
          <a:p>
            <a:pPr marL="182880" indent="-182880">
              <a:spcAft>
                <a:spcPts val="600"/>
              </a:spcAft>
              <a:buChar char="•"/>
            </a:pPr>
            <a:r>
              <a:rPr sz="1050" b="0" i="0">
                <a:solidFill>
                  <a:srgbClr val="404040"/>
                </a:solidFill>
              </a:rPr>
              <a:t>Excluding 2020: </a:t>
            </a:r>
            <a:r>
              <a:rPr sz="1050" b="1" i="0">
                <a:solidFill>
                  <a:srgbClr val="437B9B"/>
                </a:solidFill>
              </a:rPr>
              <a:t>35.2%</a:t>
            </a:r>
            <a:r>
              <a:rPr sz="1050" b="0" i="0">
                <a:solidFill>
                  <a:srgbClr val="404040"/>
                </a:solidFill>
              </a:rPr>
              <a:t> a year, Sharpe </a:t>
            </a:r>
            <a:r>
              <a:rPr sz="1050" b="1" i="0">
                <a:solidFill>
                  <a:srgbClr val="437B9B"/>
                </a:solidFill>
              </a:rPr>
              <a:t>1.24</a:t>
            </a:r>
            <a:r>
              <a:rPr sz="1050" b="0" i="0">
                <a:solidFill>
                  <a:srgbClr val="404040"/>
                </a:solidFill>
              </a:rPr>
              <a:t> vs SPY </a:t>
            </a:r>
            <a:r>
              <a:rPr sz="1050" b="1" i="0">
                <a:solidFill>
                  <a:srgbClr val="437B9B"/>
                </a:solidFill>
              </a:rPr>
              <a:t>14.7%</a:t>
            </a:r>
            <a:r>
              <a:rPr sz="1050" b="0" i="0">
                <a:solidFill>
                  <a:srgbClr val="404040"/>
                </a:solidFill>
              </a:rPr>
              <a:t>, </a:t>
            </a:r>
            <a:r>
              <a:rPr sz="1050" b="1" i="0">
                <a:solidFill>
                  <a:srgbClr val="437B9B"/>
                </a:solidFill>
              </a:rPr>
              <a:t>0.90</a:t>
            </a:r>
            <a:endParaRPr sz="1050" b="1" i="0">
              <a:solidFill>
                <a:srgbClr val="437B9B"/>
              </a:solidFill>
            </a:endParaRPr>
          </a:p>
          <a:p>
            <a:pPr marL="182880" indent="-182880">
              <a:spcAft>
                <a:spcPts val="600"/>
              </a:spcAft>
              <a:buChar char="•"/>
            </a:pPr>
            <a:r>
              <a:rPr sz="1050" b="0" i="0">
                <a:solidFill>
                  <a:srgbClr val="404040"/>
                </a:solidFill>
              </a:rPr>
              <a:t>In-sample Sharpe </a:t>
            </a:r>
            <a:r>
              <a:rPr sz="1050" b="1" i="0">
                <a:solidFill>
                  <a:srgbClr val="437B9B"/>
                </a:solidFill>
              </a:rPr>
              <a:t>1.06</a:t>
            </a:r>
            <a:r>
              <a:rPr sz="1050" b="0" i="0">
                <a:solidFill>
                  <a:srgbClr val="404040"/>
                </a:solidFill>
              </a:rPr>
              <a:t> is below QQQ’s </a:t>
            </a:r>
            <a:r>
              <a:rPr sz="1050" b="1" i="0">
                <a:solidFill>
                  <a:srgbClr val="437B9B"/>
                </a:solidFill>
              </a:rPr>
              <a:t>1.16</a:t>
            </a:r>
            <a:r>
              <a:rPr sz="1050" b="0" i="0">
                <a:solidFill>
                  <a:srgbClr val="404040"/>
                </a:solidFill>
              </a:rPr>
              <a:t> and the drawdown is deeper (</a:t>
            </a:r>
            <a:r>
              <a:rPr sz="1050" b="1" i="0">
                <a:solidFill>
                  <a:srgbClr val="437B9B"/>
                </a:solidFill>
              </a:rPr>
              <a:t>−39.2%</a:t>
            </a:r>
            <a:r>
              <a:rPr sz="1050" b="0" i="0">
                <a:solidFill>
                  <a:srgbClr val="404040"/>
                </a:solidFill>
              </a:rPr>
              <a:t>): no in-sample edge</a:t>
            </a:r>
            <a:endParaRPr sz="1050" b="0" i="0">
              <a:solidFill>
                <a:srgbClr val="404040"/>
              </a:solidFill>
            </a:endParaRPr>
          </a:p>
          <a:p>
            <a:pPr marL="182880" indent="-182880">
              <a:spcAft>
                <a:spcPts val="600"/>
              </a:spcAft>
              <a:buChar char="•"/>
            </a:pPr>
            <a:r>
              <a:rPr sz="1050" b="0" i="0">
                <a:solidFill>
                  <a:srgbClr val="404040"/>
                </a:solidFill>
              </a:rPr>
              <a:t>CPI overlay: OOS </a:t>
            </a:r>
            <a:r>
              <a:rPr sz="1050" b="1" i="0">
                <a:solidFill>
                  <a:srgbClr val="437B9B"/>
                </a:solidFill>
              </a:rPr>
              <a:t>43.5% → 45.0%</a:t>
            </a:r>
            <a:r>
              <a:rPr sz="1050" b="0" i="0">
                <a:solidFill>
                  <a:srgbClr val="404040"/>
                </a:solidFill>
              </a:rPr>
              <a:t> a year, Sharpe </a:t>
            </a:r>
            <a:r>
              <a:rPr sz="1050" b="1" i="0">
                <a:solidFill>
                  <a:srgbClr val="437B9B"/>
                </a:solidFill>
              </a:rPr>
              <a:t>1.45 → 1.46</a:t>
            </a:r>
            <a:r>
              <a:rPr sz="1050" b="0" i="0">
                <a:solidFill>
                  <a:srgbClr val="404040"/>
                </a:solidFill>
              </a:rPr>
              <a:t>; drawdown unchanged; never triggered in-sample</a:t>
            </a:r>
            <a:endParaRPr sz="1050" b="0" i="0">
              <a:solidFill>
                <a:srgbClr val="404040"/>
              </a:solidFill>
            </a:endParaRPr>
          </a:p>
        </p:txBody>
      </p:sp>
      <p:sp>
        <p:nvSpPr>
          <p:cNvPr id="31" name="Takeaway callout"/>
          <p:cNvSpPr/>
          <p:nvPr/>
        </p:nvSpPr>
        <p:spPr>
          <a:xfrm>
            <a:off x="457200" y="5669280"/>
            <a:ext cx="8229600" cy="457200"/>
          </a:xfrm>
          <a:prstGeom prst="roundRect">
            <a:avLst>
              <a:gd name="adj" fmla="val 8000"/>
            </a:avLst>
          </a:prstGeom>
          <a:solidFill>
            <a:srgbClr val="F6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2" name="Rectangle 31"/>
          <p:cNvSpPr/>
          <p:nvPr/>
        </p:nvSpPr>
        <p:spPr>
          <a:xfrm>
            <a:off x="457200" y="5669280"/>
            <a:ext cx="64008" cy="457200"/>
          </a:xfrm>
          <a:prstGeom prst="rect">
            <a:avLst/>
          </a:prstGeom>
          <a:solidFill>
            <a:srgbClr val="C27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3" name="Takeaway text"/>
          <p:cNvSpPr txBox="1"/>
          <p:nvPr/>
        </p:nvSpPr>
        <p:spPr>
          <a:xfrm>
            <a:off x="594360" y="5669280"/>
            <a:ext cx="8046720" cy="457200"/>
          </a:xfrm>
          <a:prstGeom prst="rect">
            <a:avLst/>
          </a:prstGeom>
          <a:noFill/>
        </p:spPr>
        <p:txBody>
          <a:bodyPr wrap="square" lIns="45720" tIns="27432" rIns="45720" bIns="27432" anchor="ctr">
            <a:spAutoFit/>
          </a:bodyPr>
          <a:lstStyle/>
          <a:p>
            <a:pPr marL="0" indent="0">
              <a:spcAft>
                <a:spcPts val="0"/>
              </a:spcAft>
              <a:buNone/>
            </a:pPr>
            <a:r>
              <a:rPr sz="900" b="1" i="0">
                <a:solidFill>
                  <a:srgbClr val="C27C4B"/>
                </a:solidFill>
              </a:rPr>
              <a:t>KEY POINT  </a:t>
            </a:r>
            <a:r>
              <a:rPr sz="1100" b="0" i="0">
                <a:solidFill>
                  <a:srgbClr val="404040"/>
                </a:solidFill>
              </a:rPr>
              <a:t>Out of sample: higher Sharpe and a shallower drawdown than QQQ and SPY. In-sample: no edge. The CPI overlay adds little.</a:t>
            </a:r>
            <a:endParaRPr sz="1100" b="0" i="0">
              <a:solidFill>
                <a:srgbClr val="404040"/>
              </a:solidFill>
            </a:endParaRPr>
          </a:p>
        </p:txBody>
      </p:sp>
      <p:sp>
        <p:nvSpPr>
          <p:cNvPr id="34" name="Source"/>
          <p:cNvSpPr txBox="1"/>
          <p:nvPr/>
        </p:nvSpPr>
        <p:spPr>
          <a:xfrm>
            <a:off x="457200" y="6144768"/>
            <a:ext cx="8229600" cy="201168"/>
          </a:xfrm>
          <a:prstGeom prst="rect">
            <a:avLst/>
          </a:prstGeom>
          <a:noFill/>
        </p:spPr>
        <p:txBody>
          <a:bodyPr wrap="square" lIns="45720" tIns="27432" rIns="45720" bIns="27432" anchor="t">
            <a:spAutoFit/>
          </a:bodyPr>
          <a:lstStyle/>
          <a:p>
            <a:pPr marL="0" indent="0">
              <a:spcAft>
                <a:spcPts val="0"/>
              </a:spcAft>
              <a:buNone/>
            </a:pPr>
            <a:r>
              <a:rPr sz="800" b="0" i="1">
                <a:solidFill>
                  <a:srgbClr val="7F7F7F"/>
                </a:solidFill>
              </a:rPr>
              <a:t>Source: team backtest (Report.html, final_metrics.csv); QQQ from the team’s earlier backtest. 90/10 start, ±1 pt reset, costs included. OOS 2020 – 2026-09</a:t>
            </a:r>
            <a:endParaRPr sz="800" b="0" i="1">
              <a:solidFill>
                <a:srgbClr val="7F7F7F"/>
              </a:solidFill>
            </a:endParaRPr>
          </a:p>
        </p:txBody>
      </p:sp>
      <p:graphicFrame>
        <p:nvGraphicFramePr>
          <p:cNvPr id="35" name="Sharpe chart"/>
          <p:cNvGraphicFramePr>
            <a:graphicFrameLocks noGrp="1"/>
          </p:cNvGraphicFramePr>
          <p:nvPr/>
        </p:nvGraphicFramePr>
        <p:xfrm>
          <a:off x="457200" y="2697480"/>
          <a:ext cx="5212080" cy="2834640"/>
        </p:xfrm>
        <a:graphic>
          <a:graphicData uri="http://schemas.openxmlformats.org/drawingml/2006/chart">
            <c:chart xmlns:c="http://schemas.openxmlformats.org/drawingml/2006/chart" xmlns:r="http://schemas.openxmlformats.org/officeDocument/2006/relationships" r:id="rId1"/>
          </a:graphicData>
        </a:graphic>
      </p:graphicFrame>
    </p:spTree>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Test-Period Performance</a:t>
            </a:r>
            <a:endParaRPr lang="en-US" sz="3200" dirty="0"/>
          </a:p>
        </p:txBody>
      </p:sp>
      <p:sp>
        <p:nvSpPr>
          <p:cNvPr id="3" name="Text 1"/>
          <p:cNvSpPr txBox="1"/>
          <p:nvPr/>
        </p:nvSpPr>
        <p:spPr>
          <a:xfrm>
            <a:off x="457200" y="1051560"/>
            <a:ext cx="8229600" cy="365760"/>
          </a:xfrm>
          <a:prstGeom prst="rect">
            <a:avLst/>
          </a:prstGeom>
          <a:noFill/>
        </p:spPr>
        <p:txBody>
          <a:bodyPr wrap="square" lIns="0" tIns="0" rIns="0" bIns="0" rtlCol="0" anchor="ctr"/>
          <a:lstStyle/>
          <a:p>
            <a:pPr marL="0" indent="0">
              <a:buNone/>
            </a:pPr>
            <a:r>
              <a:rPr lang="en-US" sz="1400" i="1" dirty="0">
                <a:solidFill>
                  <a:schemeClr val="accent1"/>
                </a:solidFill>
              </a:rPr>
              <a:t>1 Oct 2026 – 20 Oct 2026 · 14 trading days · +7.66% vs SPY +0.27%, QQQ −3.27%, TQQQ −10.46%</a:t>
            </a:r>
            <a:endParaRPr lang="en-US" sz="1400" dirty="0"/>
          </a:p>
        </p:txBody>
      </p:sp>
      <p:graphicFrame>
        <p:nvGraphicFramePr>
          <p:cNvPr id="10" name="Table 0"/>
          <p:cNvGraphicFramePr>
            <a:graphicFrameLocks noGrp="1"/>
          </p:cNvGraphicFramePr>
          <p:nvPr/>
        </p:nvGraphicFramePr>
        <p:xfrm>
          <a:off x="411480" y="1463040"/>
          <a:ext cx="8141969" cy="4169664"/>
        </p:xfrm>
        <a:graphic>
          <a:graphicData uri="http://schemas.openxmlformats.org/drawingml/2006/table">
            <a:tbl>
              <a:tblPr/>
              <a:tblGrid>
                <a:gridCol w="1900000"/>
                <a:gridCol w="2000000"/>
                <a:gridCol w="4241969"/>
              </a:tblGrid>
              <a:tr h="347472">
                <a:tc>
                  <a:txBody>
                    <a:bodyPr/>
                    <a:lstStyle/>
                    <a:p>
                      <a:pPr marL="0" indent="0">
                        <a:buNone/>
                      </a:pPr>
                      <a:r>
                        <a:rPr lang="en-US" sz="1200" b="1" dirty="0">
                          <a:solidFill>
                            <a:srgbClr val="FFFFFF"/>
                          </a:solidFill>
                        </a:rPr>
                        <a:t>Metric</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tc>
                  <a:txBody>
                    <a:bodyPr/>
                    <a:lstStyle/>
                    <a:p>
                      <a:pPr marL="0" indent="0">
                        <a:buNone/>
                      </a:pPr>
                      <a:r>
                        <a:rPr lang="en-US" sz="1200" b="1" dirty="0">
                          <a:solidFill>
                            <a:srgbClr val="FFFFFF"/>
                          </a:solidFill>
                        </a:rPr>
                        <a:t>Value</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tc>
                  <a:txBody>
                    <a:bodyPr/>
                    <a:lstStyle/>
                    <a:p>
                      <a:pPr marL="0" indent="0">
                        <a:buNone/>
                      </a:pPr>
                      <a:r>
                        <a:rPr lang="en-US" sz="1200" b="1" dirty="0">
                          <a:solidFill>
                            <a:srgbClr val="FFFFFF"/>
                          </a:solidFill>
                        </a:rPr>
                        <a:t>Meaning</a:t>
                      </a:r>
                      <a:endParaRPr lang="en-US" sz="1200" dirty="0"/>
                    </a:p>
                  </a:txBody>
                  <a:tcPr anchor="ctr">
                    <a:lnL w="9525" cap="flat" cmpd="sng" algn="ctr">
                      <a:noFill/>
                    </a:lnL>
                    <a:lnR w="9525" cap="flat" cmpd="sng" algn="ctr">
                      <a:noFill/>
                    </a:lnR>
                    <a:lnT w="9525" cap="flat" cmpd="sng" algn="ctr">
                      <a:noFill/>
                    </a:lnT>
                    <a:lnB w="9525" cap="flat" cmpd="sng" algn="ctr">
                      <a:solidFill>
                        <a:srgbClr val="D8D8D8"/>
                      </a:solidFill>
                      <a:prstDash val="solid"/>
                      <a:round/>
                      <a:headEnd type="none" w="med" len="med"/>
                      <a:tailEnd type="none" w="med" len="med"/>
                    </a:lnB>
                    <a:solidFill>
                      <a:srgbClr val="437B9B"/>
                    </a:solidFill>
                  </a:tcPr>
                </a:tc>
              </a:tr>
              <a:tr h="347472">
                <a:tc>
                  <a:txBody>
                    <a:bodyPr/>
                    <a:lstStyle/>
                    <a:p>
                      <a:pPr marL="0" indent="0">
                        <a:buNone/>
                      </a:pPr>
                      <a:r>
                        <a:rPr lang="en-US" sz="1200" b="1" dirty="0">
                          <a:solidFill>
                            <a:srgbClr val="1F1F1F"/>
                          </a:solidFill>
                        </a:rPr>
                        <a:t>Total Return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+7.66%</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Ending equity USD 107,664 from USD 100,000, after costs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Annualised (CAGR)</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+277.8%</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14 days compounded to 252; not a forecast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vs Benchmarks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SPY +0.27%</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QQQ −3.27%, TQQQ −10.46% (same window)</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Max Drawdown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−3.78%</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SPY −2.03%, QQQ −6.56%, TQQQ −19.04%</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Annual Volatility</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31.3%</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Std. dev. of daily returns, annualised (14 daily returns)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Best / Worst Day</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+6.41% / −1.96%</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Best: 16 Oct (CPI hedge exit); worst: 8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Positive Days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8 of 14</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Share of trading days with a gain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Drawdown Episodes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1</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Peak 6 Oct, trough 13 Oct, recovered 16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Number of Trades</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61</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Fills at the next open; one close-price exit on 16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Trading Cost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USD 161.75</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About 0.16% of capital; traded notional USD 526k (5.3×)</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r h="347472">
                <a:tc>
                  <a:txBody>
                    <a:bodyPr/>
                    <a:lstStyle/>
                    <a:p>
                      <a:pPr marL="0" indent="0">
                        <a:buNone/>
                      </a:pPr>
                      <a:r>
                        <a:rPr lang="en-US" sz="1200" b="1" dirty="0">
                          <a:solidFill>
                            <a:srgbClr val="1F1F1F"/>
                          </a:solidFill>
                        </a:rPr>
                        <a:t>Current Allocation</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lgn="ctr">
                        <a:buNone/>
                      </a:pPr>
                      <a:r>
                        <a:rPr lang="en-US" sz="1200" dirty="0">
                          <a:solidFill>
                            <a:srgbClr val="1F1F1F"/>
                          </a:solidFill>
                        </a:rPr>
                        <a:t>US 91.1% / SG 8.9%</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c>
                  <a:txBody>
                    <a:bodyPr/>
                    <a:lstStyle/>
                    <a:p>
                      <a:pPr marL="0" indent="0">
                        <a:buNone/>
                      </a:pPr>
                      <a:r>
                        <a:rPr lang="en-US" sz="1200" dirty="0">
                          <a:solidFill>
                            <a:srgbClr val="1F1F1F"/>
                          </a:solidFill>
                        </a:rPr>
                        <a:t>TQQQ 49.7%, BSV 41.4%, ES3 6.1%, A35 2.7% (20 Oct)</a:t>
                      </a:r>
                      <a:endParaRPr lang="en-US" sz="1200" dirty="0"/>
                    </a:p>
                  </a:txBody>
                  <a:tcPr anchor="ctr">
                    <a:lnL w="9525" cap="flat" cmpd="sng" algn="ctr">
                      <a:noFill/>
                    </a:lnL>
                    <a:lnR w="9525" cap="flat" cmpd="sng" algn="ctr">
                      <a:noFill/>
                    </a:lnR>
                    <a:lnT w="9525" cap="flat" cmpd="sng" algn="ctr">
                      <a:solidFill>
                        <a:srgbClr val="D8D8D8"/>
                      </a:solidFill>
                      <a:prstDash val="solid"/>
                      <a:round/>
                      <a:headEnd type="none" w="med" len="med"/>
                      <a:tailEnd type="none" w="med" len="med"/>
                    </a:lnT>
                    <a:lnB w="9525" cap="flat" cmpd="sng" algn="ctr">
                      <a:solidFill>
                        <a:srgbClr val="D8D8D8"/>
                      </a:solidFill>
                      <a:prstDash val="solid"/>
                      <a:round/>
                      <a:headEnd type="none" w="med" len="med"/>
                      <a:tailEnd type="none" w="med" len="med"/>
                    </a:lnB>
                    <a:solidFill>
                      <a:srgbClr val="FFFFFF"/>
                    </a:solidFill>
                  </a:tcPr>
                </a:tc>
              </a:tr>
            </a:tbl>
          </a:graphicData>
        </a:graphic>
      </p:graphicFrame>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
        <p:nvSpPr>
          <p:cNvPr id="26" name="Account note"/>
          <p:cNvSpPr txBox="1"/>
          <p:nvPr/>
        </p:nvSpPr>
        <p:spPr>
          <a:xfrm>
            <a:off x="457200" y="5897880"/>
            <a:ext cx="8229600" cy="411480"/>
          </a:xfrm>
          <a:prstGeom prst="rect">
            <a:avLst/>
          </a:prstGeom>
          <a:noFill/>
        </p:spPr>
        <p:txBody>
          <a:bodyPr wrap="square" lIns="45720" tIns="27432" rIns="45720" bIns="27432" anchor="t">
            <a:spAutoFit/>
          </a:bodyPr>
          <a:lstStyle/>
          <a:p>
            <a:pPr marL="0" indent="0">
              <a:spcAft>
                <a:spcPts val="400"/>
              </a:spcAft>
              <a:buNone/>
            </a:pPr>
            <a:r>
              <a:rPr sz="1000" b="0" i="1">
                <a:solidFill>
                  <a:srgbClr val="6B7A90"/>
                </a:solidFill>
              </a:rPr>
              <a:t>Account: USD 100,000, initial 90% US / 10% SG, own cash per sleeve; fills at next open; costs included. The CPI overlay triggered once (14 Oct): without it the same account was −6.04% (max drawdown −10.27%), so the October gain rests on one trigger.</a:t>
            </a:r>
            <a:endParaRPr sz="1000" b="0" i="1">
              <a:solidFill>
                <a:srgbClr val="6B7A90"/>
              </a:solidFill>
            </a:endParaRPr>
          </a:p>
        </p:txBody>
      </p:sp>
    </p:spTree>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a:spLocks noGrp="1"/>
          </p:cNvSpPr>
          <p:nvPr>
            <p:ph type="title" idx="103" hasCustomPrompt="1"/>
          </p:nvPr>
        </p:nvSpPr>
        <p:spPr>
          <a:xfrm>
            <a:off x="411480" y="320040"/>
            <a:ext cx="7955280" cy="777240"/>
          </a:xfrm>
          <a:prstGeom prst="rect">
            <a:avLst/>
          </a:prstGeom>
          <a:noFill/>
        </p:spPr>
        <p:txBody>
          <a:bodyPr wrap="square" lIns="0" tIns="0" rIns="0" bIns="0" rtlCol="0" anchor="ctr"/>
          <a:lstStyle/>
          <a:p>
            <a:pPr marL="0" indent="0" algn="l">
              <a:buNone/>
            </a:pPr>
            <a:r>
              <a:rPr lang="en-US" sz="3200" b="1" dirty="0">
                <a:solidFill>
                  <a:schemeClr val="tx2"/>
                </a:solidFill>
              </a:rPr>
              <a:t>Conclusion</a:t>
            </a:r>
            <a:endParaRPr lang="en-US" sz="3200" dirty="0"/>
          </a:p>
        </p:txBody>
      </p:sp>
      <p:sp>
        <p:nvSpPr>
          <p:cNvPr id="3" name="Text 1"/>
          <p:cNvSpPr txBox="1"/>
          <p:nvPr/>
        </p:nvSpPr>
        <p:spPr>
          <a:xfrm>
            <a:off x="457200" y="1325880"/>
            <a:ext cx="8229600" cy="3931920"/>
          </a:xfrm>
          <a:prstGeom prst="rect">
            <a:avLst/>
          </a:prstGeom>
          <a:noFill/>
        </p:spPr>
        <p:txBody>
          <a:bodyPr wrap="square" rtlCol="0" anchor="t"/>
          <a:lstStyle/>
          <a:p>
            <a:pPr marL="342900" indent="-342900">
              <a:spcAft>
                <a:spcPts val="1600"/>
              </a:spcAft>
              <a:buSzPct val="100000"/>
              <a:buChar char="•"/>
            </a:pPr>
            <a:r>
              <a:rPr lang="en-US" sz="1700" b="1" dirty="0">
                <a:solidFill>
                  <a:srgbClr val="1F4E6B"/>
                </a:solidFill>
              </a:rPr>
              <a:t>Results: </a:t>
            </a:r>
            <a:r>
              <a:rPr lang="en-US" sz="1700" dirty="0">
                <a:solidFill>
                  <a:schemeClr val="tx1"/>
                </a:solidFill>
              </a:rPr>
              <a:t>out of sample (2020 – Sep 2026) the strategy earned </a:t>
            </a:r>
            <a:r>
              <a:rPr lang="en-US" sz="1700" b="1" dirty="0">
                <a:solidFill>
                  <a:srgbClr val="437B9B"/>
                </a:solidFill>
              </a:rPr>
              <a:t>45.0%</a:t>
            </a:r>
            <a:r>
              <a:rPr lang="en-US" sz="1700" dirty="0">
                <a:solidFill>
                  <a:schemeClr val="tx1"/>
                </a:solidFill>
              </a:rPr>
              <a:t> a year with Sharpe </a:t>
            </a:r>
            <a:r>
              <a:rPr lang="en-US" sz="1700" b="1" dirty="0">
                <a:solidFill>
                  <a:srgbClr val="437B9B"/>
                </a:solidFill>
              </a:rPr>
              <a:t>1.46</a:t>
            </a:r>
            <a:r>
              <a:rPr lang="en-US" sz="1700" dirty="0">
                <a:solidFill>
                  <a:schemeClr val="tx1"/>
                </a:solidFill>
              </a:rPr>
              <a:t> and max drawdown </a:t>
            </a:r>
            <a:r>
              <a:rPr lang="en-US" sz="1700" b="1" dirty="0">
                <a:solidFill>
                  <a:srgbClr val="437B9B"/>
                </a:solidFill>
              </a:rPr>
              <a:t>−24%</a:t>
            </a:r>
            <a:r>
              <a:rPr lang="en-US" sz="1700" dirty="0">
                <a:solidFill>
                  <a:schemeClr val="tx1"/>
                </a:solidFill>
              </a:rPr>
              <a:t>, vs SPY </a:t>
            </a:r>
            <a:r>
              <a:rPr lang="en-US" sz="1700" b="1" dirty="0">
                <a:solidFill>
                  <a:srgbClr val="437B9B"/>
                </a:solidFill>
              </a:rPr>
              <a:t>15.2%</a:t>
            </a:r>
            <a:r>
              <a:rPr lang="en-US" sz="1700" dirty="0">
                <a:solidFill>
                  <a:schemeClr val="tx1"/>
                </a:solidFill>
              </a:rPr>
              <a:t>, </a:t>
            </a:r>
            <a:r>
              <a:rPr lang="en-US" sz="1700" b="1" dirty="0">
                <a:solidFill>
                  <a:srgbClr val="437B9B"/>
                </a:solidFill>
              </a:rPr>
              <a:t>0.80</a:t>
            </a:r>
            <a:r>
              <a:rPr lang="en-US" sz="1700" dirty="0">
                <a:solidFill>
                  <a:schemeClr val="tx1"/>
                </a:solidFill>
              </a:rPr>
              <a:t> and </a:t>
            </a:r>
            <a:r>
              <a:rPr lang="en-US" sz="1700" b="1" dirty="0">
                <a:solidFill>
                  <a:srgbClr val="437B9B"/>
                </a:solidFill>
              </a:rPr>
              <a:t>−34%</a:t>
            </a:r>
            <a:r>
              <a:rPr lang="en-US" sz="1700" dirty="0">
                <a:solidFill>
                  <a:schemeClr val="tx1"/>
                </a:solidFill>
              </a:rPr>
              <a:t>; QQQ Sharpe </a:t>
            </a:r>
            <a:r>
              <a:rPr lang="en-US" sz="1700" b="1" dirty="0">
                <a:solidFill>
                  <a:srgbClr val="437B9B"/>
                </a:solidFill>
              </a:rPr>
              <a:t>0.89</a:t>
            </a:r>
            <a:r>
              <a:rPr lang="en-US" sz="1700" dirty="0">
                <a:solidFill>
                  <a:schemeClr val="tx1"/>
                </a:solidFill>
              </a:rPr>
              <a:t>, drawdown </a:t>
            </a:r>
            <a:r>
              <a:rPr lang="en-US" sz="1700" b="1" dirty="0">
                <a:solidFill>
                  <a:srgbClr val="437B9B"/>
                </a:solidFill>
              </a:rPr>
              <a:t>−35%</a:t>
            </a:r>
            <a:endParaRPr lang="en-US" sz="1700" dirty="0"/>
          </a:p>
          <a:p>
            <a:pPr marL="342900" indent="-342900">
              <a:spcAft>
                <a:spcPts val="1600"/>
              </a:spcAft>
              <a:buSzPct val="100000"/>
              <a:buChar char="•"/>
            </a:pPr>
            <a:r>
              <a:rPr lang="en-US" sz="1700" b="1" dirty="0">
                <a:solidFill>
                  <a:srgbClr val="1F4E6B"/>
                </a:solidFill>
              </a:rPr>
              <a:t>Not just 2020: </a:t>
            </a:r>
            <a:r>
              <a:rPr lang="en-US" sz="1700" dirty="0">
                <a:solidFill>
                  <a:schemeClr val="tx1"/>
                </a:solidFill>
              </a:rPr>
              <a:t>excluding it, </a:t>
            </a:r>
            <a:r>
              <a:rPr lang="en-US" sz="1700" b="1" dirty="0">
                <a:solidFill>
                  <a:srgbClr val="437B9B"/>
                </a:solidFill>
              </a:rPr>
              <a:t>35.2%</a:t>
            </a:r>
            <a:r>
              <a:rPr lang="en-US" sz="1700" dirty="0">
                <a:solidFill>
                  <a:schemeClr val="tx1"/>
                </a:solidFill>
              </a:rPr>
              <a:t> a year (Sharpe </a:t>
            </a:r>
            <a:r>
              <a:rPr lang="en-US" sz="1700" b="1" dirty="0">
                <a:solidFill>
                  <a:srgbClr val="437B9B"/>
                </a:solidFill>
              </a:rPr>
              <a:t>1.24</a:t>
            </a:r>
            <a:r>
              <a:rPr lang="en-US" sz="1700" dirty="0">
                <a:solidFill>
                  <a:schemeClr val="tx1"/>
                </a:solidFill>
              </a:rPr>
              <a:t>) vs SPY </a:t>
            </a:r>
            <a:r>
              <a:rPr lang="en-US" sz="1700" b="1" dirty="0">
                <a:solidFill>
                  <a:srgbClr val="437B9B"/>
                </a:solidFill>
              </a:rPr>
              <a:t>14.7%</a:t>
            </a:r>
            <a:r>
              <a:rPr lang="en-US" sz="1700" dirty="0">
                <a:solidFill>
                  <a:schemeClr val="tx1"/>
                </a:solidFill>
              </a:rPr>
              <a:t> (</a:t>
            </a:r>
            <a:r>
              <a:rPr lang="en-US" sz="1700" b="1" dirty="0">
                <a:solidFill>
                  <a:srgbClr val="437B9B"/>
                </a:solidFill>
              </a:rPr>
              <a:t>0.90</a:t>
            </a:r>
            <a:r>
              <a:rPr lang="en-US" sz="1700" dirty="0">
                <a:solidFill>
                  <a:schemeClr val="tx1"/>
                </a:solidFill>
              </a:rPr>
              <a:t>); all figures are after trading costs</a:t>
            </a:r>
            <a:endParaRPr lang="en-US" sz="1700" dirty="0"/>
          </a:p>
          <a:p>
            <a:pPr marL="342900" indent="-342900">
              <a:spcAft>
                <a:spcPts val="1600"/>
              </a:spcAft>
              <a:buSzPct val="100000"/>
              <a:buChar char="•"/>
            </a:pPr>
            <a:r>
              <a:rPr lang="en-US" sz="1700" b="1" dirty="0">
                <a:solidFill>
                  <a:srgbClr val="1F4E6B"/>
                </a:solidFill>
              </a:rPr>
              <a:t>Test period: </a:t>
            </a:r>
            <a:r>
              <a:rPr lang="en-US" sz="1700" dirty="0">
                <a:solidFill>
                  <a:schemeClr val="tx1"/>
                </a:solidFill>
              </a:rPr>
              <a:t>1 – 20 Oct 2026 the live-style account is </a:t>
            </a:r>
            <a:r>
              <a:rPr lang="en-US" sz="1700" b="1" dirty="0">
                <a:solidFill>
                  <a:srgbClr val="437B9B"/>
                </a:solidFill>
              </a:rPr>
              <a:t>+7.66%</a:t>
            </a:r>
            <a:r>
              <a:rPr lang="en-US" sz="1700" dirty="0">
                <a:solidFill>
                  <a:schemeClr val="tx1"/>
                </a:solidFill>
              </a:rPr>
              <a:t> (SPY </a:t>
            </a:r>
            <a:r>
              <a:rPr lang="en-US" sz="1700" b="1" dirty="0">
                <a:solidFill>
                  <a:srgbClr val="437B9B"/>
                </a:solidFill>
              </a:rPr>
              <a:t>+0.27%</a:t>
            </a:r>
            <a:r>
              <a:rPr lang="en-US" sz="1700" dirty="0">
                <a:solidFill>
                  <a:schemeClr val="tx1"/>
                </a:solidFill>
              </a:rPr>
              <a:t>), but </a:t>
            </a:r>
            <a:r>
              <a:rPr lang="en-US" sz="1700" b="1" dirty="0">
                <a:solidFill>
                  <a:srgbClr val="437B9B"/>
                </a:solidFill>
              </a:rPr>
              <a:t>−6.04%</a:t>
            </a:r>
            <a:r>
              <a:rPr lang="en-US" sz="1700" dirty="0">
                <a:solidFill>
                  <a:schemeClr val="tx1"/>
                </a:solidFill>
              </a:rPr>
              <a:t> without the CPI overlay: one trigger</a:t>
            </a:r>
            <a:endParaRPr lang="en-US" sz="1700" dirty="0"/>
          </a:p>
          <a:p>
            <a:pPr marL="342900" indent="-342900">
              <a:spcAft>
                <a:spcPts val="1600"/>
              </a:spcAft>
              <a:buSzPct val="100000"/>
              <a:buChar char="•"/>
            </a:pPr>
            <a:r>
              <a:rPr lang="en-US" sz="1700" b="1" dirty="0">
                <a:solidFill>
                  <a:srgbClr val="1F4E6B"/>
                </a:solidFill>
              </a:rPr>
              <a:t>Process: </a:t>
            </a:r>
            <a:r>
              <a:rPr lang="en-US" sz="1700" dirty="0">
                <a:solidFill>
                  <a:schemeClr val="tx1"/>
                </a:solidFill>
              </a:rPr>
              <a:t>every trade follows a fixed rule and fills at the next real open; the Singapore share is reset to 10% only outside a ±1 pt band</a:t>
            </a:r>
            <a:endParaRPr lang="en-US" sz="1700" dirty="0"/>
          </a:p>
          <a:p>
            <a:pPr marL="342900" indent="-342900">
              <a:spcAft>
                <a:spcPts val="1600"/>
              </a:spcAft>
              <a:buSzPct val="100000"/>
              <a:buChar char="•"/>
            </a:pPr>
            <a:r>
              <a:rPr lang="en-US" sz="1700" b="1" dirty="0">
                <a:solidFill>
                  <a:srgbClr val="1F4E6B"/>
                </a:solidFill>
              </a:rPr>
              <a:t>Caveats: </a:t>
            </a:r>
            <a:r>
              <a:rPr lang="en-US" sz="1700" dirty="0">
                <a:solidFill>
                  <a:schemeClr val="tx1"/>
                </a:solidFill>
              </a:rPr>
              <a:t>in sample </a:t>
            </a:r>
            <a:r>
              <a:rPr lang="en-US" sz="1600" dirty="0"/>
              <a:t>no Sharpe or drawdown advantage in sample </a:t>
            </a:r>
            <a:r>
              <a:rPr lang="en-US" sz="1700" dirty="0">
                <a:solidFill>
                  <a:schemeClr val="tx1"/>
                </a:solidFill>
              </a:rPr>
              <a:t>over buy-and-hold; the CPI overlay triggers only 9 times</a:t>
            </a:r>
            <a:endParaRPr lang="en-US" sz="1700" dirty="0"/>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p:sp>
        <p:nvSpPr>
          <p:cNvPr id="29" name="Takeaway callout"/>
          <p:cNvSpPr/>
          <p:nvPr/>
        </p:nvSpPr>
        <p:spPr>
          <a:xfrm>
            <a:off x="457200" y="5440680"/>
            <a:ext cx="8229600" cy="457200"/>
          </a:xfrm>
          <a:prstGeom prst="roundRect">
            <a:avLst>
              <a:gd name="adj" fmla="val 8000"/>
            </a:avLst>
          </a:prstGeom>
          <a:solidFill>
            <a:srgbClr val="F6EBE2"/>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0" name="Rectangle 29"/>
          <p:cNvSpPr/>
          <p:nvPr/>
        </p:nvSpPr>
        <p:spPr>
          <a:xfrm>
            <a:off x="457200" y="5440680"/>
            <a:ext cx="64008" cy="457200"/>
          </a:xfrm>
          <a:prstGeom prst="rect">
            <a:avLst/>
          </a:prstGeom>
          <a:solidFill>
            <a:srgbClr val="C27C4B"/>
          </a:solidFill>
          <a:ln>
            <a:noFill/>
          </a:ln>
          <a:effectLst/>
        </p:spPr>
        <p:style>
          <a:lnRef idx="1">
            <a:schemeClr val="accent1"/>
          </a:lnRef>
          <a:fillRef idx="3">
            <a:schemeClr val="accent1"/>
          </a:fillRef>
          <a:effectRef idx="2">
            <a:schemeClr val="accent1"/>
          </a:effectRef>
          <a:fontRef idx="minor">
            <a:schemeClr val="lt1"/>
          </a:fontRef>
        </p:style>
        <p:txBody>
          <a:bodyPr rtlCol="0" anchor="ctr"/>
          <a:lstStyle/>
          <a:p>
            <a:pPr algn="ctr"/>
          </a:p>
        </p:txBody>
      </p:sp>
      <p:sp>
        <p:nvSpPr>
          <p:cNvPr id="31" name="Takeaway text"/>
          <p:cNvSpPr txBox="1"/>
          <p:nvPr/>
        </p:nvSpPr>
        <p:spPr>
          <a:xfrm>
            <a:off x="594360" y="5440680"/>
            <a:ext cx="8046720" cy="457200"/>
          </a:xfrm>
          <a:prstGeom prst="rect">
            <a:avLst/>
          </a:prstGeom>
          <a:noFill/>
        </p:spPr>
        <p:txBody>
          <a:bodyPr wrap="square" lIns="45720" tIns="27432" rIns="45720" bIns="27432" anchor="ctr">
            <a:spAutoFit/>
          </a:bodyPr>
          <a:lstStyle/>
          <a:p>
            <a:pPr marL="0" indent="0">
              <a:spcAft>
                <a:spcPts val="0"/>
              </a:spcAft>
              <a:buNone/>
            </a:pPr>
            <a:r>
              <a:rPr sz="900" b="1" i="0">
                <a:solidFill>
                  <a:srgbClr val="C27C4B"/>
                </a:solidFill>
              </a:rPr>
              <a:t>KEY POINT  </a:t>
            </a:r>
            <a:r>
              <a:rPr sz="1100" b="0" i="0">
                <a:solidFill>
                  <a:srgbClr val="404040"/>
                </a:solidFill>
              </a:rPr>
              <a:t>Out of sample, nearly 3× SPY’s return with a shallower drawdown; rules-based and fully auditable. The CPI overlay is a small add-on.</a:t>
            </a:r>
            <a:endParaRPr sz="1100" b="0" i="0">
              <a:solidFill>
                <a:srgbClr val="404040"/>
              </a:solidFill>
            </a:endParaRPr>
          </a:p>
        </p:txBody>
      </p:sp>
      <p:sp>
        <p:nvSpPr>
          <p:cNvPr id="32" name="Source"/>
          <p:cNvSpPr txBox="1"/>
          <p:nvPr/>
        </p:nvSpPr>
        <p:spPr>
          <a:xfrm>
            <a:off x="457200" y="6144768"/>
            <a:ext cx="8229600" cy="201168"/>
          </a:xfrm>
          <a:prstGeom prst="rect">
            <a:avLst/>
          </a:prstGeom>
          <a:noFill/>
        </p:spPr>
        <p:txBody>
          <a:bodyPr wrap="square" lIns="45720" tIns="27432" rIns="45720" bIns="27432" anchor="t">
            <a:spAutoFit/>
          </a:bodyPr>
          <a:lstStyle/>
          <a:p>
            <a:pPr marL="0" indent="0">
              <a:spcAft>
                <a:spcPts val="0"/>
              </a:spcAft>
              <a:buNone/>
            </a:pPr>
            <a:r>
              <a:rPr sz="800" b="0" i="1">
                <a:solidFill>
                  <a:srgbClr val="7F7F7F"/>
                </a:solidFill>
              </a:rPr>
              <a:t>Source: team backtest and October tracking (Report.html: final_metrics.csv, final_live_summary.csv); QQQ from the earlier backtest</a:t>
            </a:r>
            <a:endParaRPr sz="800" b="0" i="1">
              <a:solidFill>
                <a:srgbClr val="7F7F7F"/>
              </a:solidFill>
            </a:endParaRPr>
          </a:p>
        </p:txBody>
      </p:sp>
    </p:spTree>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spTree>
      <p:nvGrpSpPr>
        <p:cNvPr id="1" name=""/>
        <p:cNvGrpSpPr/>
        <p:nvPr/>
      </p:nvGrpSpPr>
      <p:grpSpPr>
        <a:xfrm>
          <a:off x="0" y="0"/>
          <a:ext cx="0" cy="0"/>
          <a:chOff x="0" y="0"/>
          <a:chExt cx="0" cy="0"/>
        </a:xfrm>
      </p:grpSpPr>
      <p:sp>
        <p:nvSpPr>
          <p:cNvPr id="2" name="Text 3"/>
          <p:cNvSpPr/>
          <p:nvPr>
            <p:ph type="title" idx="103" hasCustomPrompt="1"/>
          </p:nvPr>
        </p:nvSpPr>
        <p:spPr>
          <a:xfrm>
            <a:off x="330200" y="320040"/>
            <a:ext cx="8495665" cy="777240"/>
          </a:xfrm>
          <a:prstGeom prst="rect">
            <a:avLst/>
          </a:prstGeom>
          <a:noFill/>
        </p:spPr>
        <p:txBody>
          <a:bodyPr wrap="square" lIns="0" tIns="0" rIns="0" bIns="0" rtlCol="0" anchor="ctr"/>
          <a:lstStyle/>
          <a:p>
            <a:pPr marL="0" indent="0" algn="l">
              <a:buNone/>
            </a:pPr>
            <a:r>
              <a:rPr lang="en-US" altLang="zh-CN" dirty="0"/>
              <a:t>Singapore </a:t>
            </a:r>
            <a:r>
              <a:rPr lang="en-US" altLang="zh-CN" sz="2800" dirty="0"/>
              <a:t>Strategy: Why GJR-CARCH?</a:t>
            </a:r>
            <a:endParaRPr lang="en-US" altLang="zh-CN" sz="2000" dirty="0">
              <a:sym typeface="+mn-ea"/>
            </a:endParaRPr>
          </a:p>
        </p:txBody>
      </p:sp>
      <p:sp>
        <p:nvSpPr>
          <p:cNvPr id="25" name="Slide Number Placeholder 0"/>
          <p:cNvSpPr>
            <a:spLocks noGrp="1"/>
          </p:cNvSpPr>
          <p:nvPr>
            <p:ph type="sldNum" sz="quarter" idx="4294967295"/>
          </p:nvPr>
        </p:nvSpPr>
        <p:spPr>
          <a:xfrm>
            <a:off x="8458200" y="182880"/>
            <a:ext cx="457200" cy="274320"/>
          </a:xfrm>
          <a:prstGeom prst="rect">
            <a:avLst/>
          </a:prstGeom>
        </p:spPr>
        <p:txBody>
          <a:bodyPr/>
          <a:lstStyle>
            <a:lvl1pPr>
              <a:defRPr sz="1000">
                <a:solidFill>
                  <a:schemeClr val="tx1"/>
                </a:solidFill>
              </a:defRPr>
            </a:lvl1pPr>
          </a:lstStyle>
          <a:p>
            <a:pPr algn="r"/>
            <a:fld id="{F7021451-1387-4CA6-816F-3879F97B5CBC}" type="slidenum">
              <a:rPr lang="en-US" b="0"/>
            </a:fld>
            <a:endParaRPr lang="en-US"/>
          </a:p>
        </p:txBody>
      </p:sp>
      <mc:AlternateContent xmlns:mc="http://schemas.openxmlformats.org/markup-compatibility/2006">
        <mc:Choice xmlns:a14="http://schemas.microsoft.com/office/drawing/2010/main" Requires="a14">
          <p:sp>
            <p:nvSpPr>
              <p:cNvPr id="15" name="Text 2"/>
              <p:cNvSpPr txBox="1"/>
              <p:nvPr/>
            </p:nvSpPr>
            <p:spPr>
              <a:xfrm>
                <a:off x="646430" y="2510790"/>
                <a:ext cx="7863840" cy="731520"/>
              </a:xfrm>
              <a:prstGeom prst="rect">
                <a:avLst/>
              </a:prstGeom>
              <a:noFill/>
            </p:spPr>
            <p:txBody>
              <a:bodyPr wrap="square" rtlCol="0" anchor="ctr"/>
              <a:lstStyle/>
              <a:p>
                <a:pPr marL="0" indent="0" algn="ctr">
                  <a:buNone/>
                </a:pPr>
                <a14:m>
                  <m:oMathPara xmlns:m="http://schemas.openxmlformats.org/officeDocument/2006/math">
                    <m:oMathParaPr>
                      <m:jc m:val="centerGroup"/>
                    </m:oMathParaPr>
                    <m:oMath xmlns:m="http://schemas.openxmlformats.org/officeDocument/2006/math">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0</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𝛾</m:t>
                      </m:r>
                      <m:sSub>
                        <m:sSubPr>
                          <m:ctrlP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𝐼</m:t>
                          </m:r>
                        </m:e>
                        <m:sub>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rgbClr val="C00000"/>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𝑏</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oMath>
                  </m:oMathPara>
                </a14:m>
                <a:endParaRPr lang="zh-CN" altLang="en-US" sz="2200" dirty="0">
                  <a:solidFill>
                    <a:schemeClr val="tx2"/>
                  </a:solidFill>
                  <a:latin typeface="Cambria" panose="02040503050406030204" pitchFamily="34" charset="0"/>
                  <a:ea typeface="宋体" panose="02010600030101010101" pitchFamily="2" charset="-122"/>
                  <a:cs typeface="Cambria" panose="02040503050406030204" pitchFamily="34" charset="-120"/>
                </a:endParaRPr>
              </a:p>
            </p:txBody>
          </p:sp>
        </mc:Choice>
        <mc:Fallback>
          <p:sp>
            <p:nvSpPr>
              <p:cNvPr id="15" name="Text 2"/>
              <p:cNvSpPr txBox="1">
                <a:spLocks noRot="1" noChangeAspect="1" noMove="1" noResize="1" noEditPoints="1" noAdjustHandles="1" noChangeArrowheads="1" noChangeShapeType="1" noTextEdit="1"/>
              </p:cNvSpPr>
              <p:nvPr/>
            </p:nvSpPr>
            <p:spPr>
              <a:xfrm>
                <a:off x="646430" y="2510790"/>
                <a:ext cx="7863840" cy="731520"/>
              </a:xfrm>
              <a:prstGeom prst="rect">
                <a:avLst/>
              </a:prstGeom>
              <a:blipFill rotWithShape="1">
                <a:blip r:embed="rId1"/>
                <a:stretch>
                  <a:fillRect/>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6" name="文本框 5"/>
              <p:cNvSpPr txBox="1"/>
              <p:nvPr/>
            </p:nvSpPr>
            <p:spPr>
              <a:xfrm>
                <a:off x="1471231" y="3287331"/>
                <a:ext cx="5807075" cy="619760"/>
              </a:xfrm>
              <a:prstGeom prst="rect">
                <a:avLst/>
              </a:prstGeom>
              <a:noFill/>
            </p:spPr>
            <p:txBody>
              <a:bodyPr wrap="none" rtlCol="0" anchor="t">
                <a:spAutoFit/>
              </a:bodyPr>
              <a:p>
                <a:pPr algn="l"/>
                <a14:m>
                  <m:oMathPara xmlns:m="http://schemas.openxmlformats.org/officeDocument/2006/math">
                    <m:oMathParaPr>
                      <m:jc m:val="centerGroup"/>
                    </m:oMathParaPr>
                    <m:oMath xmlns:m="http://schemas.openxmlformats.org/officeDocument/2006/math">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𝐼</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m:t>
                      </m:r>
                      <m:d>
                        <m:dPr>
                          <m:begChr m:val="{"/>
                          <m:endChr m:val=""/>
                          <m:ctrlPr>
                            <a:rPr lang="en-US" altLang="zh-CN" i="1">
                              <a:solidFill>
                                <a:schemeClr val="tx2"/>
                              </a:solidFill>
                              <a:latin typeface="Cambria Math" panose="02040503050406030204" charset="0"/>
                              <a:cs typeface="Cambria Math" panose="02040503050406030204" charset="0"/>
                            </a:rPr>
                          </m:ctrlPr>
                        </m:dPr>
                        <m:e>
                          <m:eqArr>
                            <m:eqArrPr>
                              <m:ctrlPr>
                                <a:rPr lang="en-US" altLang="zh-CN" i="1">
                                  <a:solidFill>
                                    <a:schemeClr val="tx2"/>
                                  </a:solidFill>
                                  <a:latin typeface="Cambria Math" panose="02040503050406030204" charset="0"/>
                                  <a:cs typeface="Cambria Math" panose="02040503050406030204" charset="0"/>
                                </a:rPr>
                              </m:ctrlPr>
                            </m:eqArrPr>
                            <m:e>
                              <m:r>
                                <a:rPr lang="en-US" altLang="zh-CN" i="1">
                                  <a:solidFill>
                                    <a:schemeClr val="tx2"/>
                                  </a:solidFill>
                                  <a:latin typeface="Cambria Math" panose="02040503050406030204" charset="0"/>
                                  <a:cs typeface="Cambria Math" panose="02040503050406030204" charset="0"/>
                                </a:rPr>
                                <m:t>1</m:t>
                              </m:r>
                              <m:r>
                                <a:rPr lang="en-US" altLang="zh-CN" i="1">
                                  <a:solidFill>
                                    <a:schemeClr val="tx2"/>
                                  </a:solidFill>
                                  <a:latin typeface="Cambria Math" panose="02040503050406030204" charset="0"/>
                                  <a:cs typeface="Cambria Math" panose="02040503050406030204" charset="0"/>
                                </a:rPr>
                                <m:t>,</m:t>
                              </m:r>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𝜖</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&lt;</m:t>
                              </m:r>
                              <m:r>
                                <a:rPr lang="en-US" altLang="zh-CN" i="1">
                                  <a:solidFill>
                                    <a:schemeClr val="tx2"/>
                                  </a:solidFill>
                                  <a:latin typeface="Cambria Math" panose="02040503050406030204" charset="0"/>
                                  <a:cs typeface="Cambria Math" panose="02040503050406030204" charset="0"/>
                                </a:rPr>
                                <m:t>0</m:t>
                              </m:r>
                            </m:e>
                            <m:e>
                              <m:r>
                                <a:rPr lang="en-US" altLang="zh-CN" i="1">
                                  <a:solidFill>
                                    <a:schemeClr val="tx2"/>
                                  </a:solidFill>
                                  <a:latin typeface="Cambria Math" panose="02040503050406030204" charset="0"/>
                                  <a:cs typeface="Cambria Math" panose="02040503050406030204" charset="0"/>
                                </a:rPr>
                                <m:t>0</m:t>
                              </m:r>
                              <m:r>
                                <a:rPr lang="en-US" altLang="zh-CN" i="1">
                                  <a:solidFill>
                                    <a:schemeClr val="tx2"/>
                                  </a:solidFill>
                                  <a:latin typeface="Cambria Math" panose="02040503050406030204" charset="0"/>
                                  <a:cs typeface="Cambria Math" panose="02040503050406030204" charset="0"/>
                                </a:rPr>
                                <m:t>,</m:t>
                              </m:r>
                              <m:sSub>
                                <m:sSubPr>
                                  <m:ctrlPr>
                                    <a:rPr lang="en-US" altLang="zh-CN" i="1">
                                      <a:solidFill>
                                        <a:schemeClr val="tx2"/>
                                      </a:solidFill>
                                      <a:latin typeface="Cambria Math" panose="02040503050406030204" charset="0"/>
                                      <a:cs typeface="Cambria Math" panose="02040503050406030204" charset="0"/>
                                    </a:rPr>
                                  </m:ctrlPr>
                                </m:sSubPr>
                                <m:e>
                                  <m:r>
                                    <a:rPr lang="en-US" altLang="zh-CN" i="1">
                                      <a:solidFill>
                                        <a:schemeClr val="tx2"/>
                                      </a:solidFill>
                                      <a:latin typeface="Cambria Math" panose="02040503050406030204" charset="0"/>
                                      <a:cs typeface="Cambria Math" panose="02040503050406030204" charset="0"/>
                                    </a:rPr>
                                    <m:t>𝜖</m:t>
                                  </m:r>
                                </m:e>
                                <m:sub>
                                  <m:r>
                                    <a:rPr lang="en-US" altLang="zh-CN" i="1">
                                      <a:solidFill>
                                        <a:schemeClr val="tx2"/>
                                      </a:solidFill>
                                      <a:latin typeface="Cambria Math" panose="02040503050406030204" charset="0"/>
                                      <a:cs typeface="Cambria Math" panose="02040503050406030204" charset="0"/>
                                    </a:rPr>
                                    <m:t>𝑡</m:t>
                                  </m:r>
                                  <m:r>
                                    <a:rPr lang="en-US" altLang="zh-CN" i="1">
                                      <a:solidFill>
                                        <a:schemeClr val="tx2"/>
                                      </a:solidFill>
                                      <a:latin typeface="Cambria Math" panose="02040503050406030204" charset="0"/>
                                      <a:cs typeface="Cambria Math" panose="02040503050406030204" charset="0"/>
                                    </a:rPr>
                                    <m:t>−</m:t>
                                  </m:r>
                                  <m:r>
                                    <a:rPr lang="en-US" altLang="zh-CN" i="1">
                                      <a:solidFill>
                                        <a:schemeClr val="tx2"/>
                                      </a:solidFill>
                                      <a:latin typeface="Cambria Math" panose="02040503050406030204" charset="0"/>
                                      <a:cs typeface="Cambria Math" panose="02040503050406030204" charset="0"/>
                                    </a:rPr>
                                    <m:t>1</m:t>
                                  </m:r>
                                </m:sub>
                              </m:sSub>
                              <m:r>
                                <a:rPr lang="en-US" altLang="zh-CN" i="1">
                                  <a:solidFill>
                                    <a:schemeClr val="tx2"/>
                                  </a:solidFill>
                                  <a:latin typeface="Cambria Math" panose="02040503050406030204" charset="0"/>
                                  <a:cs typeface="Cambria Math" panose="02040503050406030204" charset="0"/>
                                </a:rPr>
                                <m:t>≥</m:t>
                              </m:r>
                              <m:r>
                                <a:rPr lang="en-US" altLang="zh-CN" i="1">
                                  <a:solidFill>
                                    <a:schemeClr val="tx2"/>
                                  </a:solidFill>
                                  <a:latin typeface="Cambria Math" panose="02040503050406030204" charset="0"/>
                                  <a:cs typeface="Cambria Math" panose="02040503050406030204" charset="0"/>
                                </a:rPr>
                                <m:t>0</m:t>
                              </m:r>
                            </m:e>
                          </m:eqArr>
                        </m:e>
                      </m:d>
                    </m:oMath>
                  </m:oMathPara>
                </a14:m>
                <a:endParaRPr lang="en-US" altLang="zh-CN" i="1">
                  <a:solidFill>
                    <a:schemeClr val="tx2"/>
                  </a:solidFill>
                  <a:latin typeface="Cambria Math" panose="02040503050406030204" charset="0"/>
                  <a:cs typeface="Cambria Math" panose="02040503050406030204" charset="0"/>
                </a:endParaRPr>
              </a:p>
            </p:txBody>
          </p:sp>
        </mc:Choice>
        <mc:Fallback>
          <p:sp>
            <p:nvSpPr>
              <p:cNvPr id="6" name="文本框 5"/>
              <p:cNvSpPr txBox="1">
                <a:spLocks noRot="1" noChangeAspect="1" noMove="1" noResize="1" noEditPoints="1" noAdjustHandles="1" noChangeArrowheads="1" noChangeShapeType="1" noTextEdit="1"/>
              </p:cNvSpPr>
              <p:nvPr/>
            </p:nvSpPr>
            <p:spPr>
              <a:xfrm>
                <a:off x="1471231" y="3287331"/>
                <a:ext cx="5807075" cy="619760"/>
              </a:xfrm>
              <a:prstGeom prst="rect">
                <a:avLst/>
              </a:prstGeom>
              <a:blipFill rotWithShape="1">
                <a:blip r:embed="rId2"/>
                <a:stretch>
                  <a:fillRect l="-10" t="-92" r="10" b="92"/>
                </a:stretch>
              </a:blipFill>
            </p:spPr>
            <p:txBody>
              <a:bodyPr/>
              <a:lstStyle/>
              <a:p>
                <a:r>
                  <a:rPr lang="zh-CN" altLang="en-US">
                    <a:noFill/>
                  </a:rPr>
                  <a:t> </a:t>
                </a:r>
              </a:p>
            </p:txBody>
          </p:sp>
        </mc:Fallback>
      </mc:AlternateContent>
      <mc:AlternateContent xmlns:mc="http://schemas.openxmlformats.org/markup-compatibility/2006">
        <mc:Choice xmlns:a14="http://schemas.microsoft.com/office/drawing/2010/main" Requires="a14">
          <p:sp>
            <p:nvSpPr>
              <p:cNvPr id="7" name="文本框 6"/>
              <p:cNvSpPr txBox="1"/>
              <p:nvPr/>
            </p:nvSpPr>
            <p:spPr>
              <a:xfrm>
                <a:off x="1314450" y="1588770"/>
                <a:ext cx="6263640" cy="430530"/>
              </a:xfrm>
              <a:prstGeom prst="rect">
                <a:avLst/>
              </a:prstGeom>
              <a:noFill/>
            </p:spPr>
            <p:txBody>
              <a:bodyPr wrap="square" rtlCol="0" anchor="t">
                <a:spAutoFit/>
              </a:bodyPr>
              <a:p>
                <a:pPr marL="0" indent="0" algn="ctr">
                  <a:buNone/>
                </a:pPr>
                <a14:m>
                  <m:oMathPara xmlns:m="http://schemas.openxmlformats.org/officeDocument/2006/math">
                    <m:oMathParaPr>
                      <m:jc m:val="centerGroup"/>
                    </m:oMathParaPr>
                    <m:oMath xmlns:m="http://schemas.openxmlformats.org/officeDocument/2006/math">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0</m:t>
                          </m:r>
                        </m:sub>
                      </m:s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Sup>
                        <m:sSubSup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Sup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𝜖</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2</m:t>
                          </m:r>
                        </m:sup>
                      </m:sSubSup>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𝑏</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sSub>
                        <m:sSubPr>
                          <m:ctrlP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ctrlPr>
                        </m:sSubPr>
                        <m:e>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ℎ</m:t>
                          </m:r>
                        </m:e>
                        <m:sub>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𝑡</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m:t>
                          </m:r>
                          <m:r>
                            <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rPr>
                            <m:t>1</m:t>
                          </m:r>
                        </m:sub>
                      </m:sSub>
                    </m:oMath>
                  </m:oMathPara>
                </a14:m>
                <a:endParaRPr lang="en-US" altLang="zh-CN" sz="2200" i="1" dirty="0">
                  <a:solidFill>
                    <a:schemeClr val="tx2"/>
                  </a:solidFill>
                  <a:latin typeface="Cambria Math" panose="02040503050406030204" charset="0"/>
                  <a:ea typeface="Cambria" panose="02040503050406030204" pitchFamily="34" charset="-122"/>
                  <a:cs typeface="Cambria Math" panose="02040503050406030204" charset="0"/>
                </a:endParaRPr>
              </a:p>
            </p:txBody>
          </p:sp>
        </mc:Choice>
        <mc:Fallback>
          <p:sp>
            <p:nvSpPr>
              <p:cNvPr id="7" name="文本框 6"/>
              <p:cNvSpPr txBox="1">
                <a:spLocks noRot="1" noChangeAspect="1" noMove="1" noResize="1" noEditPoints="1" noAdjustHandles="1" noChangeArrowheads="1" noChangeShapeType="1" noTextEdit="1"/>
              </p:cNvSpPr>
              <p:nvPr/>
            </p:nvSpPr>
            <p:spPr>
              <a:xfrm>
                <a:off x="1314450" y="1588770"/>
                <a:ext cx="6263640" cy="430530"/>
              </a:xfrm>
              <a:prstGeom prst="rect">
                <a:avLst/>
              </a:prstGeom>
              <a:blipFill rotWithShape="1">
                <a:blip r:embed="rId3"/>
                <a:stretch>
                  <a:fillRect/>
                </a:stretch>
              </a:blipFill>
            </p:spPr>
            <p:txBody>
              <a:bodyPr/>
              <a:lstStyle/>
              <a:p>
                <a:r>
                  <a:rPr lang="zh-CN" altLang="en-US">
                    <a:noFill/>
                  </a:rPr>
                  <a:t> </a:t>
                </a:r>
              </a:p>
            </p:txBody>
          </p:sp>
        </mc:Fallback>
      </mc:AlternateContent>
      <p:sp>
        <p:nvSpPr>
          <p:cNvPr id="31" name="文本框 30"/>
          <p:cNvSpPr txBox="1"/>
          <p:nvPr/>
        </p:nvSpPr>
        <p:spPr>
          <a:xfrm>
            <a:off x="646430" y="1062990"/>
            <a:ext cx="2195195" cy="398780"/>
          </a:xfrm>
          <a:prstGeom prst="rect">
            <a:avLst/>
          </a:prstGeom>
          <a:noFill/>
        </p:spPr>
        <p:txBody>
          <a:bodyPr wrap="square" rtlCol="0" anchor="t">
            <a:spAutoFit/>
          </a:bodyPr>
          <a:p>
            <a:r>
              <a:rPr lang="en-US" altLang="zh-CN" sz="2000" b="1" dirty="0">
                <a:solidFill>
                  <a:schemeClr val="tx2"/>
                </a:solidFill>
                <a:latin typeface="+mj-lt"/>
                <a:cs typeface="+mj-lt"/>
                <a:sym typeface="+mn-ea"/>
              </a:rPr>
              <a:t>GARCH(1,1)</a:t>
            </a:r>
            <a:endParaRPr lang="en-US" altLang="zh-CN" sz="2000" b="1" dirty="0">
              <a:solidFill>
                <a:schemeClr val="tx2"/>
              </a:solidFill>
              <a:latin typeface="+mj-lt"/>
              <a:cs typeface="+mj-lt"/>
              <a:sym typeface="+mn-ea"/>
            </a:endParaRPr>
          </a:p>
        </p:txBody>
      </p:sp>
      <p:sp>
        <p:nvSpPr>
          <p:cNvPr id="36" name="文本框 35"/>
          <p:cNvSpPr txBox="1"/>
          <p:nvPr/>
        </p:nvSpPr>
        <p:spPr>
          <a:xfrm>
            <a:off x="646430" y="2115820"/>
            <a:ext cx="4572000" cy="398780"/>
          </a:xfrm>
          <a:prstGeom prst="rect">
            <a:avLst/>
          </a:prstGeom>
          <a:noFill/>
        </p:spPr>
        <p:txBody>
          <a:bodyPr wrap="square" rtlCol="0" anchor="t">
            <a:spAutoFit/>
          </a:bodyPr>
          <a:p>
            <a:r>
              <a:rPr lang="en-US" altLang="zh-CN" sz="2000" b="1" dirty="0">
                <a:solidFill>
                  <a:schemeClr val="tx2"/>
                </a:solidFill>
                <a:latin typeface="+mj-lt"/>
                <a:cs typeface="+mj-lt"/>
                <a:sym typeface="+mn-ea"/>
              </a:rPr>
              <a:t>GJR-GARCH(1,1)-t </a:t>
            </a:r>
            <a:endParaRPr lang="en-US" altLang="zh-CN" sz="2000" b="1" dirty="0">
              <a:solidFill>
                <a:schemeClr val="tx2"/>
              </a:solidFill>
              <a:latin typeface="+mj-lt"/>
              <a:cs typeface="+mj-lt"/>
              <a:sym typeface="+mn-ea"/>
            </a:endParaRPr>
          </a:p>
        </p:txBody>
      </p:sp>
      <p:pic>
        <p:nvPicPr>
          <p:cNvPr id="32" name="图片 31"/>
          <p:cNvPicPr>
            <a:picLocks noChangeAspect="1"/>
          </p:cNvPicPr>
          <p:nvPr/>
        </p:nvPicPr>
        <p:blipFill>
          <a:blip r:embed="rId4"/>
          <a:stretch>
            <a:fillRect/>
          </a:stretch>
        </p:blipFill>
        <p:spPr>
          <a:xfrm>
            <a:off x="-71120" y="4159250"/>
            <a:ext cx="9215120" cy="1367790"/>
          </a:xfrm>
          <a:prstGeom prst="rect">
            <a:avLst/>
          </a:prstGeom>
        </p:spPr>
      </p:pic>
      <p:sp>
        <p:nvSpPr>
          <p:cNvPr id="3" name="文本框 2"/>
          <p:cNvSpPr txBox="1"/>
          <p:nvPr/>
        </p:nvSpPr>
        <p:spPr>
          <a:xfrm>
            <a:off x="3566096" y="3233991"/>
            <a:ext cx="309880" cy="368300"/>
          </a:xfrm>
          <a:prstGeom prst="rect">
            <a:avLst/>
          </a:prstGeom>
          <a:noFill/>
        </p:spPr>
        <p:txBody>
          <a:bodyPr wrap="none" rtlCol="0" anchor="t">
            <a:spAutoFit/>
          </a:bodyPr>
          <a:p>
            <a:pPr algn="l"/>
            <a:endParaRPr lang="en-US" altLang="zh-CN" i="1">
              <a:latin typeface="Cambria Math" panose="02040503050406030204" charset="0"/>
              <a:cs typeface="Cambria Math" panose="02040503050406030204" charset="0"/>
            </a:endParaRPr>
          </a:p>
        </p:txBody>
      </p:sp>
    </p:spTree>
  </p:cSld>
  <p:clrMapOvr>
    <a:masterClrMapping/>
  </p:clrMapOvr>
  <p:timing>
    <p:tnLst>
      <p:par>
        <p:cTn id="1" dur="indefinite" restart="never" nodeType="tmRoot">
          <p:childTnLst>
            <p:seq concurrent="1" nextAc="seek">
              <p:cTn id="2" dur="indefinite" nodeType="mainSeq">
                <p:childTnLst>
                  <p:par>
                    <p:cTn id="3" fill="hold">
                      <p:stCondLst>
                        <p:cond delay="indefinite"/>
                      </p:stCondLst>
                      <p:childTnLst>
                        <p:par>
                          <p:cTn id="4" fill="hold">
                            <p:stCondLst>
                              <p:cond delay="0"/>
                            </p:stCondLst>
                            <p:childTnLst>
                              <p:par>
                                <p:cTn id="5" presetID="1" presetClass="entr" presetSubtype="0" fill="hold" grpId="0" nodeType="clickEffect">
                                  <p:stCondLst>
                                    <p:cond delay="0"/>
                                  </p:stCondLst>
                                  <p:childTnLst>
                                    <p:set>
                                      <p:cBhvr>
                                        <p:cTn id="6" dur="1" fill="hold">
                                          <p:stCondLst>
                                            <p:cond delay="0"/>
                                          </p:stCondLst>
                                        </p:cTn>
                                        <p:tgtEl>
                                          <p:spTgt spid="31"/>
                                        </p:tgtEl>
                                        <p:attrNameLst>
                                          <p:attrName>style.visibility</p:attrName>
                                        </p:attrNameLst>
                                      </p:cBhvr>
                                      <p:to>
                                        <p:strVal val="visible"/>
                                      </p:to>
                                    </p:set>
                                  </p:childTnLst>
                                </p:cTn>
                              </p:par>
                            </p:childTnLst>
                          </p:cTn>
                        </p:par>
                      </p:childTnLst>
                    </p:cTn>
                  </p:par>
                  <p:par>
                    <p:cTn id="7" fill="hold">
                      <p:stCondLst>
                        <p:cond delay="indefinite"/>
                      </p:stCondLst>
                      <p:childTnLst>
                        <p:par>
                          <p:cTn id="8" fill="hold">
                            <p:stCondLst>
                              <p:cond delay="0"/>
                            </p:stCondLst>
                            <p:childTnLst>
                              <p:par>
                                <p:cTn id="9" presetID="1" presetClass="entr" presetSubtype="0" fill="hold" grpId="0" nodeType="clickEffect">
                                  <p:stCondLst>
                                    <p:cond delay="0"/>
                                  </p:stCondLst>
                                  <p:childTnLst>
                                    <p:set>
                                      <p:cBhvr>
                                        <p:cTn id="10" dur="1" fill="hold">
                                          <p:stCondLst>
                                            <p:cond delay="0"/>
                                          </p:stCondLst>
                                        </p:cTn>
                                        <p:tgtEl>
                                          <p:spTgt spid="6"/>
                                        </p:tgtEl>
                                        <p:attrNameLst>
                                          <p:attrName>style.visibility</p:attrName>
                                        </p:attrNameLst>
                                      </p:cBhvr>
                                      <p:to>
                                        <p:strVal val="visible"/>
                                      </p:to>
                                    </p:set>
                                  </p:childTnLst>
                                </p:cTn>
                              </p:par>
                              <p:par>
                                <p:cTn id="11" presetID="1" presetClass="entr" presetSubtype="0" fill="hold" grpId="0" nodeType="withEffect">
                                  <p:stCondLst>
                                    <p:cond delay="0"/>
                                  </p:stCondLst>
                                  <p:childTnLst>
                                    <p:set>
                                      <p:cBhvr>
                                        <p:cTn id="12" dur="1" fill="hold">
                                          <p:stCondLst>
                                            <p:cond delay="0"/>
                                          </p:stCondLst>
                                        </p:cTn>
                                        <p:tgtEl>
                                          <p:spTgt spid="15"/>
                                        </p:tgtEl>
                                        <p:attrNameLst>
                                          <p:attrName>style.visibility</p:attrName>
                                        </p:attrNameLst>
                                      </p:cBhvr>
                                      <p:to>
                                        <p:strVal val="visible"/>
                                      </p:to>
                                    </p:set>
                                  </p:childTnLst>
                                </p:cTn>
                              </p:par>
                              <p:par>
                                <p:cTn id="13" presetID="1" presetClass="entr" presetSubtype="0" fill="hold" grpId="0" nodeType="withEffect">
                                  <p:stCondLst>
                                    <p:cond delay="0"/>
                                  </p:stCondLst>
                                  <p:childTnLst>
                                    <p:set>
                                      <p:cBhvr>
                                        <p:cTn id="14" dur="1" fill="hold">
                                          <p:stCondLst>
                                            <p:cond delay="0"/>
                                          </p:stCondLst>
                                        </p:cTn>
                                        <p:tgtEl>
                                          <p:spTgt spid="36"/>
                                        </p:tgtEl>
                                        <p:attrNameLst>
                                          <p:attrName>style.visibility</p:attrName>
                                        </p:attrNameLst>
                                      </p:cBhvr>
                                      <p:to>
                                        <p:strVal val="visible"/>
                                      </p:to>
                                    </p:set>
                                  </p:childTnLst>
                                </p:cTn>
                              </p:par>
                            </p:childTnLst>
                          </p:cTn>
                        </p:par>
                      </p:childTnLst>
                    </p:cTn>
                  </p:par>
                  <p:par>
                    <p:cTn id="15" fill="hold">
                      <p:stCondLst>
                        <p:cond delay="indefinite"/>
                      </p:stCondLst>
                      <p:childTnLst>
                        <p:par>
                          <p:cTn id="16" fill="hold">
                            <p:stCondLst>
                              <p:cond delay="0"/>
                            </p:stCondLst>
                            <p:childTnLst>
                              <p:par>
                                <p:cTn id="17" presetID="1" presetClass="entr" presetSubtype="0" fill="hold" nodeType="clickEffect">
                                  <p:stCondLst>
                                    <p:cond delay="0"/>
                                  </p:stCondLst>
                                  <p:childTnLst>
                                    <p:set>
                                      <p:cBhvr>
                                        <p:cTn id="18" dur="1" fill="hold">
                                          <p:stCondLst>
                                            <p:cond delay="0"/>
                                          </p:stCondLst>
                                        </p:cTn>
                                        <p:tgtEl>
                                          <p:spTgt spid="32"/>
                                        </p:tgtEl>
                                        <p:attrNameLst>
                                          <p:attrName>style.visibility</p:attrName>
                                        </p:attrNameLst>
                                      </p:cBhvr>
                                      <p:to>
                                        <p:strVal val="visible"/>
                                      </p:to>
                                    </p:set>
                                  </p:childTnLst>
                                </p:cTn>
                              </p:par>
                            </p:childTnLst>
                          </p:cTn>
                        </p:par>
                      </p:childTnLst>
                    </p:cTn>
                  </p:par>
                </p:childTnLst>
              </p:cTn>
              <p:prevCondLst>
                <p:cond evt="onPrev" delay="0">
                  <p:tgtEl>
                    <p:sldTgt/>
                  </p:tgtEl>
                </p:cond>
              </p:prevCondLst>
              <p:nextCondLst>
                <p:cond evt="onNext" delay="0">
                  <p:tgtEl>
                    <p:sldTgt/>
                  </p:tgtEl>
                </p:cond>
              </p:nextCondLst>
            </p:seq>
          </p:childTnLst>
        </p:cTn>
      </p:par>
    </p:tnLst>
    <p:bldLst>
      <p:bldP spid="31" grpId="0"/>
      <p:bldP spid="31" grpId="1"/>
      <p:bldP spid="6" grpId="0"/>
      <p:bldP spid="15" grpId="0"/>
      <p:bldP spid="36" grpId="0"/>
      <p:bldP spid="6" grpId="1"/>
      <p:bldP spid="15" grpId="1"/>
      <p:bldP spid="36" grpId="1"/>
    </p:bldLst>
  </p:timing>
</p:sld>
</file>

<file path=ppt/theme/theme1.xml><?xml version="1.0" encoding="utf-8"?>
<a:theme xmlns:a="http://schemas.openxmlformats.org/drawingml/2006/main" name="FE5209 Group Project">
  <a:themeElements>
    <a:clrScheme name="FE5209 Group Project">
      <a:dk1>
        <a:srgbClr val="1F1F1F"/>
      </a:dk1>
      <a:lt1>
        <a:srgbClr val="FFFFFF"/>
      </a:lt1>
      <a:dk2>
        <a:srgbClr val="0A2A8C"/>
      </a:dk2>
      <a:lt2>
        <a:srgbClr val="EEF3F9"/>
      </a:lt2>
      <a:accent1>
        <a:srgbClr val="42679A"/>
      </a:accent1>
      <a:accent2>
        <a:srgbClr val="E8851A"/>
      </a:accent2>
      <a:accent3>
        <a:srgbClr val="1A3FD0"/>
      </a:accent3>
      <a:accent4>
        <a:srgbClr val="C8102E"/>
      </a:accent4>
      <a:accent5>
        <a:srgbClr val="00B894"/>
      </a:accent5>
      <a:accent6>
        <a:srgbClr val="7A5CC2"/>
      </a:accent6>
      <a:hlink>
        <a:srgbClr val="1A3FD0"/>
      </a:hlink>
      <a:folHlink>
        <a:srgbClr val="7A5CC2"/>
      </a:folHlink>
    </a:clrScheme>
    <a:fontScheme name="FE5209 Group Proj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FE5209 Group Project">
  <a:themeElements>
    <a:clrScheme name="FE5209 Group Project">
      <a:dk1>
        <a:srgbClr val="1F1F1F"/>
      </a:dk1>
      <a:lt1>
        <a:srgbClr val="FFFFFF"/>
      </a:lt1>
      <a:dk2>
        <a:srgbClr val="0A2A8C"/>
      </a:dk2>
      <a:lt2>
        <a:srgbClr val="EEF3F9"/>
      </a:lt2>
      <a:accent1>
        <a:srgbClr val="42679A"/>
      </a:accent1>
      <a:accent2>
        <a:srgbClr val="E8851A"/>
      </a:accent2>
      <a:accent3>
        <a:srgbClr val="1A3FD0"/>
      </a:accent3>
      <a:accent4>
        <a:srgbClr val="C8102E"/>
      </a:accent4>
      <a:accent5>
        <a:srgbClr val="00B894"/>
      </a:accent5>
      <a:accent6>
        <a:srgbClr val="7A5CC2"/>
      </a:accent6>
      <a:hlink>
        <a:srgbClr val="1A3FD0"/>
      </a:hlink>
      <a:folHlink>
        <a:srgbClr val="7A5CC2"/>
      </a:folHlink>
    </a:clrScheme>
    <a:fontScheme name="FE5209 Group Project">
      <a:majorFont>
        <a:latin typeface="Arial"/>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majorFont>
      <a:minorFont>
        <a:latin typeface="Arial"/>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extLst>
    <a:ext uri="{05A4C25C-085E-4340-85A3-A5531E510DB2}">
      <thm15:themeFamily xmlns:thm15="http://schemas.microsoft.com/office/thememl/2012/main" name="Office Theme" id="{62F939B6-93AF-4DB8-9C6B-D6C7DFDC589F}" vid="{4A3C46E8-61CC-4603-A589-7422A47A8E4A}"/>
    </a:ext>
  </a:extLst>
</a:theme>
</file>

<file path=customXml/item1.xml><?xml version="1.0" encoding="utf-8"?>
<s:customData xmlns="http://www.wps.cn/officeDocument/2013/wpsCustomData" xmlns:s="http://www.wps.cn/officeDocument/2013/wpsCustomData">
  <extobjs>
    <extobj name="334E55B0-647D-440b-865C-3EC943EB4CBC-1">
      <extobjdata type="334E55B0-647D-440b-865C-3EC943EB4CBC" data="ewoJIkltZ1NldHRpbmdKc29uIiA6ICJ7XCJkcGlcIjpcIjYwMFwiLFwiZm9ybWF0XCI6XCJQTkdcIixcInRyYW5zcGFyZW50XCI6dHJ1ZSxcImF1dG9cIjpmYWxzZX0iLAoJIkxhdGV4IiA6ICJYRnNnWEdoaGRIdGNjMmxuYldGOVgzdHdMSFI5UFZ4emNYSjBlekkxTWx4c1pXWjBLRnh0WVhSb1ltWjdkMzFmZEY1N1ZqRjlYSEpwWjJoMEtWNWNkRzl3WEdoaGRIdGNVMmxuYldGOVgzUmNiV0YwYUdKbWUzZDlYM1JlZTFZeGZYMGdYRjA9IiwKCSJMYXRleEltZ0Jhc2U2NCIgOiAiaVZCT1J3MEtHZ29BQUFBTlNVaEVVZ0FBQS9rQUFBQ1dCQU1BQUFCM0lWVXRBQUFBTUZCTVZFWC8vLzhBQUFBQUFBQUFBQUFBQUFBQUFBQUFBQUFBQUFBQUFBQUFBQUFBQUFBQUFBQUFBQUFBQUFBQUFBQUFBQUF2M2FCN0FBQUFEM1JTVGxNQXV6S1o3MllRM1NLclJJbFVkczF1VzVtOUFBQUFDWEJJV1hNQUFBN0VBQUFPeEFHVkt3NGJBQUFiNzBsRVFWUjRBZTFkYjRoc3lWVy8wL05lVDgvL1I0Z3hCTEhudzhZL24rYXBUd1JSZTlReEsxRzhBOWtvb3RDdGJ0NVRXSjJKdnV3VGtiMU5HQXdJWVdaeGlRalJucUJnU0lTZS9TWVk2QUVsR0JUNmtRLzVFcVVuRUpUM3dlMlhUVzltLzd5ZDhsVGRXLzlQZGQvcXZuZm1icjk3UDh5dFA2ZE8vYXBPMWFsenFxcnZCRUhCbjAxU1BubjF3T09DeXo2b2hIazF2ZVJMQ2kvOWhWSkkrZlZBNGFXL24xL2JTODZGbDM2VHRJcStPSlg0Y3V1QittVnVyRXZHUmUrQktubTM2QkJMZkxuMXdCcDVNemZlSmVPaTk4QXlPU2c2eEJKZmJqMndTVTV6NDEweUxub1BkTWxXMFNHVytITHJnYzRvTjlZbDQ4TDNRUGpkd2tNc0FlYlZBeXZrN2J4WWwzd0wzd09MWktmd0dFdUFlZlhBRFhLY0YrdVNiK0Y3WUp1Y0ZCNWpDVEN2SHVpUnZEaVhmSXZmQTlGYnhjZFlJc3lwQjJya1NVNmNTN2JGNzRGMThyM2lneXdSNXRRREcrUldUcHhMdHNYdmdYMnlWM3lRSmNLY2V1QzlmNjJyRmlHM0J5OWJPZlhYZkxGOTcxL3JXa2VFVDhwTmpEVERkQTZ1ZFZXLy8wSHkzQ2ZQOHVDak5JMS82bW5tNmxyWE9qbDc2Z1hxMVFFTDgzU3RxNVMrbCt5RFlLNnVkWlhTOTVSK2Y1NnVkWlhTOTVSKzU4S3pRSkhKUytsN1NpZDh4N05Ba2NsTDZmdEpaNFc4N2xlZzBOU2w5UDNFTTEvWHVrcnArMG4vQnJudFY2RFExS1gwL2NRelg5ZTYwa24vZlg1ZE5NZlU4M1d0SzVYMEYrYkp4NTF0YU03WHRhNVUwcS9QbGFFN2kvam43RnBYR3VuVGp4UnR6ZEpuODFOMnZmaWZsUExwN0RUU3I1TTc1QmQ4bU00djdaeGQ2MG9oL1FYeVJqVWF0ZWRYcEI0dG03TnJYU21rMzRGckh3dmtsejM2YUg1SkIvUDF0YTdKMGw5bVdyOVRUbjQ2cG9lWGN6V3lKMHUvYzlHQ0ZxK1dreDk2b1VyZXlFLzYxVHZ0SEpnZmp0dWJuQ2o5WmZJQmhxbFpUdjRndUpubkx6bnU1WEoyZkdQY1pkMkowdThrdjFwYkt5ZC9BT2JQZVE3VE0yWlpDeitTa3Zjem8yZGZldTNCTG5tWTBOOGt1eSs5ZHQreEpsWElpMjYyazZSZkMwK1R3cy9NOW9sQ0w4aHV2TmVic3lsNlBIc2N6NmZlVStrbU43SzU5RmRaWEpIK0g2a2ZGK215bFJ2SE8wbjZ3WWQ1dVJxdmpDZjR2ZjBnKy9HK011bythZWRWVnpWSy8rUFEzLzgzUWtaZmwxQmVpQWo1U2tzZ1c0blVpYm8rUmw5TmxMN2dPV3ZBQy9Lc2xlVlVQc2RyWGZkOFBnSUl2OGZReGtxWGZFNjJlSzJ1ZjBtMjhSMlpaNFN1VHZxQkYyUURaa0dpSkw5clhWNC9FVm94cE44VXVLcC8rVEg0MXhIcTNBK1czRithdVVMcGUwRXVpTGgxR0RsZTYxcjErdlp2bGVqak1Ecm1RRHVFWEhSMDZWZjBLS2VrN3l1VXZoZGtGV05od2psZTYrcjYyWk1oVWRYNXF2UVZYM24yYjdlMkRYSDNuUGJrRlVvLzhJSmNHSkVyUVBLNzFsVU5GWk5kcWRFVnJCUDFlNkhiK2pmRFRla3ZPWDkrZEpYUzk0THNhdmQxcHVkM3JXdkRTL0VIUVlPb0J3NlI3bzZaMHEvb3k0VFNnMWNwZlMvSUNzYkNCSHZxaE1zVVZkUHpzbWhUL2NYMXFxRTNUT2tIOUp3T2ZhNVMrbjZRWTdnTFd5anM2MG5NN1ZwWE5WU25jb3JHYlJQbEN5S0c0ZzhzNlIrUkhaem5WVXJmRDNLTXQxNmdIMC9rZDYxcmtYaCsrSG1US01vaTJ0TmxhMGwvMFRBREJibFQralZ3RzdGSG1wZUNSOXFBSDJUR0ZTNlZiYVZsbnp2ZGFtN1h1clo5VDQrV2lOekJXMVROZjlvSmx2UnJtcFdnOUpOVCttdVk2R21hVXRnejZBZVpNYStUQWwwb3RiWk5xci81N2RGTG4yOHAzVkQ1dW94OFFySEZiRXBKQjZHNk1wTzFERmRrbWNpUjJOVXRma1Q2c1BDZm9weWMwb2VsaUpDM2ZrSThMLzhnRlQwOExaUlBta1JQeU1CeWdYdzNIRzJsNFgwVk5FZkdseTVXNnF4RExoVEZ1MGcrMVVxZ2ZFM3hzeEJLRlhDRitKNGZ3TDZwa0htbzFNKzRXbk1mdE1IMzFQcEUyQ245b0F0TjA3NUpXdjB3YSsyV0tPc2I4SVFNN090azcxNXhUcFlIK3NpdmRjamxYOUU1TVpLVGZCRzIybjd5aTYzcXAvOEQrdXFFZHhCR3lmUG9lMEhidTFGelhHSFF6RStTUEV2eDI1by8ySERZRlc3cFEwT0lNZGlENSt3a0Z6NGszUk55RUN3VE9LcXNqOW9Jcit0SUd1b0w3RFBrVTREaTVwQ1E3N1E0SE5acHRPUGdFWHZ2QVViSlM5RDN0aENsbWpvdURDczUzOHZ2V3RjQzdMa1A4NjZGc2J2cHRxb2lhSUhCdWRvZ2ZqdVNXcFdla0lPZ1E3WCtjbEVtdjNHdGF5MjU1UVU5SysrN3E5SS81WTFIS1hrbWZYZmtJcTRtandzTHZWd056MHc2Vy9xd3lTN1FxTlMxWjlXWUZ0NkdadW1qUFFpZ2RiYzFJcStJSDJTUSs0dVVmYThnazkrNDFyWE5EUkpZSWdWQ1JmcHZpSzVCS1VVdXZTM28zNmxEa2poZnk2YUlNS3NQbHRBZHBjSTBRWFpsWk0rZzdNenlsVnBQeUoxWW85NHN5T1RYcjNWVlEzN0huWHBIWEVkSzZWOXU4WjdES1hrdXZFRjdDR0lsZVd3UWxIQ2NieXQrWk4wUCt0NXJTeEJCczRSbG1XQzVvVml5WStGaG1YNlFsL201ZEY5TUxZenBsYVhwMTdxV3BWSFhFVHFONnNiNFVTeEJuRktCdmFRZDJTZ1pZNExOWk1RZ2loK1QvcjZseGNmd2pyT282amUya09GVzYrT0o1WndFZnBBUHVkbFVDUjg2V1Y1aGhuNnRhMXZ1enUxRFA1M0VRQlpKQ0JIb05rVm40cFFLOEczZHQxSnkzRUdRRGF0aVdYUExZbnA3M1FlajM5ZW5oRHY4OEpnZEgrS2VveHVua3VNSHVTSjY4TE1LaitzTDZ0ZTY2cklmNklRL2ozRXRqbW9mKzdzSGo3N1NVbURpbEFwQlk0cGZDY0NJTzZVcytuek5VZmdoMG9mRnhSU2tVZ0FQRHFGWnB1cHZ6TER4N2drWkIzVnRxWW9MQnhqNHNnUkIyS3poM2JTSW5BTGlsRW96UXNkZWpFSmlCVzhRWm9CVnd4TXJDOVA4NEc2ZDI0VGpVNDZnV2FicTcvSmRodkZGMFZ4UHlDaVBhMHZVcjNXQnFmZC9Ba29vdkc5RStnNUtVVGdBeVJ6SVdNb1FISURzQUNtbStESHBCOFIvaEZGWDFuUVVOL2t1UTBxWUtwa3ZaTFhzdFlmMWExMkt0cWRia255U0lOSjNVTXIyUUMvZmxyR1VJVmlWNmRLREtYNVUrblYvb3orZ3F0L1E5QXZTMmtrSlZKTDVRcFlsQ3hEU3IzWFJMMW9Jajc0SGtSZ2hJbjBIcFd3UkVKekpXTW9RYUJUWUIwVVZQeXI5M2hTV0pWWDl4cEh1cXIyN2tCSndFUGhDVHMzNEtnaTNOYWNjakdqcFJEVWgwbUlZRU9rN0tDWGtUWDk3UEtETEJTaGhmQ29pVmg4NC9JaEZJakdnb1p2UUxFTXRyUm1qQVMzblNQU0Y3R0J6UGNrTnJmdW9USVZKMUlkSW02RnlTQitobEkzb2NzVWhrMUtFMkI1RGN3ZWp4S1MvenhGaUJWeHBkV2dYYUJqbHFTVTZUa2xLSC9TRW5KNXgxcFJ0bTZIK2Y5Zmh0RnJxVWlyOUxWWUNrYjZEVWxZd01OV3J6Qm9UR3NMZ3EvSnRCcDBPa3o0WTNHYzZWWXJZODlDdVVVc2pmRTJQYW5tVElwNlFKN0hMTGIreVk3R3U2TE1BZnBvaUU1b1FhYkVTaVBRZGxMS0NqaHhHTW5GaXFBTWFBMWY4NkxvUHVzcmZ0SVNWbWlqKzZrUk1Fd2c4SVUvZ2xsLzJvV0hxUWszbXRhNkdzbi9TZzA2S3dTRFNwN2V2eFU2THBKVGdRM0ZZQzJuaEx2dzZHMzZlSGI0TlZ0THVBd2plRDVtUDNXQ1I4Qll2TndCVjNqemdNZTJOelgzd1BNNDFvbFNSRHBIM0NKd0Y4b0ljZk9LblFxZy9lZjdjV1gvV0dkWElkbXZOYTEyVlYvOVpWRnNIQlJsSE1PbmpsS0l3blBBcGE2dG9MNVYrOHNUU2p5TkMrbDFDL2wyelF3VkRkTzZEVy9sWVVxUU5JYXJmTHBvWDVDL3c5ck8zWm5YWklESk0yWkFHbmVCcVh1c1NHUkNBOWlkK01KUCtsMS8rMXMrMjFYd1pscFFpRFZZR1pUODFkVmZ1RS9JcVB3Z1J2T0lBTnZkaEtDbTFHQVdjVWJwcVRUelV6UW55RDJ2QzU4clZDVFc3akE1ZnhoV1dBN2UxUzNkNjJmeUUrdytqb05hZ3NDOGZLbVZGVUtFVWFUQXI1WkZCY0grWGRlWm85NlBCMnU0dTVUVGEvVlZLMjZOaFJSUmd4cm0yQ0RIcFE4MktoaEdWVHdvMG9CYXhyZUVnemdjeU8yU0Mydm5qR09rT1RETWsweTNPTTdPOGNhMUx6YVpBZCtJRWtINWo5RE4vVWZzTmNuR2lraVJoaFZMa3dvcXM2V1RxUzNKMlhSa01hbjF5OFZWUkN1NENjajlEcGlXaHJtcElKR213dnRpcm1WWFNTcUJqYlBMcFlBNlFhME9vZUhTZlZuLzVHanlQeml4c09TWDBvY3BqZzdkeHJVdkxwVjIwRjZjc2pqNXpjVWFERGI0V3hPbkpYNFZTcElOSGVDQWlFR0I3TE1rOFhRTE9pVmFoL3cxTXRVVmhJTG1td3dCeklzVGlwTlkxTWN4VS8va2tzaHdnSDBMTGZ4cjJCK3ZXWnZNa01HYis3MzdKOVh6UkpLVnhxcDc1NUJQNXhyVXVrVTRETUZyNEZoaWM3OGZqQnZTSE9ZQjBTc0VCSnM2NWlOQUFyVDdaVUtWYVNOa3BVdW1neDdWQms3Q28zdjMwbDZIUTUzL2tiaXRKU1Y3NkQ2ajF2REd4QmpDYnJEU0FLRnZJOUxkRUR5a3NhT1lNbTh2QWdQMHlnZUpESGxhRDBmakRKeDE3d09uWHV2UVNrU1JmRkJNUzllSVZTc0VDOUlFK1Rob0VuamJMQjMwdDlmdFFXNDVnak1ZMGdoRUxkR2tKOWhneWk4UUkxUXRNaUZIdGcxYWtsV3RJcW13Z3c5VC8wN2lHZ2V3QXJjcTBFYWE5S0R6a3VXVXpxVVlQbTdaVzNaYyt1MW1FNmowK2loYkZrZWkrV0Ewa3ZVb3BVamZOZlpnaml2TTB6bzhnZURzTzFyaFhtWlRFcDJTWDdENzdBRFlKZHMzc3VsRmMxRDgrd0JSaEFzWk5tVG5rU0tnOEdINUpCN2lySDV2ekN1MU85TUZNTTloQUE4a0pmWnR3MXE5MWFkVTlyK3o1eWg5VHc3cHN1VmdxcFdBQlBhZjNMclhua3BVSERrYUVUU2pWU2x6MGpsK25kS2IwbVhxQW9DM0FPZ0paUXdaYjZEeXB5ckhDT1lETW5OeTRSVy9Ca1piT3FHTU9CNWtOL1hyT1k5VmY1eUdZTkZZUmxaTFR3ZDZNMEJ4eEd0dmxpVzA5R0VMQzQ5cTBSNVBna1NMUW1GTDZNUGNtdTRwWlErN0xFUWNUUUhHSVV6UjBKcEwxaXhhNzBIaW1jekVWcWN5RmhRV0syRTlJeUphZWlsTmEwcWViUjhuSUFadEFXSlROaWRzdWVtMUdES1RmTnBKU1JhSDN6eVlUWmdzWkxEVzV5U0NOcXNrd1pxWllnMnY2ZExFNzFqaXR1Q2ZlUFlKL0M3V2piTTNFdkhES3JtVWc5S0Q2V0ZSTkdrb0dVVVJPTkVpZWtkNjAwZzhOOHhHdEY3aG5DQm0yUUE1RU5ZclBLOUx3UUJWUDlrNkZvYnlqRlZwVzRHZ1o5RnJYWmN0SVl0R0JwYkp3U2x2Nis3UXIyYW8rSkJFRTJVQmNtYzVxRThoNmZCU0psSFNCZTA2anE2VXd5Qll5Y05zVHpNWFNKMUljZ1hVblVrY0JWM0xIVkRjM0RNdE1Gb1NsK1g5a1RBazFUZGdPeXI2bFdwa045UmhZVmNqb0NLVFAxcjFsOTlxalZPb09EcWFVdm5PUGM2QmU4Y3NXY2tNZDZhbm52dXRuNnU0K2NlU0FSTjdSc3JybUdpNXkrNjdkQ09EeGxxQ2lBUWVsTFgzbW90S0ZEOHg4MnExTTllN1BhUHlBOUU4b0NzOW5XVnEwZWtsWUhWc3lKVlBJMnE0MDJCM3FGcWVzMGdvMTlCMXpLejkxd2o0M3UzaUpodXVBRVRxQktXWk9LTjlkMktlV01XWk1vSlJOYSs0SEVZaWNPZ3o3NUUxcVRiT054SUdySHJXT01lSEJkTkx2R1hkN1JBMndOb3N3QkxLRURFNmVkSmFoZzJWRXJkRUtoN09aeFpLZjVmTHAxN29rWVhCb0tBbVp0UTF5azdIQVNkbTBwUStTWW5wNkFPMEpJWGdDZkVLbjlsRXJjWWVCNTVZNzE1VmovWUwyYjFvSjZRMWQ1d0g3ekNDRHZqc1FnR0N6bXk2Q2t4OVFFZzhuVTZXaG9INzJua0pvWE91U09lQ2JxSFF5Zy82T1d0T05Uc3ErTGYxOTJwWEhkRUtkQklNNHVEYmRScTBFQkh5MlpDeHR5Rnp4NUszT0k5ME95Ukx5cHJyL0JScy9PNm5RZ3NiWVNrVTRrY2gwK2N4clhZTEJQWGtFUjlOK2IvZERJdXNJeE5ZV3NjQ2dsQmw5ZmFEUkRIb1JGSlo1WnViVGJnV3pELzR0bml3eVRhaW5vVW5Kb2FJM0x3aFd4R0xXMUpmakxDRkRqNXdJZ0xEbEFmTWd4Yk9zTDdRcFNqaEpRbDNmbU5lNlJMbmhhRXVFSVJBcGt0d0dzU21aQnFVc0JXMDExUWNkZkRDMW1KbFB1eFVzMEtPVStrL3lOVUs5YWFUL3ZLbE0xeTg1MjQ0K0piT0VERkI1TGJUaGFYYWJnUDRHMFkxc3ljSTcxTkV0VGRlMUx1UGZGTklGWTRmWFJhWGY0aEdZdS94akR5SXBDWFJ0NlRNYjZnS01QcGowMUpxR0NkY3puVm5KMm1TSXgzc3FHcHpFVG8xVXI0NW1MNG9lRG8wcEdRSE9qQ0EzMUZWdW9BNEZHNkZNT1hKb3g0cnJlUDlMNlBrK1pRZ1RVblg1QnNwZ2xQWEJIWTZMVmhMOUp4cWd4cUp3VDBDcVNpbURNaWxGWHpCS0hpcFJGbXhDV1hMU1l4MGNRZkRNTXZvMGI5c3Nqc1ViS2hxTUFFbGJzS3pvSmQ0cllHUHBHcXNKTURPQ1hGZG5jYVJibHdqS0pLbUord1pnYnprZnE5OFRWdnRpZTUwbE9MWThWdVVlTDV2bWNDSkMzdWI0K3FySFoxSnlJbmhEVmFkS2xBVTNLZURqa0MxL1RRamV1a21FeW1VRW9HaGJacUh4OGM0VTBtL29sVUlGUjl6NkFCdXJyVldZSWVRSVZqMyt3Q2dUUFJxc1JuK3lCUmxmaTM3dEd6eGZ2bzJsaUdld25Ram9RdXk1eFltTXQrN3l1YTUxTlM5YlNia2FzNFpvS2JZeFIxT2I2bTZQU1prVW95L290dHRLbEFYQm1ZYUZQMWFBTURySW14dUdXak84YmJNOEVxLzdHMFhLa09VTUIxd1VsbzJWSWVTaDBsaFlUSVdNcXRHM3FFWitqanlLRE1YekQ3Uy82TVB2V0hHODhQWTczMmNGNlpXcVBjSENjYTFyVGU3eHJyRlpRaTIwVTE2cXArejBXcFNjQ040Z2ZkRStuZ3dqbmo1c290RnVmV2RiMmhPTXh2QzJlYmt4Yi9vektzOEgrVjVTUkhkZVZrS0dEdjRjU0k0WlFxNHJuZ2FNL1RhdlpPTmRXSkZQLzJDMEJ6OTEwQTJTQVFlRVNKK1g5bmhURS9aWTBOdnJIOHZxeXY1Y1pXaGdvUDZTS0ZSWDlJQkZLYWlDQUphTGN5VWFCNGVzT1k5cGhFSVpkZVNvWWdTR3R4MFhHdnMzVkJmVHNaUThVLzljQlV0ZFk1NEhuUnJ4bzBpZi9kby84WlJtaE54UWxIMURnZDAvcGpkYkkzcXMwbGZtSmtWMjkrNGZFdkpEZCs4eWxMUC9nZUhOK3A1eHd2L3Zla1dac3pBczRha1FwWHJnY001SzAvUmJTUWdzUTdtbXhXbmF6aFluNjdQZXZjMmk4VWhvOHl6Mk5yeHRMUStQNkdZc1RxT25JbzdPVXF5Q3FuZnZEc2pyZC9XTG85bEJWajR2QnhybFJZR3F2Z1Z1WFR3YWx1UUttMlJiUzVFb05rV2dvMW9iVGRURU9sUXVtKzdINjZIeTNVeXFDVStTaWhGS0NRazArNDZNSlNGb0pUeGJMTmFrUWFVdW11Z3djUmc5L2tkWmgzQUNNN1dLSE96M2hLNjNBV1FIZVorSUdRSlRvODJCMVVEVmJpYkxwSG5OTFZOMzMzRDU2bExGY3lod1ZUZzZscEZCYk96MXprVVNyQUpjWWhpbG9LTjNsb1dsS0ZMcHpnRmZxRm0zUGhGWkxHQjYyM291RW9QQmFMQkFpTFNrRGRzWUJaWFBsWmdOSUR2SXlrZXJHd3JxVlJnVCt5VDJzZGN0Kzg1L0xkUmFxMGYyVmZ0UmprV0ZhR1AwMi8vSm5vOS8vSnMvbHl3VCs3S0hRV2JjOWNjb0pTTndTVGloVEdUM29oUHZpblhyanN5REVNaHlUMHVZR0lGYXFNSG04ZFRGeG80bzFCUHVDUUI0S0pMalFIYVFBV3NyNWdrelExYXpCQTNvSmlZQkhIMG1KREVoZGJIc1h1UjUzbS9WNVZ0RE82NU9wNmQ0emxrTmkxSlBEU1R3dXFDaWdaaFNBc0puSlMyekV4TUJnZUpLc0RUb2xYYWNtZll2VE52SGFXa1ozYUlGbEgyaFBSRUdBTmd5MldVSHVjNWxybGdBTU84UGdxQ1h0TUt1MzE2S1RId2VjV3JYN2lYMDZMVXVkcXhCNVJJL3h6RnR4RzBVTUh2NTNNRXBKWllRVXkxZFlIdWEwTlFoM0pMMEVQSTNjY0M2dUtXeG1CUVppRzNNaFBLRk83U2xaM0VNQTVBZDVPZVQ2YlpJMUdPVXc0Y0JPQmJuREFEb3c1TVlDZitiMmVrK1pVaWRsa1NpWUdoeU9mQ3E0TjJqZlNFZlFFYWZJOTVuaDNLUzl5UVZEU1dVTVQzOVd6ZWNWNVpEdHczYkxNUnNFRzVDUUFycWJTZVU3aGVZVDBnajNQVGdVZiszZkw3NUx6OFdVZXhpeG1QN0RkbEJyb1ZNNnBVaCthQ09FRmFYdUJVd28wNjBMR1FwMHZJOUk2RlVsZVloTitYRWJyREhIY0wrbnNUc1Y4aEhXYUFpM1dzSFpVeFAvdzY0ZVNlVDJIZTdoY1RCaEloZENrWkF0Vkw4SEtnRkpvU0J4OWtFRWkxN20xZGl2RnN4RldaakFiQ3NJSCtHdk5NT1hoaVNQOU13c1NPdkU1WUVJNjJ0NWRsTGdaYnRHMm5JTG0rd2JWeWRBYlVMMUtlZFpIZkoreUNrL2hjTEY2WGdCeHBUaEdVZ2xGWU10T3hjWmdTb3Q2M2tvOEZOczd0UUtwSG9QQnRKS0ZBYkswUEl6NUZSUk1qM0NUeEpBQlIrSElMbXRMUk1XTm0wK0l5UnZ0d2V3YTUxVVRXblByeTJXcDM4NG4vOVZwMUluZVdpNUNYb01VOWJSRVRnSDVWdnZOKzVOQWo4VFp5dTN6Yi9wUC9IMThCc3lDd2gvLzIzUjQrK0lUcURCOFJIVmF6bUxFbTl3NGxuZVlOTWtrMWo1N1V1bFAzYWtBMktENkdaYUNJb2h6MDB3NTFvZTl0dTJqaG5nQmtYa3dxNTh5TlBHNUxlU3p4MnMwdWJzMG5laVVsN1puT1VIYUswek1iUlNaZHZsYnRlNDhobFh1M1YreGVQdmlyakUwT3dYdDZlU0tRUlRHSGlxQ2NuR3ErcEltQjlQZlFyT0FWa3BJSXVlUktuUnFvbFJKUDZjcUZFeW5rblNaZHZ5VmM0bm5XQmUzSHVWMlFLRTJlYXI4QzdRWUVsdStYT3hYS21nSXl3NlNYYm9qQ1dkdlJzZENuU1NYeGlVRUdpM1k3SWlVOUJmOW9RVzBUSHNjRzg3WEgwYkhQd2ZEeUZWNjYvamVVUEdRTTBUTTRad1BvemRFK3lGRmwySXNZbFRWcklYYjVCcHRZa1VyVzZtWTFrMjBtWXQyMVRxU2t3OVl6dVVuTzl3NG1OdGJDWHVxUS9aSXcxWHlOdldEWnMzTDdWeEN6QXl2cWxOYmpMTitTYmRuN2wwMU4zeGJaZ3lqS1l0ejIrS0d6MnRNWlRlT1Z1eHR1VHZkUFVwZndoSTZ6aEFPQ01KWXNkNEgvOThaZ01Wczh0Q08yL0dVZG4vOXRQWEw0cXR6Um1aK25nNFAwL3VWQnYyOEU4VHQ3TTFpSGFaalpXRmZOVUhURDhJU09NUU9HZnNlUXdNY1hFbGgvb05wclJTRDhjR1IvM244M0U1VnRIRG1EZHBhYkpBUU56eTZ1Y3Y0a2pKb3RYUFU3aUpyTlVGajMwckQ5a3BITHd3MjdUNUZXK083ck5yVDg0RVlEMGxXd3VkdEVxUUZteXNiM2g3ZHJTMGo2UDJMMU9XOGpmMi9iZkhocUxwY0ZNN3U3QldDSXQweCt5Vmp5T3dJUmtWeUdhL0VMbGdOOWFXR2ZqNGVodHBOQjBTZHpsdzY5MVRjZlRVY3BUTnY3ZU5ud0RNRE9kU05zd29ENXF6Y01YbWdJeTBsZXd3MGR0c0p0aUdZUFZPVGJLS25ScnJtTDlMM3FFUjhvazd2STFNN1dYME1xM3piMExsRW9rVHVWdHQwVHhEQUxiMVBONjVvMzBuUHdoWTd4NzVQWGg1NEphWGZndnNJdCtHUlAyWVBFY3ZJc1Ztakl0akYyK2VzSi9TaTVwaW0zNEdmMyszdmFHdVRHYUJ0VVltbFd3K3RhRkRNWVE4aXgveUx5aytoNlNuZCtobC9rL3lCTnI3LytWQjNGNG1iejEvdEVKVDgvZ25iaDhKTXNSaGNNQ2Y2V0Y1NkNwL3Q1MlpoODE0WGc2NU9Vd1Bzdm1LZVBmL3BBeGZ2VEt4UmVpVDJxblB5OGxoRDhhZmZJTUt6TnRXcGQ5MkJpLzFqVXRUMGU1dXRleTdPOXQxN1Blcks3ODljVVBPTnFDSnZ0RFJ0aUF1NzluSmYrOGxaSk53aVp6K2RCclhkbFVJTG40L1Q3YjI5c0czZEtXbFYxSHlCc3lCaExjZmFzWk5RK3ZFK1BwVEl0ZHZrMnZhZWxrTmo3RDc0TmMzdDcyTWo4WUhZOGl4MXh2eUJpV0RXdC9GK3ovN0p3OHZjclk1Y091ZGVsMEdjU3FaTlJLejhiYjJ6NFNQOEpJWDBtMmxONlFzZW8zRWR0MTRURkdtVUZhN1BJMXdKSE0vMm42YUJodmI3dmo0Wm5uMDFadnlCZ01jYnF2WkhZejNjZFFHQWNSZGZuQ3ZCWVd0U2JZV1BRNG4vRDF0aXQrRHFVR0xLT0lMMlMwV242NnIyWU9XMm9zeXpCMStTclozaGx4d2F1RzRqcXNpMFNtKzNyYlMrUWpzdkQxaEh3aG95Z2pld0Ziek04ZHB5NmY1N1V1RkhXYXhMN1Azb21udDAzM3dhNzc4WVNNd0sxK2xwQS9WbjRqelVnR3R4REtiSktveTVmM3RTNk9kTkZIOWZ0NTJ4WGxVeGk4dWl0LyswSEc0TUU2RE0rQmxwWGhvWjdHbDBhb3k5ZS9Lb05wbU51R3N2TnpjMWFEQzUwUTdiNzB2N3ZHZWV2NkIvS0RERmNHU0pqM3RTNE9mOG5INnVlRlVyMGJ1WTJyVk5XL1Y0bW95M2RsNW5JMS9tZkwyZmZWVFhvYVd6NytQUkNCOUovNEY1dXV4R0ZPdGxtWC83QjBPbGhQYjZrR1NEK3Z2U1NyVjJ1aDYydWVGcWxQUWszNThJMVB1WklXWEQ3RHpNaXpUdzV6MlZXOGQ5bktFL1FjOHdhWER6bFR6S3ZCMVZmYU9iQStQTTJCNlZQQmtycDhyYWVpcFdVajdSNEFsNi8wbHV4dWVVcFN3T1h6dUxuNGxIVEswOVBNS1BkZmNqdzlmZm5lYTJtajNDbDU3d2t0TThSZG41TzN6R290R1JXakJ6WTlUdDJMZ1hnT1VQdy90a3VNY1dYNDFYMEFBQUFBU1VWT1JLNUNZSUk9Igp9Cg=="/>
    </extobj>
    <extobj name="334E55B0-647D-440b-865C-3EC943EB4CBC-2">
      <extobjdata type="334E55B0-647D-440b-865C-3EC943EB4CBC" data="ewoJIkltZ1NldHRpbmdKc29uIiA6ICJ7XCJkcGlcIjpcIjYwMFwiLFwiZm9ybWF0XCI6XCJQTkdcIixcInRyYW5zcGFyZW50XCI6dHJ1ZSxcImF1dG9cIjpmYWxzZX0iLAoJIkxhdGV4IiA6ICJYRnNnYTE5MFBWeHRhVzVjYkdWbWRDZ3hMRnhtY21GamV6TXdYQ1Y5ZTF4b1lYUjdYSE5wWjIxaGZWOTdjQ3gwZlgxY2NtbG5hSFFwSUZ4ZCIsCgkiTGF0ZXhJbWdCYXNlNjQiIDogImlWQk9SdzBLR2dvQUFBQU5TVWhFVWdBQUFxOEFBQURKQkFNQUFBRC9mY2JBQUFBQU1GQk1WRVgvLy84QUFBQUFBQUFBQUFBQUFBQUFBQUFBQUFBQUFBQUFBQUFBQUFBQUFBQUFBQUFBQUFBQUFBQUFBQUFBQUFBdjNhQjdBQUFBRDNSU1RsTUFFREpFWm5hSnE3dk43NWtpVk4yVEJvUCtBQUFBQ1hCSVdYTUFBQTdFQUFBT3hBR1ZLdzRiQUFBYm1rbEVRVlI0QWUxZGU0eHJ4MWsvM3IyUHZYZDM3MjZxUGxDb3NrYXRvQTFTdllqd1VwSHM4ZzlTa2ZEbW42aWdxamFvS0JJcDhRSkNwSkRFQ3lnSktnOXZrU2drb0hnTDZTTlhjTTgyUWlMMFN0aENrVWdDMGk0dmlWQWhPd0toTmtMeEpRM0p2VTZ1aDk4OHo4eDUrdmlNN1hNdXRWWjc1dkhOTjkvOHpuZSsrZWFiOGJIakZQeHp4aDB1ZXdTalAxKzJCUFBvdjBVTzVzRTJEYzhPMlV0RFhnemFjK1RHbkFYOWdkSFRkL3U3MlB6R3RsWjBnYnloNVc2UlpJc2N6bmNrSHlKamQ3enI2Nk5DYWxwSmFVU090ZXd0a1Z3bk4zVGRzVCttcytTTjdZMmVUeU0zWEZMV3U3cWR2S1ZuYjRWMGo3dzgzMkcwQ0xSMWxYelc2T1VPSDVBQWV0OGdLSHhtbll6N2N4M0VXZksvbEg5MVhOYTZBWTVETFl0a3hZZTBXVnZBWElPOE5sK3BUemlFQWwvUjE0Q1lsb0NxTkduT1Y1REZjdDhrNUhTK1BYWkZCeVB5bE9yb2VSTDBBZ2JrZFZWL0N5U3EvRUdkWlNTbHJ6M3BYbm4wSDN4TjMvbnM2T2xIeWw0aDdoelBETjRrLzlubnllOGl4RzhKSE9mYzNHK3hKOVQ4VXh0azVqbGp0UU40OFBsRlE4b1BFRExCWDAwVnJwRTNlZnJpYTM5TEpqLzN3OXZ2dU90WHlCZEdma3NBbWc1NVc3VXFmT0oyTXBseERCdGQ4cmwvL1B2djZ4THlleHFIOTVESlI1elNTK1JHV1JhZXlFZGkvUTNuWGFER1ovd1FQREJaNzEwaHkzejlQcStyK2FjNk0wOWRkZkpUVkx4TmwyaXJVVXoyZTdUMDN6eDcyU0RmcENXWW5YQUxTLy95d09PUGZiSU1GMkRJeW94L0syVDVTMnREb0F3WjJMWGFiTTNQa3Evd2hpZEU4NVB1SkRkWnFRUVltUTc1SDlFRDhmUXh6Qkk0VGoxTWowWGpnbDJxMGdDbWxudkFFWVRLNHRsbVdnb1dKYUd3MUN1VjlZUmNFOHhIdTdLWGMrRUlyaEc2bExnVlBnQmlPTnM0U3E0RTB4a1IrYkE3RjFRNDU2ejBVekU3U21EYk5kbFhxQ1Z3SE5CK1hwSVUrM3BoWmhVNVM4YS9JTWJlSXVTNlNDcDc2aml1aU96QWNCNkoycDUyTDhxaXpMelVGU2V6dkhDNXhzeVc0QklNZ0hoc0swajIrZEMxQjZBaGJBRVdWRU9CUzZzcEV1ZWtveUR5NmdKYlVGT1pBaWN5UEhvN1FIUEloMDZUTlpiRVZLaVU4b1NNV1JsTThDR25jeHJISWxGUlJhSkFYbUNhYmdsWEZwYWdKc2VVOGtyVlZNejJXMGcyV2ZPTDByQWlCNVZtR2gybXNTT3A0WUZPNjhwSUI2cUtWTkNZZlJnK1lMa3VWdVhxRlNDc2l5VWRiT3hRWUNKdGJLUWxZTGVqSnFnTGZJRWxtUG5CbzJwNnhNZStvelMycmQwb3VBWFhhRDA2RVhTTzlBb2lMUUVMY1Vtdmx6TXY1SDlZZ3Vhc2drTWhwVDJseWx0amZJZzJGOEsyOG1DVjUyNTFtVzF3NEovMUk3dnRhQ3dpaWZKZU1SRHp5MHh5dHBXUFh3V3daY29EV0hyYkt6QUJQUGpTbGJiWUVTdXZHRXZnT0NmSzJaaEpxbncwY3IwRmZYcUJOdjVwV3pScUlLckNrbkFLdk5CS1NaYTJaRFJpaFZOaFVYWVkzUjJlaEdGMGJURnFnTU9SRFVrN0VrK1lGcllKdzVsQ2p4bjBWWG43em9ud1lad2xvSXZpd29lN2Q2UnB6SWd1RU9RVERpYTBteDR2RkRPYmVrbmFoMHM4eXJXdW8rK1J5MVFqaTMyU1RKWjdiZHNaQWczQ05ObElZQjlGaEpCbVhWR014UytyZFNwSDdCcHJDUndIdm5DVDB4ZjFQMllYS3c4ZFZnTGlJRTJWU0hOS01Sbkp2UWxYckgyN2V3eXFXRXZnT0hEVEN1NXdZVjEreEVhYThSL2cvRFBPb203NHhRRDJnSlVQK0hXVEsrNTYwdTEwaSs1d1ZaUWptZ2xaaExUSGZjNmg0UWQyeU1yUGM4djdJcmUvMVRpZmdOSzNTSXlieXhqbS9GOUgycjVzY3NJUy9MZmcwUE1EZThRck9oVDVqZEV4eXlWWUFzZlpJY1UreFFVVHEvbEdISUVaL3ErTzVLVHZPRzBEMks1YWNxMFJISDc5NkhYR1BkRVMwQ0JEb1kzc2VUWHVHZUNVVGQ3Ny9nNjVYcGE1VGdTd1RvTjgrVE5pcnE4bTdoY2l1T0N0M3lUckFsMVBzajl4YXk3QjVrRmZEVG9Bck5TODBpZkkrRUZPNWlZYlVMQmhLd3ZGdDFpSm5oWTduVkh5TzRBcklmL1ZsODJCaUlRU1JWMDl0eUdnVXBaZzVkNC91RnUyODEycmRtWlZIOWVGWlhGYXhVSmZwZThja2V1N2dwRUJwUW1zN0VwYWdoWFFSczFSbUE2UEpIM3hybWZzekYzTW9YOVRxR01BMkxjRHVMamlLVytRWnpZK091a0g2bWtCbGdqYXlqaVVKTWVGVUF2dHNjMGlhSVdRUCtIdEFhd0dwUWt6cDVDV1lKMnRmZHZoZTkySWk0bWxYQmF4bHRXMlNoS241eWxGbzdFQ2Jnd2lKeS9GU1ZxQ0ZqdlplWjU3WUtwV0pzQ25MTk9GdTBKNGFScXp5ZzVXUFBhU0NDeGlnc3hxckJJTzZhZ1cybmM5MHZ5R2t1ZXFVSVdoTFVoVlFVaWI0V1VDT3dvNnltSnhpeDFjZm9oY3hMdjhNbXdWZVBiQzNPVUYrLzBEUzVsSGZKdWJsYlpoWTBPQWxaYWdRWWFzajdYd3RSL1dMb1dkdlFDR3RXOGVZQmJudHFCbk1BMENXM0s1WmlOVXU4ZUFwUWM3UXo0NGloQmhmVU9JYzFaMFl2RnBROVNCVCtNTlA3QkRjOVRTRW1DNkUvYmQ3WnNVSXVjV2QrM1ZzamsvQUZpMlVLMzdnVDAwWVJzSVJ3U1BPclBKanROcm1oUWkxeU9rRmxxUi84S1J6UzlTZ0JrRG9pcmRBelorVis0Z1NEU1VKYmlvQXBhREExbHBYQWZlZVMralBQOFpSSkRFVjFsc3lOb0Z0MzB3cWhpVERncWJCbmRwQ1hCMlFDNEFUbzRNQ3BuWnNyWjZrUndYZGNWOGszRjYrTURsMzFEQ2RvQWhmZXFCaDdhTGhzSlRSVUlUQS9uOW5JSHFmQ3Q4OVllcFZXTmtNTWw1SnJQa21MZzlmV3dqTThTSXdkWHpuK0FwbXhGQ1pRa1FuaFVuREp4TDJoSllneXo3ZmRlWUxUUzVZM2ljTTNSOU8yQlQvaHJWMkNHWUdDZGhxSzlnTUZhV0FMdGFiNG1hQzRxSFFScG9hOVRtT1ZQblNNd3VJaGg0SzR3dU1nZmdCVGRLcWlMTFNFdkt1MUdXd09tcHBtdmFPUVJkR05kdlJ2VEtQS2VoWTgxTThyV0FwYkxTSTJTT3djNElTK0Z4OXV3Q3JaU3JBemhaQ3RnTEVTdXN0azF2TU5OQVV6WUdFcnNwbTVqa0RYQ1F6ek05ODhMbnFhN3lvOWpCWThPQWVwWkFNd1dYd2swQnZ2REZiSXZaWndGeTFJWnRaNUp6QUE1UzIrZzB4YzFwUTJPTGdPK2gzb1ZuQ1pJbkw3b0ZIdTR2NkJ4em1NWmpHcjVLbjFyV0UyQjVJS2hwUUphYkJlQnhLbGxzbWFzbnpSTEE3NUpXSk1MZG9sOWdrTGROOGl2RUZYNlJOOHZNSkRGR3Jpd0JuQUhoSWNqdkhWQ1dWVTE3a1YzVHpzdWRLR0FqRmdnT0ZyMksvVXp5TGFrUnRDbWpBMzZHUEtoc0NjNEhDdGNmQzdwcmNraHRjKzRhYUZ1SGlVdGF1dTJWOFpHU1lpejJDbTJLbURXbWxtUGtNUmdBV0lGeVM5MHdHTjZoeGt5M0JGUWZCWDJ2cWRGb3lleVRnTVpzZ2NtV3Bsa3pkbHNabDJYTGtSZDd1VVJFeEpXQ3R5c0pjTlV0QWZWM1JaMnJtR2kwTklsN2Rlb3JLa0syNDV1eFo1RDVEUGxUMFlwK2Y2WW0wamg2dU0rVFZkTVMxRFZMUU04azd6R3FpRUEzNm5DempnWFBJbDNjck9zRERMWk9mcDRQdWFYUDRCWGgrK05aMW9FcGFRNHVXcldFbVlqWW1nRkYyN01rNzdqcm5nZWVLTVpVUm9PR3B4eVYyZit2dXVRaDJ2cDV6RE5seFdiRjVZQU8xT0tLVlJtV2dCNkg1eFk2WWpNUlRlcktrWVZOd1NlakU2UGttMitDT3A3OXpGM0F5N3IrTS8vK01mQnFhcnplUThZZmQ1eVh5SGhYS3dST3V2N2lGVnZja1IzdDZVUjZ1cUxzTnZVNU1qc3hPdXM1cHFuamFZSDl1MkJSOEJtelY4TW9majhJRGNZaGJ3T3lrdDk1NnJFbjVyd1pwVkVza05oU2tZYlZlKzVGUDhicVdDZWNiL3FsU1ROTkIxZ2Z4SHFKZDRydkZDVHgzUGpSSjhuVGovUjlaTTk5Mm4zNlVVTmZUWitBa3ArUE8ySkVDZlFGQ1AwaXpSRXRYUGdIODNJc1VINkJvQTV4Tm12VituS3lhbG9DeU5PS09SUkh4Y1UzVHp4MUJyRDcvakVzSkYvRkE5bE0wZE9PRmtzTk5pdjFyQU5iRDl6MzFTNWtGbTVGVUFRV00vZXNGZVN0aFJITnZhd0hJWWNwZXFucURwSy9YZWtuNDJyOTFOUGx6LzEyZ0c3bDNqLzhWS0RRSzhCSkhiazZvNXRscE94VkxURFZnUlRYVXZSWGoxblJQa2VaM1V6QmJENmtkRTlOMmVtZTZRWFBwOGN3cmoxSWNSaFdFVkVHK3ZENzhMVm5SMkNWQjJDcHE3MG54Y2VoY1psYzdQVUVVdFJTZE5tTm1tVjdZUFRGRi9JQUxBMFdISXNoSVo1amJQS2tHR2xHVWhpa3VGayt3TjJOVXZDdnZ2cEhQMEkzc1pkdkNtaXdRRDZFV005NG9iVEFZT1phOE4yUG5hYmhEMjNZajZiUEI3QWQ3Nm1DTjNrdFd0d2MxVkQ3MVl5V0p4L0E5bFN3Z0M0V0RxTEZ6VkVOalNMdlJjdVREMkFiM3ZPL0V5dHU5RUFXWGtOak1ER21JeC9BRGp4TGoyUjU0U0ROMGlFMmxPSWt6UWV3VlMraTFiTVNNcG9GcVpSdGFIQ3JIOTBtSDhEQ2haUmZrbGlhR3h1TlVYZ05EUjJIMTdEU2ZBQzdvemJBNGNaS2lHT2t6a01Wa09OdkVRa1hKaC9BYnNsRElQU0hKeUtPem9YTHY3eFN1QytCYUpNbVRXNkFGWEZEV0s1aXVMRTBPdS9GT2pWRVJUSWZ3T0x1aThjSzhoeHkwZDc1aEh6clFWRHExQ1YvYzljOXp6NUpmL1p1ODYvZEs1L2I1ZTAvL01UNDZ6OHRXWlhlOTgvM1BmREtQc3NhMUkrV0pZbDVoZm1LQzJya0ExaElJU1lDaU50a0E4Q3ZEWTNpL0VSemxBazU2bk15ais2c1N5N2pFVDZsOUQrTzN4MGo5RDByN01OMzJ4aXdvZFNDekx0Z3dvMExMZVFEV0d3aGlJQnNWUVFRVjkybnRwMldyYzB2Q2RWRzk0dGxaM1BFRVBrMjhvemovSkJhNTRVQXExTjdnTW9VSkkzYnBzOEhzTlIxNlRPSlcwSjFXeEQ2M2QyNFowME9jSnJyeG4yZlJnODNuUmZmMmdZNXhuenNiTGhmb1MzVmkxYlAzdGNCQ2RQWUVPcVFUZ2J4L2tzK2dLWG5hM2FaOEYwK0k1d2ZseDJjV29oekZFUEdHbGYwQW9BdHVhZVVCQzdkTjUzYitVSEJIZGt4aXR0ZXVNcWtEZzIzMWVQam0va0FsaTRQNVppWkc5dDVtYjMzME51d2ljTnNxanJFVEc1ZUVKNWNHNDVTbC9WSFQ1MGR5ZllBZVYray9kU1NSTHNDMkxoRG5Ea0RWcml4N0tVUmtEek9BNGVLdmU5N296NTlEUUdSQkxDRFBaNnVFdktjV0liQStpcDkxUGVIVGVvUWRrNERKTUZlVkVrK2dLVzdpVFVxRTl4WWVtcStmWWgvcmZocDEzSG90NlFpUGlHYkVGQ3dLN1FMZkhZSStka2hTMUd6b0ZaNmNQcWt4bUpQUTZjV040UTNFZjhiOFV1Wm5BRUxjVERpZGVaNVEyUGp2WUpxQktvb0RwbjFYREtSR3JZRmlsT0JqM2IzMExrQzFxUStOaURsR2R6M3VEVmlmb0JsV29FaFl4QTlXRmg2akdOUzVtT0krSC9lalVUMlA0Sk5RRHdVcFhqbWxaRnh2ZldUQ2F4T2ZSQmtSeDhvWlVSQ3F2TUJMUFV6R2JCVnFrcnJrMjBtNlYyN0lRTFBYQVJnbTZJeG5ubmxnbzY4RmI4UFdJMzZNS1RYWGxHQVplT0FHbUJkd0JRMlpDeVppZ0NzdkZFQVZsb0ZwK3Nwcnc5WWpYb1kwbk1oZ0tVbk5wcFUrQzcwUnlwc3lHQ3lGQUhZYmRFZXdDcnJIUTJzUmowTTZiaGRCSTJsd0I1VDRmR01scnFmRFE1RERqSllNM1VKZ0pXMEFQYWFURWNES3lsQVBaUnA3UXBnMWQzUmltVXlIelpXQW92cjY0MlEwRVpEbVVRcGQvb3JqdkhLUmxNQnExTVBaVXZ0MnNrTTdCYlV5ZHBIazB4TDBxM2tmZVRwUHBKeWhMeDZWR2RYV1RoUWtpT0FQWkxwcnFmSXBvME5wWmF0Y0MwVXNCZ2FtZnhGWHhPZkpSRks4QmVsejlzR0ZuY2tveWxZa01ZZUFDdlIxZS80WUxzWTV2RDdhQkt6dG9FdGxNWldDZm1lN3g4UjhnVVRKdlVyd21aeHVseitnRTBuLzB6VTBzYTI2RE8vMGliRWRBenFzV3VjS1h1MERTeWt6UC9LaXdKN0RJQjROQmErZ1ZoN0NjemEzbHd6SllvaFpQOHZnWlh1bGdnMVZiUm9DSVZJZmJVMEJLK3BpMndEMnl1Q3hsSmdtK3luL2xqQUNGNkFQdUhpd0dRdEZMOVU4ZGc1QUp2LzZKWUFWa1JqSFZnR1BUaVBhRzAvRE5oMDhWamJ3R0kreUQrd0lyb0ZOM2JJRUJRbTRkdDNXZTY4dDJZeThLMUN6eU0rMXcxQ2xwa0RzQ3FTRSt3dEowZmxLYkExNXNiU0tZeUdERmhZdjlGMDhPMW84Um15R3YxZjJuaHM2RnFxNnkwKzBxMjhvTEg1QjFac3pWVEZlaFpHbFptQzdpNTlyWW40QklIVlFVNU8yOWJZUmxHQVBXVzdYTnNVSVpoY2FyNUtkQ0ZidXUyMkJubnR0dHRZQmEyYzlUTUhZUFdKd0M4VzFEOU9vZjNrYzhxTDdXOGFqYVVmS0REZFVqd2pEcDFaY1dQaHM5azFCWFZ6aG1XQ2EvOEN3SDc0c1YydGVrRkpHdFZDdDNMSEZEZ2ZvZWMxb1JGVzNGanJ3QTZrdE9FWStZSEZFTlYyY0hpTGVaVHlrekRDQXJDZlNUbEVOenRVYmRuUFh1K3hSTFovdGpXMm9tMmNoVWdHWUExTFVZWHVuSWJRemJlSW45M0NUYjNHK29HVHNJOUU2NWpsWUJqS0xKSHRuN1l6aTExYTNoRTRqanl2QU1VSHNnK1Qra2dXYTljVGJlTmNLNVpKeEh5Tnd3MXRBSHNvS3hkMjVhY05jWk41MXpoRnNVL25yajRUSU1xTlRTY2RlS3FnN3BiM3RUS1lIN1g2UUxFY2VoUzExaWVvUTd4bFJZQnFZOXRqaEk3MDVhUWluR3NDa0dMVWtLWEp1K2xTMVpHL3hXd2xHc3MySi9iRUlCcWV2YVBUSm00aSs2QllycVdvMGRlb0RZZ0VOYVJWczZFbzBpNHJIWEQ0aUZaQTg0WUthM1h6UytLNWdaQVY5Y3hYNmVRMStEenYwRUkwZHVYcXN5NEdOdjZ0cTMzbjc2NStCa255NWF2UE9CdXF1Q3lMdi9TcnUwNEV0Vy80a0huc0t4TFpkOS8zbDc5SnV5UGs2Nzk4OVpPaXNJNXMyUDBKWjJHckZOWU5yaFg2Rmd6UFFvYXo4aGlBaFdnc1hkbnh6NjVUbGNtYk5DWWhQald2ZUkrKzIwNThER3JmWVBsVDVpdGsyUjNabkY2bHVZQzFHNGRzazRhMXQxaTJ4U2FDcW5kTEcyUWlmemZNNlhrenpheGRicExMVjc3eCtKT3ZYTWJOcW80dnYvcjQ0NjllZGltd3NoakEwdUluWDcwTUN4QkI3ZXVjVHJpK0lwSGRHYU16L25uMXNnVFcrWW5KM2NJdkQyOUZTMzg5dW1xMm1oMW05TTVka1diTktkMVBmbjliOEJwUmc1dS9EM1VScFloVFNwY0U3Sm9WOTBjWHBoSmoyREZCSzd6MU5zdE8wMm12bkVxSWt0TGVpR2FkMk0yZWlFYXh4WU9ZaFRVc1hqbTI4WklxYWVCb04xWGZLd21URjNVNkxROFYwMWJreHB5VlF3V3BBSmlPbUFibmE5T1JDcXJOQkhlclE3NnFKcFpVaktPSld6SE84eVUrc2E3Vm9wc3ZwU2JoRFJzaE1xMUxMem1rRGtWcjVQWFNhTndQcjV5eHRLMnRNZjBzdHJoZjNXcjZLNWFkaDhZZXBKTGg0clZZOGpZc3l4cVo4b1dJc1p5OHlrNE1zQlZtSmVUNjFtdXo5RlJYYmlSTkswbmxNSTd5UERNRGJic3FPL0pXNllHKzY4eU5YVjlDekMwZ2lsa1E5NWlabENMWHE0VVdpOEwyWkJ1cGMzWlZGay9WZmxTblBSYWJyUTZqNnBkVzN0QkNPZE1JVVhManFNNlRYMlBWZFpzcVMrZUJ2YWhlR3pUa3RKSFNzNGxpWnJPOEd1UEtoUFVULzlDMXhYcDMwNmJLMHNYNWFaZ3N0S3hDaG81enB4RTBqaUpkYlBsSmpQTWRKc21KQ0NxRjFlR3J2VTFSZm1lQ1V4YmFQS0tRTG1MNkVYV3dPcThoSUJPcDBGSE41bCsrNVFVZnArcXNXNHNqZTcrczNMQTQxT2g0QnUydFRSNXc1YThGeU43emNFWGNNRTI0YWoxcFFUdUhNU0VDTjRsbXUvTHd4SDhTT1pwNGdUVlFoNlNvaWk1TlBjNFM2SVFXMDNpb0VwYlJGanV6eG9vYXNPbVpyZG9PQTB6VDlZNXZSM09hTnN1bm9jR0M4dFJpYlA3eDFLVDJDS3NwSFJkN1BXZmhSRGNjYTFrWXpMOXRJMlpGTy8vZVorNEI2OFhqbVJzdnBHRTdaa1c3RUFGbTY2U1hlN0hkM04vNlVPUUhlWC9RQ21Dc1FvSGR5ZnZVUUZlMDI2R2k1N3NRS3dTYksrM1NqNzBDSU1SbmNtcGg3RGgyRXJNK3NOREJuRmhnMDhpaSs3M2FrYUN5NjVFRm9iSHdzaWlnQllHbVpJRW56WjVDck1ESDBEL1hwaFFpam13clpaZ29qdGNpNitqY1lNMkV0WFJVa1c1YUdFa2xaY1RZUXBkMldFREphblk0T1M5UVhLKzQ5RDg3US9PUURiNzF0SnRITmpxMXdhTVhzL0dSamo5KzE1Tzh0ZXM0L3dwZ3krbWF4bEMzN1NoK1RBOXpxaHJ3SS8wV3VMOG9qd0pCeVE0czhPTXNjSmR3c3dyNDJiTGx5RUpoSjMwR0FFSm1rVWRYMGlLRUtGSEVRZE8wbkJaTmp6TkJkdlpSNEJFZkN1Rkg5andrdUlOcEl2R0xSaSttUHh6ZlNoUHFqdWJVOXZqVTdibHd1RjAzby92TWN3MzF0MnpJQjRmNGJjbm54SjRMQjFiOGUwZVNkM0d1WFR1ekE3N0dYcE9EaHQwdXkzVEdhOFBtUkpoUmxwVE42M2JDY2ozdDhRZXdwMU5Lc1oxQWg5cytMYXNFVGd1djNySGliOEdpZU1FY0FGdWJiaHlOaERpQUxVTTFuVFIycWJCUmEyRjZ3T3g5cE9TYVdtUHh6WlI0bFlYbExxaFRnSityc0NJNzlINVBBWHN5clkxTlBKQU5aekQrUUs3cU00Y0pOMGx0cHBHNXJwOERxdWladU5hSjN5dTBZNmZpUkpoalhXOXFpeGdqUkVlYnU1ekd0QjVjNHZjS3dha1owMnUrcS9EZ0htYVcwRGdEMXA1MkdacjR2Y0tSamFjcDgrQm1aQUE3cGx6N0dWbFFRNjNaUW5mYUdhZXR6WGhoWFdOeUsremN4V2F2ek5FQzdFeGRVOGpncVBDVWZrYlM2ekV3dVduM1MzVlFsSVQyZW9sWlJRWUNROVVXMFMwUFpWVWFrc0FkcUlVVWUwVmJPbHV2dUNncHpCQzdHV1dGT2RsWExCQTRPVkNadUFRQ1FQMjRldnFWNzFvc1FiNHJkNllGSW5vWXdISlAxV0kyOUc3VS9aTm5VTEg1OEZoOXIxalI0VWR5RW1LdDNTUUNqMWNlVXpDUVdRUFQyS1N1cWFHMWlIYysrWTRiSFRoTVo5d2JEMnRMWGtvWjk1WTN5UW1tSXJQMWw3eVdjY1dDUE92Y0MxTndLa1VITzgvTDZPNXRramRLN2Fmd1Rneno5QjA5bWNzL1E5a3djTVZxK3loUVdLU0NYbVp2RVpPWGV2cVIzcGVqMzhRZEkrUkRON2FwOCtGRmFXajFGRzk1ZzAxcFNrNkZ2TzVramh6Q2oxVWFlMEltd0pGLzFtQmpYQUgwS0JCd1NYSmoyNWx2dUpSalNWZm9XTVl3UFI3L1BTbDhSN01FSjRkVVk3bko3UVhVTDhHTmhZbk4zM2M1NVNpbnVnS1dySk5FUjNsWXVFdEtlWjNXSHQ2UVJWNW1ValEwVjVjVkFEaDFOOExrekg2L3c3Z3V0S3lSMmEycEtwMnY2emRwMUtkdno5eGxneGtvRWpFMnVMSGx1R0hDUXNVQ0g5YzJKM1Y0QTFNem15aHJFazdkMmpvbEhMaURNOGRaQnlJdVNXNnN2dHVUVGJxbHRZYnVaRFd5cmxoRTlmUVhiR3pneHlBdXlHM3hsbi9kbnhDTmhRMHBjcUNBMzB6Kys4RlpidXlMSE5BUGt1dDlrODJPbklIYWZwd1NvckV3c1FjbXF3TG1LZ25tTG5sSUd5UHlLYWYwRXBsd2crbzFxRW84UjVxM3dLb0R0c0ZyUkZQd1l2dG1TUUZ6MEk3RGpHS2ZjY2tWZUZZMVA1dVdESFVGekUxUDF2aWI4SHlISkd6aGhqZkxWMm5KblRhRUdpMzM2bCs1VC8vU2RxQytLMjRadklNanN6TCtMVytZQlljbWZTRnpBMzNQeXVvSXBNTUI3K0RZWUt3dktvd0tuc0hSR3I5VkNhSEtmUkdpS0h0ekVSS0tlc29ZSTdKb0FnV1ZMTWQwMmJzVkxBRkNJcTUvYW9rWmM1b3FLT28yb3oveEwwSmcxMk1ZWWJ0ckdGTmRuS3FCZERjdGkzeEIycGlXWEVMSUR1TGY4aFpRY05tc2FGZm96MXhzd1paOG9sMy8zTFhGa1k1NHkxdER1cjlGQXpJZ2I4RE5ERkRNVkZBVjdvWmE2bTVlTFhOR3NXOTVneVU0bkttLy9EV3F5R2ZXcm1ndEFleEZxYmxxQVJiN2xyZExaTXhOczExcGxzRU44WUxtSFBydENrQmJRZ09oaW1QZVRZL1podW93dEZNRmYyaHRzUXA3Y3UxcFZXekN2WUl6aEc3UDRFUDN1azVacWtHaGpuakxHKzd5SGlPNkZmNWhwN1Z2ZlJ4d1k5MTljSzNMZ0Fwc3JkZ1NpM3ZMVzBYc09saVhaeGtNNGNvT3JmY0xOL2FEYjI0N3ozdSsxa2hPUzNGdmVSdmRNbE1YUmJTU2VSYzhlRjh1a0hHcGcwTUZYakR4K2N2M0R6bGQ5RnZlMXJUOXlDRFB3cFhnc2JWdTJMWndzMVovZC9MSXRvYkdwVU9laVg3TFc4L21XeWUxbnBlVkhHUVBjZmxGci9wT0U5RDZpd2QrS2w4ZUUxelpWMVRzTE9iaVhjc2phSVdFSUU2YUNaME01dUtmSkhRNjErcEc1a05jZnZHNi9vVXNDT29KZDA4RnhQek1pcHMvUThaOXU5TDdnN0NVZXllaGk4b3RwN0RVM2JUN1J2Z3c1VnROT042Q3RWbUNTaWZjbUR4V2IxcFdXUldOMVFaN0lXR24vYzViVUdFZHAycDNrWEFwSkxMVDI5TlFEa202NDNKSWFkR0xWaDQ0dGppRTl6Ykk1RHUyVFlabnI1djVRTzdaQndORjN5b3dFY0F1QUQ0VHN6QWluR1VTZlNzWGk4Q2w4WlhIWDNGOUd2b3hud2JIY2xDVi93Y3RrR3d0eHdDbWV3QUFBQUJKUlU1RXJrSmdnZz09Igp9Cg=="/>
    </extobj>
    <extobj name="334E55B0-647D-440b-865C-3EC943EB4CBC-3">
      <extobjdata type="334E55B0-647D-440b-865C-3EC943EB4CBC" data="ewoJIkltZ1NldHRpbmdKc29uIiA6ICJ7XCJkcGlcIjpcIjYwMFwiLFwiZm9ybWF0XCI6XCJQTkdcIixcInRyYW5zcGFyZW50XCI6dHJ1ZSxcImF1dG9cIjpmYWxzZX0iLAoJIkxhdGV4IiA6ICJYRnNnZDE5N2FTeDBmVjU3VmpKOVBXdGZkQ0IzWDN0cExIUjlYbnRXTVgwc1hIRnhkV0ZrSUdsY2JtVnhYRzFoZEdoeWJYdENVMVo5SUZ4ZCIsCgkiTGF0ZXhJbWdCYXNlNjQiIDogImlWQk9SdzBLR2dvQUFBQU5TVWhFVWdBQUErSUFBQUJxQ0FNQUFBQVB6eHRSQUFBQVBGQk1WRVgvLy84QUFBQUFBQUFBQUFBQUFBQUFBQUFBQUFBQUFBQUFBQUFBQUFBQUFBQUFBQUFBQUFBQUFBQUFBQUFBQUFBQUFBQUFBQUFBQUFBQUFBQW8xeEJXQUFBQUUzUlNUbE1BWnJ2dnF6TE5tWWxVSWtSMkVOM0Q5ZWZiUGhhN05RQUFBQWx3U0ZsekFBQU94QUFBRHNRQmxTc09Hd0FBR2t4SlJFRlVlQUh0WFdtamdpb1RycXhzT1huZjkvYi8vK3VkaFZHV0FWR3hyUERET1M0SXc4UHNJTzEyQzQ5VDgyeWFyanVmejEzWE5NL25uMS9mL29rRjhIbnpQUHNQNjdXSFFJWFRBNlJldmgyQis5TTlBaEcvV004OUViKzNaMUFLM2ZseWYzczN0a0xBRWppNUQ0L3pzOEs1bGVIOEVqb2V0eXNJS2h6TjMrbW05T2x4N2VqeDVmcHdudTc1TFg3MTRqNXpDdjdXeFZ3NERVcDNBRHRRczcrRllPM3RDZ2o4a1p4ZVl6V2phVHA2TW53RFZ1eis3cmZiL2NJYVlCOTcrL2Z1ejREVGdIUTk0RWhVRWY4OW5sbTd4K3hlUmtVY3d2R0xSOElKQlB3azk1aWxqM0w1OC8rbnc3bmJQVzczZld2OG9pcmlQODlDeFFGNGtCWDN4Ymh2cG52NjRudHJuZ2ZMcklQQXcrRVg2dC8vdFpQSmNPNTJSMEx3MmRIL0t1Sy94akV2NkMrWmowT2tvY3V6ODUrY3ZlUTYyNjNxcXh1Y3BzSUpJZzZ6RnNlLzA0NlVaUlZ4bjkvcTlXSUVLQVJzOUdxQTYvd3MzUFg1dEd3NHZzWld5THVwMS9jRGR5ZkNhU0ZTUmR3Q281NFdSS0FsUDFHWDBDNU0veHllcmRmNGpTcW81b2RobVFpbmhXVVZjUXVNZWxvUUFVaW93YUhPeDE0OG54eGF4Vml6OFNMM00xWVFPUFFGU2Z5a3FxYkJhZmVzaXJpTlJqMHZod0J4MWxPTHBlR0o3Nlp6d09qWmRsNGhvL3NCNWVqOGtKcW13V2wzcW9xNGpVWTlMNGdBMnVEQSs4YjZPMFh3T2JubUxuVmp3eFZvZzRJa2ZsSlZrK0MwTzFaRjNFYWpuaGRFZ0phdnVFSkx0YmRQSmMvT2diZjdBREp3Y0tpdWZrRXlQNldxU1hEYW5hb2licU5SendzaXdCbnhvRUt3MTVwaEpnNTJWOHF3RmU5WHd3UTEvZGFOYVhCYTJGUVJ0OENvcHlVUjRBVnFnVGczaXBzT3pkNE96ODRMM0NNVmxLVHhnK3FLb0JHQjArcFlGWEVMakFXbjF6Ymc1UVcxZmNXcjdHZTdobm0zVTkxMHZiK3BxV0Q5alcrK094dk9LdUpGMkFLOFR6ZU9MRkxyWjFlaXptdmZuMDEyaWp5YVlIbzFMby9UZmY5M09SN2dPMWQvOHY1MXBNeUdzNHA0a1VHQ1NQS2xJdjY0SHMvUUpxNVF0THlITnJLWXJFZ1hwMWRDSXVxdU1uODBUOStzUit1TmVLYlI4cXM5NENpWWV2UE9SZk56NGF3aVhvSXowSW5LeS93eW8wVC9OdDJodlZwQ3F4TjNJaGRXS2ptTDBJQXJJUllTTWxXTjJYa0ZObGZCQXpaZ2VXb2F3QzVJbTdSNDYwOTBDckx1S2t0WGpoTTBJYTNLZnAvVkhMcG9QdFlpdkwxMHdWQm8vYk81Y0ZZUkx6RTJZRkNWMlNHdFpwSEw1UC9tVDBSVnF3SVNVM0EwN2QvMXVyOGNrUDg2VmdwQWhXZ0hUa1lIalNqVkJXWEtpVGl2dWJUYm5PS21VeGMwcFdSWCtKTHorOS9sY2pSeUxnQy9wR0cza2Jsdy9xS0k3K0dqcGp5YjYySWN2Y28zNHJ1MmJTR21zK1RxY0lSYmNoeHhWeU02L08wU2hyWnBrY2hobUVxNm94K0pLN2x4TVpodzRCMXFQSURJVzhmNTJHclNlN1NKQVcxeEVKOWdhSEh1V1REcE5jVk5wOUN6a2Y3TUphSGdlelF5NzFRNWMrSDhRUkhuMEtvazg0QXNUWXpFeGNxR0s3RHZyS3lmK3RUU2JrY1JxaXVHYU5hUE81SUp0MWUzWG55YmxJTnBkbG1DVGd5S280UnNFRy9aL1RoT0NHV0o5TEwwTE9zVGliaWJXVmhXNGRTMzU4TDVleUp1cEt2Z0YweFk0MVJtTkNrY2pZcVRzYjZxMWtDSEliUnRJUGNIY3Q5ZEVkK0IyZVJqeEdtaEZwdXBmUmpqVVg4YmcrdUViRG9wdWhHcXg5b3YrcHc3azlLVVJadFRLcHNMNSsrSnVMRnNCUWNMNUVnVlIyV1krbHRtRTFLZENrT2lFdDdUY0NtY0wxNkJKK0pzODBIS1hiUGZVeUVuV0cyb09PVHA3UCtrWUhwb1FOOG9sT3VWbzY5U1hPWG9UV1hlNVducDBsb3dzM0V1TmhQTzN4TnhObXQ5MURvSlpMWHdIQ011c3FlTCtNUFk4VkRHOFlFV1VWTWdEczk4RVdmTlA3NUJFcnc2b2dYVXJvL2M1THlnRkpyZ3BpT2tYU3JsS0hXKzdqKzVGZThNeFhlN21YRCtub2dUVUxxY3pHT1lPVVk4TGVMbTA4cFFtcEgxSTB0SDJQTDdJaTRiZUQzVFhRTk5FR1lGMHEva1BIVytCcDNncG1NM2UrT2YwOUFMeXBEV2ZTOVJNK0g4UFJHSGJRQkQyVm5BSStoVFR2ZmZLR3NXemFuMWt1bFZqS1JIWm9wNThWTWc0cFIvaDdkMGQwRzZEVjVvdW9BVW5QYWZuVnYyemllNDZTamhxcXN5cmZXaXBka2QwbEluUlp0SlZqWVR6dDhUOGQzdWZpL3BBNExZemNpempvZzREUXR3dWxzempYRXNuaVZQTWhEeEhXb0ZPRUtmMytZbThHenN5MUxuOXByTGNPT21XQ3NvNGJGT3h0NVovVDZMbDZkeFYyL1ZiV0FlbkhWN1JoZkY2VmNvcTZGZ2pkWXpJdUt3YlFJZmpqS2lOTHh6eDJxSDdFeElpY25ySldtRVYxMWRZbFc3NkpUNlFGWHYxYVYxV3VVZzRXWXBqL2IwWGZkNEt2TmRyWnQyNThDNXF5SytkTlRtR2ZHUldCdy95T0xEOFovSklrY0pSZ1VRaWppci9yVG5DL3BtSGJOSkNRSjBJRUNKWkxZQXROamJxZTgzOGdYZkJrTHgzVzRHbklEOUx6cnFVU0daOFdDbUVSOFZjZlJXOGJCalVvNEhvMFJpMkIyS09QTUZaT21pNytGT1Myc2syNkJCbnYySGsydzNIZkIwSElwTzYxS2lLeXM5WXVqZkc0clBnUlBocUNLK2pDbG1HdkZSRWVmWXorVjNEdERqOU9vaUxzb2lia1doWGx1VHhCdVkvQVFWSU9xZGZhNE9nUmRjVXRaSkVrenV5QlpDY2JPeWNRcWMxTThxNHBPSDIzNEJJMTNGY3RwRjlITm0vbmdlV3hOeHpvN0hVejZRTkZOb1lRUGtLZ3VYSmdnS2xQZmNNdk91bU9JckJBdHhxdTJhQVJVbk1nRUxsTTRUMmkrdmViNkpVSHczRlU1R3BJcjRFczVBOFlsTVlvMVVPeWJpNXJsajAxanNYU3RuTndQNlJoTlZzMVkybmpOZmJ4S2ExY3ZsNEhUREp0azloMDU3dnNiRmRkdmQ0aSs4MmtRb1Rwdk5nNXVUQzZmQnA0cjRFa1pCSXg3TGNLZnJIUk54a1V0N3pSbU5WU0tvQmhXZ2lUanJmdDgrRHVUQmEzWXJ3NE1DWjJiS0xpL1UvL01YMFQ2QTlIZkh2d1NDVVZVRkFGbFd4U1E0cGFrcTRvTEVqUC96amZob0xHNEcwekc5SmpudXVySVcyZkJjRS9HeHFmR1ZKc1dKTUY1S21PZW1vOWFEZlN6a2dDczhQTE51ZGZlRnA2d2wzMC9LRkRoN2VJajRUV2pLbnFUUE9abHZ4TWRFWEN5dkd3VVl1VmZsR0ZHTDVLYVFURHowOTBCUHVhMlV4SitianNjV1ZsdENKZFBhLzlXSnR0NTd4U25UOW9xVzBtMU1nSE9vaUJ4R1o1cGllRmJQMGdpZ0VjL2lYcVdhRVVmZGZHdm1yVWMzU2p6NmdjWmQxOVhwcVhHZ0pKSUwyOE9XTXMweDh0RHUwK25RblBWaWxNN1BjdE1qRXU2NE1YYWJMejN2SjZTSFZoOTcyTDZqT1U3UlFNdnh6SWNUQ1gwOEhyZlQzUUI3dko1dWNHUG93RmVlWFlsbHk3bGJtR2FkaTFsYXhDV2Y3c1hJY252cTZpOVJHT3FveGliRlQvQldnMzVEYU9PQmEyeXJ3R1NwekU1eG9QckVvNFh6REwzdDdrK3kxSU5YVi9GTEpSVEhzVzh3Q2VjTlVienRFbmhtdzRsa2lDZllZNGtudWhHSVUvMVJUd2hpSEJTYk81ZjBZSWtSVHp2cVluYUQ4WkFJZmFMemtKb2FCNjRKbWtGVWdFRndZUm0rNnNzNHFhY2hJOEFDRUlFMWw2dEVlMEY1NXlnMVdFc0cyZ2lMWlJ2dVlNRDNxTjFCMmVVb3NHSjRBamJxYUduZFF4R0h4RWJYZGJnNVp3ZW5VOTdXYXR6NHZRVEx6cVI4aVJGUGl2aU5wbWkwd1RTMkg0WGdlTTEzSUl3UXFsSUl2ZENZRkNTZjdSTzI1VG5oZU12aU5KRk9GY2EyOFJXRVdtemJOOW5YSFdpRWErclY0d0tlVHQ0SHBvWHcvQW80QnlDTG5xVWdudGNRbXRxNWtiZ3NWUElXZWpBaEo3YlZqV1UxZWdxTjhKT1FQYnQycjBsblgzZzRrU200NFU1L3B2UG9zSkVpdHVoeU1VQUp4eUQySXVMNUtxZHYvRU5PdkZEOGFEYWtNUU9WMDRtS1p3NUt5OHIwVy9TSExEdXpZaEFiTHhzMnBhSm9MUDVBNXdBT1hYdXdlSEVKK3RzY2M4UmN3ckxCdXhaYVFUNjFhUExZZStlb2I5ejE3VXk2VkFCWkhhTjNCcUVmbm4zRm1SZUt3NCt2c1RZellWT09hcXQ0cnM0SmJjK3lLQmd1eTg1ckhJMTRkbGdVTnFHTCtHUFBTZlBtRXVNYk1abllEVG1hbzJid25UWU5ONGFyUWFFOXB5QmZnQ1l4QkRCN085UVFpWFpOdE1tR2JkZVZHbGUrQlQ5Sk5QM0lkSUc4VUx6L3RRZVQ0Y2hocG8vRGMrWGhXcUg2Sk1TeDl0SnM4OC96K1QrRnEzTFp4b2g0d3o5VndyOVhJbko0U1Vtc3BNNUV2dmwvY2hObDZDQkhrMkhZRFJLc3hjckRFa20yL3c1RTFLTHpGdnNXamg1dzNsajlBdnpnT1VlbWltYndUUGVPL2FwNWcybE9RdkRUOEZ4OXdNbzNrSVE0MHR5NmJHTkVYR1hNYzZ2NXprS21PTjNlcSttSk5NblIrKzQva0tINDF5Q3lvcW9vYkhBTUZjdXpTeUZ4dXhENGh2OFJURHlJZ2tzM3h4Q2xtMEp4TTN2WDloSk9rdzFRcFNBVmZaMCs1NVJTbjRGbm9pOGJmV1N4TENXZUhKYU4wYnd1MitpT092ek05cFZqOFlUdi9UQXJZSHlPZGFYTzZ4YXhhUmlpNkpQaTFnOEVVeU9Pb1dMS1haT043bndXcUI1VnhTN2w5NGg4VEpMWFhjcGJza2lqU3RodGFTVU94OGM0RHAyaUlhMVgrZlR6OEF5NnNQVWJQc1I1Mm50VnRvbUpPRUxKenlMcnhiREFYUmZ5TUptR2hma1EvOTdsYXRCOW1yTTZwT0E0OUhlVUI3WHRyMGlCbTNtZ0NqMGY5SjkxUFdIZ1NEaU13OTZGTTlhcGltY01tV0wzKzNUNlRtSFpXYTBBU3kreldpa1IzNW5aR0NmZWRjbDhYRnRuL295dFZZTGhPRzNtci9zQmo4RTF4OVFLQ0w2MHhyTnRja1gvTFpzMjNBZFAzWThCaG9jZmZqYUU0aGZiaHVmM3F1S1pqOVhNa2hiRWJQNW0xak84QmpXcVU5cERpYkd6cElqdlRJNzZMQkdjV3BzaTVvcTh5cXZxMUxodWV5OURDbzdrMmZIVHNldURWWkxhd1Vsd1RMM2MvNGIvZlNqdTJmRHN2bFU4czZHYVcvQ3ZaMW0yWlFucm1ObkVZaU9lWE4wR1JMQWdqVSs4ZTJLZWNKWWx0V0I3ODVGSjhmdEJWQXM3UFk1endMckoxeVZRdTM4ckU4cnRGeU9kMXU0ZThIdTJXWDBNQ2xVOFZ4L2tBV0xtejV3TVNaS281VVo4VE1SbEI5Ym9SMlVXZmJlL3dXZDNwTkVxQTZjeUpXZmRCVTFsWFNtblNuS1MvQ0EvRklmczhySzRSV2w3SzdkWU4rNkJkUnh2SmtZZWxJdWJrSXBuRExaaTkwa1dBdjZjWEQydytkSktXTm5FdlgyWnNzdGlLNW0vU2Y0aWdwbkd0U1o1WUNZdHpvMEVpakZnTmtES0xYaThsUTJZYkVvTG5RdHVlWkVJdVYrQkhSZFNGUENVVzkrTnAyQ3h6bitlSGRaeXlKUGFRNzIrTlBJY0UzRXg0NW03bnNnaVVtMlcyL1F0bkJvSEd0SU9EZnZwVGhtMmFVSHZEM0ZsTlFuYURSWTIwNDJaWHdUUWxHZXNGeFhQR0RMRjdyTkNsa0J6ZHJVdzZFdU4rS2lqTHRGNGJrc21RWmZLYXdkVDQvcWt1QVVMK1pWdVY0ZjBzbFVPOTV0WmpLcFQzNFl1eU16S24wT2czRHhLTVJ5S1prUXFuaDVhNVM4cEhMVlhWODlxb29RUkh4ZHhpWjF6WmNjazZCSzk4NmZHNFkwUmg0WVkyNTBNSXowUnhOMm5YRTAwQy9DM3ZzUnV5LzF4djNER28wbGlScTVTdEVURmMrMmg1Tkd5VThxeldpeGh4RE5FbkZRK01JVWxZbitPeit3UmIySkc3NjUxNlUrTlF3UFJvSkZlVS94S01OZHdCQW1DWWM3Q2FnLzI0TEIvdXNoNjhrbW5EQ3RSZk9JaFNlWFZTWTNHUnFuaXVmckE4d2d0YmFhSUVjOFFjUk90VzI3ZjNUb1BlMkVrT09Fd2k5SXc3eVk4U2k1QjVWMkxIZEdTQnlWbFFBWXRVQVloM1J1L1EyNkwrRWJjL2NRMEIwTG1JbVoxcitKcGdiSE9xVzZCcHJZRll5NGpQdlZWcS94b3VxM1BrZyt4OERYZE1FdHdZdHFNR1ZRVzdZeXZWbEh3MHJNWm9GMnNycGxUU2p4RncxS3ZmTnFkOEFxLzlKSkE2RDBwRG9maWlndER3ZWpUaXVmYUk4ZXhhRUlFc2doQWIydHBIZERRdUlpeld3ZXQ5V1JkMHhFdnY1REtCemxUNDZDcStwclZFMlpudHo2YUZRL00xRjV6TDZob1hsUUVZSXpNM3FrRTJqZlgrbDZjMWVJdzRQeVJVTXhWSXM4bDF1ZVB3dFBHOW5QT3llVUsyRE5CdjhvMi8zOCsvMVcrRTVkYnNjSDNteGtYY2NtT0RSU0REUHZWMk5jOEt6WndvLzJNejAyNFRoazhLRDBpVmt5aWExOUpTUVJtNnFETklhSndqTFJnS0NUZWQ5c0phVS9la1ZVRVpDZnovMFR6WWtOakRObEFITXRwVElwcHpHSXM4RUY0RHYzL3FET1dnTjdsR3FWOVBiYkJwc2RGM0pTd25ITVE4Umo3VUcrSXQyTzVIaXpCRUhBR0QzZzNWUlJLSzZFangvcytnNnQrT240WG02U1dTS1kveWJua29WamlURUtRZk9tbWtobGhCTm1GSVZiQzZVRTRlaTU2dEk1S25ScUtieFhQQk5SYmZzUWlJMXgzUHc2YVdhZDZQYmJCOXNaRm5CeGRZS2ZCRW9LSSs5TGxrRTdjSngxMG5zZ0ZNU3duaEVZbnhmbUh5VjBwWUV4ODFiQ1BoNS9TY1BJL3VnWnVPOG5pMnNQVlB2d2xUSWNoOEVYOGo2VWRObDMyRDFzdE1NVUV2dHZQemVLcFliejllKzdpMVc3TWhvRVZDOGZOSDhmd09uZWJnWEVSbDdvSE13RWk3bktJQnpxOTRkMXpMOFg1ditOK1pHTnVLblcvdDFkVUVWQUFoNjlGdW1YSkNmSXR4b2h4Ky9HeUs1WkJLeC9CamxDdmFjL2NkZkc0Q0I3K0U0cDR4WFBsWWVNZ1NqanBGSi9hU05JQmVpSXBaY21YN1llaklzN1M1RXpCNEMxZnZLdzZ5ZXRMVThlT0lTWjl3YVVjYzJPSVZRVXdib2RWaE5VbW50NW5ZaW5WVUtXK1p5QVAzL3pmRDhXOXJScUhFQVYrUytqeG9FRTkwYWxDZDhWVEFhWGtMVTZGQ2x2UC9Hd0N1YkVNTTQ2S3VQR3BoN0J2Ui90WjJENmpCdzlabk42K2VBL05wWGovd0p0cFpRRGx5ZTF4NjJPOTQxVzlkSDE2TW9EMTJucjFaUkNLczVJVE50cGJtUklnTGQyVHJlSjVidytKYmNSZWpmaUM5c2hONnRtNm1lZGJRaVY5RlF0b2dWZkhSRnd4NHJ4bGpYQlgyRHdwc2ZoamVrR3FCZGExdk0rd0xyeEQ3TzFhY1RacWJ2RzVEbEZmQzQ1TWtLVHZuNzczaEN5dkhhelF1UFdUSEo1MlMvZGtvM2p5bU5wOWZDL2tzMXQzWTZpWnZtVTVJejRtNG4wNjN4WkVrcys0aWtFR1N4aDVoZzRMOFRFS0pha01wMExqNTd0cTVKek9BWTQyUXlQak9ndWo3N3lxQUlmaVF6YkVxR1paK2dSNDJGaU1KQlcyaVNkM01VUGp2d3J6MmUxd1QyUkFacklseUVkY3dxYVJObUxGU2VPREtEcktsVTJ3YTFlSFZzbUZUSVRxWEpMakZhalprZDJoRnV1TUlIT3lScXp3M1ZCbG4xNlBZOVVYT2Myak8vTHl5cmREcjRYR1FId09hOGNtSklSNkVvL2p0b2tuQmhkNGlOcGFHZEVWcTZlaEVRZnJPaTlCaEdJNUtrT1pmVERTb2xzdjJFT0lEMWNPV2NRalJwUHN2bHRlSTRXempsQjduQlg3MXloNHREb003NUtHc1BVTzNBdHJ1aCthNWh4VFJYMzE1aVFkd1BxbFgzdE40K0F3UHpreVJzVGgzRUpuTEJRM3lRM3JqVTNnU1lPTTNHWVI5bHFRUzdWR3JDMG11QnNQUkxWMndZaUwvdFllVDdwbmxLY3FCMWZ4cG0xWmd0cU5pT3V6WFpoSWM1Z3hRbzRaVXNjNlI0cVMyUm0wQmlpUkMrWGdySjl5ZzgvVUF5MkYrN3lmUVRqU1A5Nnd5NXBMamxEMnF0dkkrcTRuUlJrS3cwZCt6aGFIVFZoTW8zQ1RlRW9DVnVjcXJSdWJ2WWVEWlFUVTJsWjlDcmtsalRqNWRFQlJLR21QdlpqdzRLZEoyVW1FeC8zMmlRUDVaQXR6RkxHSkVGVGRNbFRIWitScVNNa2JiRTlvRnNqMWZBekt5Rk5EOUN1R2lET1FtZFk0aGhBY0Z6bENOSHlLWG50TmRzSHpVbEJPMlJzRVgxQUNQeUpySkJTSE1sdkVVemd4STNKN0xmalRXME40bVRWbjdvYU5lelFzTitLWFMzczhpQkFqYXgvYjlpSUhQT3I5cG1mNHk0VW80c0JWcUhkYjF6dSs0YjBtUjhKM2Fzb3NCaWVKNFFIYmVnQXIwSWZTdE1mN21USlFKMmhWRk1CUWcvbHhLWFRwN1Z6aFVLQS95NWhMN3N1KzVZVFozMnNhTVVIWEJ2N2JlYmpSVUJ5cjJTS2ViTWFiQXJ6dEFmWDZTeFFlRUFMZ3k4VDN2Z215Y0hpeWhDaFJoMW4vQ0RXTkhOMmZZeUM0U2hSeGxCcGlsRzdZSCtKRTFtSEVMKzZwb2lIdDdYQi9XejhoM1FIYUEzMVE0N0tiWDBmdUVFL2xGMXNrL1liTkJCWmVhV1RMb2JqbldSdnFHWDRBeFZXenZOdWUwa1A3MWhieC9Ecy9nZDFHZkM2N0U1czlweHdXOHVYbzZuUzFDNWpPR3VKU3RVak9UV2cvZlRUZDRiaFg1QnNxQnhGbjBaVGZJSWVpYldzTWY0NDRFWUhrN28vWVY2c25qNzlqQjEzdkxnTkQ0K2J0emJQcDNFOHd6RHVkMFlPV1VyQnFDMCt4M0hMbktLeTN5SjFMMDRWdXl1NkJlenlkQXlXTXZEV3VPcmVLNXplSU9IaFNCMkRNdVF0NTBGSXVOK0tMR0ErRVUyVC9BYXJYUG80VFNBTldsS21GUmVTb0w4dW40N216M2VNQnJOck1CbTlTQktRb2hHV2t2Z3JQUjRaMld0YVR6YitOQTFqQWlDL3E1ODNKWG9NdFBaQjlQU1IvcXpoczhkNDU5WVFGbHR5UnlRcUtIVEwwRG9XN2c0T3dwT2szdjB2ZVVmR2V2QXJQMDl1NSs4M0R4OGxRTWFGdkoyYTdCRHpFUVVEL2U5eHJIWjlMM201WGZjcG95WUIvYytuMXkvQzhLb25UcGNSLzF2dGJNT0tmZ05qTnhLNlVxTW9KK0hOVndmWTc3NGJpaDJDNXdLd2V2QXpQMXBzZW1FWHRSNytFZm1jMTR2bERTQ3Q3TW9wL1R5aE8yOEgwb2ZnbGF6WWhBeUJUWkhVOG0rU2VZZm1FZm14Sk5PTFpLZXVQN1dVNXdpbjFsSk1uLzU1UW5KYkpTQ2dPL2MvSVErVGp2VHFlcCs5SXFPY2pHcFRFT0tzYThRQ1c2QTJTWEhkaGlGNTJsUUJXYjJybHU5UmxhYU10YkJCV3g3TmRNUU1yb0d6NmZ6WGlFNGNIWi9TeUp1YmNBSFppSzVzcWpzcEt1bnhYRmlZdkluWnRQR0hSeHlMNlB2L2xhc1NualNGRjJEbUJEVG1nZlFBN3JaR05sY1kxYjJaUlBuUS94NFBKNzhEcWVKYjJPdks3dHBHU2lIQU93MjZFM1BlVGtUc3B6dC9PU1FEN2ZycVhVSUN4T0g5R0E2djR5NlRUZTNMV3h2UG1mVkRUTi93eko1RE9GQmZzWi9xOHFLUFpNMkhmRTRyenlnblVWbURPUy9zbGErTTVjNGVVUlR5eXFaZlJpSmNldEUxMXNEUXgxcVQ0TmYxeGpCdUtGNXBMTHQyZDNQcHdZdXVJYTZUTGV1bTR4UzBjdk1oZ0ZUeG5mbHlkaThzSGxLdEdmT0lnSWE4YnQwYytTb25VZ0x6YmE4L1NjOG1STnRlN2ZUckM3MDhjY2hiOFRLTmhaVHozUCsrbVZ5TStqU0g1aTNSZXozOXlVc3ZYMXZ2TWZkVzU1SWxVYjdjNDVTVFh3eE44aE8vSWhzd2Z3V3JFSjJKbmZZOXh0Qk5QYUl6Y1ZQT3FjOGtUcWQ1dThaWHh2SjZMcnRMWkxvNVJ5dENJRjA2UVJ0djZqZ2VZLzJVL3ZmK0lBanZHdXlRNWVjdFY1NUsvQTB6b1JjVno1YUVFUzdPMUxjVlc3dkhTNm9jWll1ZVhCR2l6RkVrYmNSdERTZnpSMU5KWnFxWDkyTXI3QTBvVnoxWEc1SEhPL1NYQ1Zaci93RXJSWE5OM3BIK3lGb1E2UWY2bXU4UExtblBKSHdoY2hPU0tad1NZZXZ0dENNQzJiZWlQdDk0bWVUaEQxcThBWStMUUIxMXBMdmx0dlMvZmNNV3pQS2ExeGtVSVBFQ1l6OENYdEdQclVOTU5ma0RoMHJsUkQ2YmdWcGxMSHByOS9MT0s1K2VQNGRmMTRBK2tXWjhnN3J6TjFkZWFTLzR1U0N1ZTN6V2VYOTJiSm1lM3A2OUdvR3puS3A1bDhheTFMVVhnVnIvbldRcWg4MzdGMDRHalhyd2ZnWDJkR2lzNkNCWFBvbkRXeXBZamNQajFyUWVXUStqVVVQRjA0S2dYYjBmZ1h2MzBvbU5ROFN3S1o2MXNPUUxudWdQZWNoQ3RHaXFlRmhqMWRBTUl0TU9Yb3h1ZzV2TkpxSGgrL2hoK1Z3LytzbjRmNWJ2NnZHWnZLcDVyb2x2cm5vNUE4WDFKcDVQd1ZXOVVQTDlxT0wraE0zK0h1aFY5eVhHc2VKWkU4NmZxK2cveGRUUlV6STY2N1FBQUFBQkpSVTVFcmtKZ2dnPT0iCn0K"/>
    </extobj>
    <extobj name="334E55B0-647D-440b-865C-3EC943EB4CBC-4">
      <extobjdata type="334E55B0-647D-440b-865C-3EC943EB4CBC" data="ewoJIkltZ1NldHRpbmdKc29uIiA6ICJ7XCJkcGlcIjpcIjYwMFwiLFwiZm9ybWF0XCI6XCJQTkdcIixcInRyYW5zcGFyZW50XCI6dHJ1ZSxcImF1dG9cIjpmYWxzZX0iLAoJIkxhdGV4IiA6ICJYRnNnZDE5N2FTeDBmVjU3VmpGOVBWeG1jbUZqZTNkZmUya3NkSDFlZTFZd2ZTOWNhR0YwZTF4emFXZHRZWDFmZTJrc2RIMTllMXh6ZFcxZmFpQjNYM3RxTEhSOVhudFdNSDB2WEdoaGRIdGNjMmxuYldGOVgzdHFMSFI5ZlNCY1hRPT0iLAoJIkxhdGV4SW1nQmFzZTY0IiA6ICJpVkJPUncwS0dnb0FBQUFOU1VoRVVnQUFBdFlBQUFEb0JBTUFBQUE1MGI0QkFBQUFNRkJNVkVYLy8vOEFBQUFBQUFBQUFBQUFBQUFBQUFBQUFBQUFBQUFBQUFBQUFBQUFBQUFBQUFBQUFBQUFBQUFBQUFBQUFBQXYzYUI3QUFBQUQzUlNUbE1BWnJ2dnF6TE5tWWxVSWtSMkVOMHBSRGJ4QUFBQUNYQklXWE1BQUE3RUFBQU94QUdWS3c0YkFBQWdBRWxFUVZSNEFlMWRhNGhqeVhXKzNkUHE1NmhuU0FMR1AySzFNemdoQmx2TlRyTGUrREhxR0JJd09LdTIxeXpFamxHVFRZYUVKTnNObTlnUWswZ2tCQkwvaURvMnNZbkJLK0VGZzM4a2F0dS9URUlrakUzeXI5dVpnTEhac1lUSGJONmo4ZlI2ZG5iVzI1V3YzbzliOStwZXZmcDJ0KzRQM1ZPblRwMnFPanIzMURsVmRlc0d3Zm01Y3FYcmQyOCtlNmYwWTltbHd2R05tOCtXZG1SeWRoK2ZCTllJdjVTczZ5d3RaSjMvcVRzblAzY3d2dG91T0tmOGwwcUV2UHZEU2dyNTV3bDUrSG1lekZmSjQ3OUtqanNxY3dhTUtJRkRRdllORm12azVTT1IvQ3I1M1NCWTZaODBqZXdaT0lvRTJyYXM1MGhOY0ZzakR5bTBRSDRrRUxQYnFCTG9FaVZkeW1yOVpjbXdSZllZV0Q1dVN0VHNQcG9FTGhHeVlYQ285MlJpOTVnYmt5N1prYWpaZlRRSnpCT3lxVG5rU0ZNa2hBa0pnbVh5bXM2ZlFhTklZSW1RMTNYNWRlWDlMWkpISEowakQzVCtEQnBGQW5QRTFOdjZqdVRWSnZjRVNNaUJSSnIzL0ROZXRFa3lnMjBKNUFqNW9jSm9FeEpVbFpuZUZZT2tvdUxBc2lKd01tYkpTQWtROG9yS1c5ZGk3NU10Z1M2VG5pSXdnRXYrdjhDZ21JR3VCUHFHUGE1dXlOeFY3UXBXcGVXV2VmemU5cHNXbTJpV3NpUlFKa1NtMTVRWEVxd1EwaEhvUS9LcUpERHYxV016QmZndFRucVdERWtBUVhwVElDOXBFN0pNeUZXQlBTVEtPVEVMODdCU1krYkp0azdNSUs4RUdqcEkxeVlFb2JtU2RZR29XTkpnc09KYWx1SXNtRGZFNHdkYnlscXNpVWlSMGkzcWY2QmdHSFROWXQ0Wk1SRVR6UlJiaThjUFhTSFM0N2hsMk9WMVU5WW5ucEpkWmM5NVpwRThSMzdSUXpkREdSS0FCdmQ0c3J5aDBZYXNHOFFuNjBOeXBLbURZSjc4TU4rZnpWS1pJdkhBQ05Mdk1iUnBRZ0pNU1IwSTRnWnhQUTZhc1h0ZlpQTmJHZVR6NUowV2JwWndKWUFnbmM5UW15WWtnR1dKbGZXcTdRZ3VNUHN4bTM1MWhldWtWWkJlM2pKeUJzbDZXVTJYc0VMbEUycFJsbWVLYllqUUErYXh3a2pSSzRZWEVsQWJzaStJdlRiRWp0QVh5TnNZY1dGbXNZWFFJbTRsd2t6dkxXdWEycEsxWjJ5MEkvU3k4TUJYWm9vZElXU0JMdkt4enpJaGdlR0hlUDNyc2psZXJwWnFndGRUM2hBenZ2NkxsRnNuMUgyelRjakFXTWFPMEQ4ZzViWGFrZERzN3BNQWduUzRITFlKZ2Y4V0c2T0hJblFmNHhrdUpJRVdDOUtMZTFhR05mZkV4azRyZTM2MlVHREpJMmtDN3QxV01HZmFYNVNFMTEwVERPcTJLODJ3WGFYMWdtaDJTeVFCQk9rN1FkZnlRb0lBWHJkVWROOWFnUk9oSjZwblJrUjNOaUV1Y1V4SUVKVEloaEJPMGR6VUlIQjlPMEtmaVRHaEJDNFQ4bWd1NUVMclZjYVMwbkRGTU9jeEt5cHpCa1JMQUJ1RFgyMkZOdTAxVkJDdVowWVVqMldQcXF2TUdSQXRBUnFrRjJ0dS9ycmNOckxtbVZLMUkzUzM2TVZOejEwNy9wVlE3ei80K0xiR2xZaEhuSE55SzhPQ3gxNjBaMHN3V253YXl1MGVHd2EzemljdXNFb3VkcEJSd3FLY1ZkV2xBUFhGWWtCTExpVVl1ZVdRZWMrLzRRNFd3Y1Ixc20vUVhpQ3cvVXBUcVdpQVlmQXE3WHVYbU91MUNOSnJZWWxVaENPeTY5RmhPMEpIMlRYOFg4YTFHV1ozQVRBNU9qV3FWbDBSdG5Sb3B4dVFpKzU4d1dOQ01FSEMvdzZmQ1prem53cktKOWMzQkEzd25tWitnU0MyMk5LWHZuSkZTTDBCZVJ3cEtWUmMwZkdjVDVQL1F2ellQejVRaEJJSVJlaDRNcXlySmlrdjFMMjhoKzZXcEl0MktOVDVlNURNdHBMREZXZEpYR1RreTNnM3FVUitUZEVwd0kzUXYwZ0ZmYU5FZjIvUzYzMks4aUlCT2FxK2NPckVGdXVpMk9xeENybG9XUys5d3krUy9EZnVIUC9ncHoxNVRvUk91YjF5RUFTZmdxdzFWMCs1ODQyYXAxTjBDRmJ1OFc2cVBha1YwNGFrRmtIZjNnajFBaEc3MEFwRUdxdlVMTTlCZ1FwMTdiQXJZWlAxQlJOS1lyc05wa3lINzExT2hqbWNCZFQ2cE1sQXVEbWgrSFA0YXM1YXllb0dXZ3p2WTRzMUhMSVF4aVR2M2ZQQmlBYi9MRW56ejBteFhMWWpDdlZsQURTWXlmbWpZSXZoRGJrbWpzV1dudWhqY1lTSk9pZENMK3Y5Zm83M21Odmx5K3ZuVDY2ZUh1V1lwU2hMZ3dFRjN4TlU5ZkJhaTZlOEg5VzJSa0F6Qm0zWncwRExqSmo4dk00UGRwbTlucUdDUkl5SSs2SnpCV0c0aCttckhhSGYwaXVUMUZwdEd4eXJmRGVFZ2FGZzNrbWZrK1RhVzlFUktKNVlkRG5VYXRjV2hudUlqdWJ0dmU5VkkrcUVyT1dmU1JrWGpkZWVWRVdYMWJPbFVPY0h3THJMSnU5TlVZdWxJRkJEZEhOT0RyQ3NMSngzL1RZQ1pIM1Y0TmoyaWJWaUZUZW96d01JQWV6eGZpajNPZ2pxVzBOM2JkRnlvcFZEU2ZrNWVyMzZPVThsVmVuc2UvTE9QQXB1eURickJGMkFrYjBwbXZvbmtjbnVMVXQzdTJJNmk1VnR5YXBpT0pXc3Z5cUc4Q3htbGFYbFFBQ2pyRFJwRHQyVlF5c01LaENERlFiZlFYenhNbDluNktvelgxRHNRMlh2d0d5SzF1Wk9obSsySGFFYlkwQVFIRXJ2TXBvN05wN3dweXlhNU96bXdBMFJnVE9zNlpib3gyWDlydTdUOTQ5U2RjNkowTlUvU1ptVUI0ZWpDNE5KVWpVblU4VGFEV2xyTDJGZWJiM0JNNzJWcXIxMmhLNGRTc3FrTkRoNHVUU1lKRlZ6TWtXc3RibXVyV24zbm13ai9JZ05DUnYzYUYyL1pDMllZUXhRckFMOGIycndOWGhaWU10d0VhMk04NURBZUxYUCt5RTJXdE5FWVlPajZBdGNsbHNoMElmYXhraENlVzlZOWhaL1ZVL20wT1ZNTFhpRnRZRUNlV1FqemxNSzQ1VlFVdU1KTHdyeDA4bHRqMWd4K1NyS2hDVmhSK2o0cTdZVURXYjhObFJpN2RyakhaWFFRRmtHVmhwMWZpQTFYaGtSWHQ1dzI3N1VEUGNWMmhwR2Nvd1RvVU84SFVYYU1yWkk1WXNQZHNXMHRzci9LaEhYQ0Y2UVlwWkZZRmRPQUNHVWtUUDVjL2JDU3FqWmwyU1pVQTQyQ3lzZm5XWXVtaWFvYmhUNzNzdkkyN0hMNHhIajEzbVZkVWx1NWpBbVA5ZVZHMklMUTZaYTl2U1NSTk83SGFGVGM2L01FUjRjYll1eGEyMHBORkxldnYwaUlSKzlmZHRrZUo1Z3VSZ0lqVlFqVjNzenZvY0Y5UVNFNkZwYXRqUVAxdVpBMGdEZWtqRGQrRG92LzJXSnhIM003dlZUeHpkZXVubjN1ckpqYytUNlN6ZnZuTnBoWUgzcFpFR3Y3NGxlRDVvTmlSbkE2cllsQjFPbDF5MXljaVRGdWc0TnYrUVpkc2ZzWHJlRlVlcUlldUdDNHRLeXp1OHFUWkF0bStSOVY5b0Q3UXJubkJjMlF0V1h0SUs2ZVhhRVR2ZERkQ1JKMFRBaGhZMGc4TG5TTWRaSnNrbDEvKzZuQ1RuK1psT1YrVTZma0w5Uy8zand6N3AxaW1TQ1FGVnFWMWROUFMzcUdXZHZ4WWhKcm5vejZMc2RqcWt2a2cxQkNoT3lyMHIxQWRZTjJjdU1HT3NrU2RMZDRkTy9hcFpvbTV1SHNHT2xZMlpPR203TGFiNjY4a01LdmZoS1lkbWJFUlIyaEE2aXR2SkxDdklCQWpaUG41eVMraHMwc3hqcnBJblNRT1pFTVMxWFVBdXAzLzN5YzdBbm5UVE1ScVdGQjl5a1BIS2tLc2Fxbkk3OHZuTDk5ejM4WXdZd08wSkgyWGtwWWROeUI2di95N1lBYVQyWHRmamtML09HdXNPSUtlbFNCdjB0d1FielFPUUhVNVkxL3ZnOVd2MnRoK3VFdjk3L2dqSWgvMFp1a3Y4V2JSTzN0UkxheUs2ZW5jRlREVmZqOHlXQnFickg0cUN6SVE0VG1MMFdyOU9McXBiaC8vQnI0Zm9Qdm9uNHR5UFRVN25YbWVhdDd1NmdveHVvY2FWVUUvWG1vUVM3ZXRCbVdOZy9jZlVFbFhVck91UkI4QUtYOGRQa2Z0T2l4Q2J2Y01RMGdkbHJZNVlIOVZjZW1ZMll1cXdodmJjRStjS0RvK0FwOHVBZ3lCVi9MSnREZC90VmpRR040Zk8zYngrU0g5MitmU1NwekxzVG9kT3MxVDc1WkpEL0REazVNQWtCRjl4aEZEaU1udzdWeU1tcU5YZlQ3NWdNcHk3cjRBdHdpMHJVa09UUnJydmt3YlpzRGgwamk2UW1rK29lUFlBNUVUb3JNVmNpTndpNWYxVVZGOEN1WjVacDNZamlYZm9oMHdVam1ncVc3Y2R1K3JJT1hueXlkUElYdEN2NXo5NDUvZyt0Zi8wbWRSYndKemhYdEh2dFJPaTgzTnJIU28rLy84amhRU2V6YXk0T2RrVTlWS0c4SVJFVjAwRzFUUWg5KzdnekpOc3hGNXZEbmo2Zkt4MHpnRGtSZWx5REVEbzFRL21ONk9BL1JKc1FjVVZ0eVVDQnZ2MTBaVWZXNjYvU0k1ckNFb2tad0p3SVBVNGMzcm5DcXBvbWlDdWFLcy9ZSmhzc09UdENzeVByN2lhZHMzQ2FoMzdHdU5jbHo4SkNoR1RhQkgvbGl1TlJpamQzM2h4UlpoZzBYTXQ3c2x6YjhrTFlDUVlkbVhlNjkzOUFPNWhFbkdiNDVNOUoxbEtZQURiQTBpa284K0wyYzltS1BzejhJV0M0V2FxU2ttMUNNbVN2YWNmS1dpbFVQNlBuaDVaSVQxRU5BQkRQN2NIZDVmU2YvU05PaldkNkcxQlhDV2NBa3lUWmlGZnhBTEhMTlNIWmtqVWtzaVVhcW0vUjgwTlhQSzZGTG1kQkVBSEVXbWFLaHNmOGdHVmlKS0QzYW8ybHh2T0RrVno2TnUzM09DeXpZNi9STUhTZVM4RnNaUFFBMWlCTmt6QU9YcVo3YnRnVUZMUmI3cFJkWWh0eDFsUWNIY2NnY1o3YVhwNHY3VHVGTWlYclJkOHVKREdBT2UybXlYQ0U3aUhpcU10MHhuNmV6N3hnblpFLzVnd1p0RjZMTERWTXhxNmN5RndJRGZPWmtuWExuaVJqWFlWZDZmajduSmRMUFA1c0M1dWpEczdoRHNNMXBPcmxxRmh5N2dobWxVdWZxTXE0UDJSQ3NtV3ZmZFA1M05MNitueFp6Vlg3Y2gxYzhUaFlFbXRpY0lGRjdGeUhFVCtVNXRVcE1HeXlJSFpqaGsxSXRtVHRtMDZPbmg5YTlBeWtrUkw2SHZsTjhnYzhkL1hhRTNjNXRFQmV2dVo1d1QyU1NaSU1qQVo4QkE1UEsyYkpobUJ1RzhQSjgwMnJTMkorYUo1MXdNcEpFYUdqM05ldi83d3UvWklBUDlUL3ZqdUFhYUxob0s2WWVHbTRYa2lXWWhrWklkSXBLT082d24yb2VzM0FjYkErYUUwNFZFSWhIbFBRMkFFY3M3c0Jwdm5TUVloMWx2UzZTOWQ5eGI3M2xZOXY4N1pXV0hDWTk3aDNLU0owcDl1cjQ0d1VIZDdZRHJRSjFFTFloR1RLWHJOcHR3WHVtSlhsMUg2QmhaSkxZZW1raWRBZGVjeU4xODJ6dUdQNjdIVWdQQ1lrVTdLdVU0MmdVMURNdEFrTFVXVnEwdTVSckhVdGtKNlZUcEdZdjVlQ09DVXAvQ2I4a3o0VGtpbFpINUlkQkNoWGFlZm9PdU0rNnlWRHJucml5WWd6WFZpaEFUL3QyZ0NDRWJKNWtEN3ZtNEhNa3IydVlGUzV6RjFmYUlmdzZDcFVmWjlTYSsxYUNtMlBDZGU1c2REdVVXejJhSmtzVWlwc2VwaGtTZGJ6TUJmVi8rT054T2FzSFFZdFkyeTg3QXNkRzZFWTJOTTlMMnBwek9HTFhja3VJcVc4NXpuTWxzK1g3ejhvWW4yZFhWKzQvdGM5RHBYSmUwdnY0cUQxdS94V0s1a2ljYmlSZ2pnMWFSbEJ1dGVFWk1wZUI1ZXZQY2FOTk8zZytnN3ZadTdKRXlNSzRiaVJmc2M4c2VlMkJWTmJ6VUxQeGRKMGxteUkzYjVMRzNaNmJLbkxieHNiS3grak5pR2YwOXZtVElyc3lycFZNOXQ1ZG1BRTZYLzIwTnZjN01xNmNPQnRjT2FSQ05JalBQL3N5cnFZZWFuNkc0Z2czVzlDNkdsNUhYK1pVOGF1K1ovRFUyNVZndW9ScEVjMEhRSGFWZ0lHMHlkWnBMTUtHYngrb3ZRTDIyNnpjdGQrVzZPd2FOclRLUVhkL3U1SDZnaHovdmJ2Ynl0VVpvQnFKek5OTVJ2eU5MbE9aeVA1dFN6MHRBRTNUK0tvWjZjVENndjdJYStPUW1ZRXVEeDBWRGpSRHF5UlA4YnU0ajFSeHlGZjhjU1NxR2tjMUtZRnN5VnI1UGo2M1plZXZYdTlsRDJiM2U2WkxjME1YSG1WSGlNbFh6Z1dlMEhvNU0wOTNjVG41RitoVWRtR3ZuNlV4ZmF4QlZ1MWF4dldna21keWpxam8wc1doWml3VFF2VVZGK1N1MWpnVnpCMXptT2lUS3A2UWtZenNvRVNxRkQxN2NyWE5PQko3N0FpT0FaNk5Gbm5QL0tQVVZlVDFYQUJmOWlIYjlweXQ4MFZ1YThkeG1RMEc0S1RTYU91aWM3L1p2Z3Z6REZ2cmlwdFNFV3VIZUdkWUdOc0hLSUQ3U2hKNDgyZklkaWRoeUo4bDYvY29rYlBwQk1qZUpjdGlnN2Z4WVZTcExEL1ozaXVaN3JrRlhoODlQQmRlc09sRHdPY1ozdENPSGIyT3hZSlZLaWwwRzlwNkFOaGwwbHRMQlhNbUNnSjFQY0FZa1RjWWhpTWlFTEJzWEY4WHhITmdMRkk0Q3ROc0duSURmbHdyNlgzc1NZTjkxaXFtVEdSRWxBbnNjRzk3Z21rKzMxZ1NUdVpPNTZzYzM5eHlTa3JyZHhydkpmcDJiMDNHVGxUcmhkRzFuQkRSSXpZVnU2MWZEdGtjdUsxT0Y4WVdjTU42ZkdlMTVWN0hWeDVaQWxqd29rTEkydDB0TVpsdVN2angwQytPQW44aGZxSXpZUjFpcm9oMjd3T0ZUL2lyU2ZxRExMclFuM0VSblo2VW5mbGhtQlZTKzNvTEI3STZpN1VSMnhrcHlkMVY5cU05WEpwcFkzRGQ0djZEOUF0T05jZnNkSGRIRGVrZzBXNDE1dUNPejM2UkZ4dHRSZ3BNYmhYVk5CaklDMXdObjl0aVlNbmRMQ0kvVTFiZ21CZXh1bzRiZVp6bmtMUnIza0w0dG44dFVkcWRPWkphSE5YbnpiVXZlY2oxVGpmZTVzNkZ4QmM5YWhMUHpKV2lZdVF3QW5iRzd5ZmtNKzI2SEZoU3dEK1c4d3BTcUxBYlA3YUp6bFlqaHJITi9TZW0vNkJqMVRoc0JOSy9pc0tOd01HU3dDaFRJZFRGZVN5WTdBMjRLWFdtRk9VQmxkNFdoUzUwdlc3TjUrOVUxTHJuWVhqR3plZkxlMU1zVDA0T09BcXJ3NTZMZW9WWjJWRXRtTE1wMnhIMWpQV0RMa3BUc2thVXhLNGRrUWwzM3F5OVAxUGpMWENNRFBZNnc3SG9tNlJYZGtNMDVrWTM4bmJabjQyNGZ5WFNvUzgrOE9xY2ZubnNRSDM4eUw1YlhMOFc3dmszU3B6SWdDT2ZkaGpqT2ttdmlOZXhhN1E5S2dLeitwSGJBNzFSQ2J0MmhwNVdYUTRXQ3M5Mk1jcERlNUp3MUVDR0JLUFI2dkhpaUpzRkNNZS9SZ0N2ODdaUjJ6YXRxem5wRmRBZmRRYTdYRjV3bU4rWDBUbWxWZWtSMUtSZTU3TzIwZHN1cktIWEpQVzFZTElxdGdXdlVEZXliTW05TnZtOWVSTHRUNTVENjFqVlIxaWRONCtZZ1AvZHNPUVlyMG5FNHU4NTNobDFqNmNWK2FQNnc3YjBRR3ZMejdBeHlaWVRQZnBoNUkxZHFCTjZTTTJkTGZtb0d0VE5tdm91ekhqQXg1ODB4ZGpKa3dJL1FiRWdZOTcvaGt2MmtjYWp6c2s5N2VEYitGQW8xeUovRjRRZkZENkpjR1VQbUpEVzBkM0lRKzZYb3Z2Um9KYytBR3ZhN0oxNWYwRnU2VEo4UlhsQTJvNlFNdCt0RVdUS0xGYUpPSTlqbThUY3RJbjZsV1pLWDNFaGpaU09yOXg4bFp2bWlUcWxZOEk4YTd4aDlWM0pBMXFGK0FWazBCbTAxM1Rlem94RXBUL3hoM3luOXVVeFhmK3RIVGpFNHBYWVdNNkg3R2hGZUwvSnIvMGQrNzFOLy82aDIvWDRsY05HeGJBL0xGYURURk55Skl5MDR2NjNTR3prcmJmdEpna0k4SlQrNGdOMmtrbllmVXpiVFo4OVovby8wQ3ZmUk05Rkt5Mlo2RDB1aGI3dXZyMHd3SlIvcTVaUWRXZHRIaUxtVHNHZUhvZnNVRmptUkZoejVhbjViK3h5MlM5NGNsS2grb3JCY2FwczVxZFBySVNGcjNwWVVtVXU4QXo1OGZ0aDAvdkl6YTBBMVdJczhkN0V2NWRwYm5tdUJZbVNZUXBLOE9NUDdlcGlqVFVJNFdWRTgvVHM2SVdCMFdSb3R4U28xaU1BY0JLUW9qTDRObnJVSkVFQ015QnFTZlpRLzRtWlB0dGpJYzRFbldvMWZhU05pSHc5R1FDc3U2RVM4ODdXZ0RmY2R5S2pVcTdudjVQWnZZYS82QlhwMlRQSVNhdktaWDVpZTROWFlWaFFoQ2FTMW1qYjF0aFRsM25EeWlTNTl3dks0VUxwY1pNNlNNMnRGMEZ5UHBSZEFOWFliT2o3SGwwS1NlbnBkUjJqWC9qaXVmdmtsY0ZJV1M5NDVSQjhsQk95dkdzZWZMRGZQKzRHYVliRFRPbGo5alFSc0pjR1NOWHVOa1l0bXBoYkRyTUZhVzJ0NlIwS1lPK0tldGVtT1d1dlVaYWhnYzRQL2FaRXp6WXRWRFYzVEVZemhCVElFb1FkcmcyVFhrb0Y2RTFLaTJFeWZvZUwxUGVNTXBxV1NOK0ZRUkc5cXI2S3hoeWdkbVA4cmdWRzNNbFRhTlNEalltTVFpRGRRV3lmaTFVbTBaY2pzM1ZkREVRbm8xN0xOc3lJZmlYWmIyUTlXYW8vTEw5VWx6NTVBZ2t5K05XYk84blF3WnVEZ2sxTmhrQ1BvRDRVbUFFZlZuTmdVWVFERVRESFBQNVlzdUVCUG8vOXNyYWp0QVhDRDllcXpCbXhXN1RwMmNLSDdIaFFpcEMyQnN4OGxxM2g2Z1l5cWdzRmFTWHQweVNBYksySTNUNWo2K01XYkduOVJFYjN2SG9PSjNuNStRcXRDbW5WRERXK1I3U0FpdW1GMEpIQ2psU2V2VzZiRWJvcTZXYXFQS3AwZjE5d1luZTBMUTkyTkVlUTAzeUl6YXNndmc0blpKVWR6amg4TC9peTUrM3BIM21uQ3haOTBMYytmOGowUitRd0dwSFF1TzQ0MS9lbnNwSGJFUmpxekFpdlppR2QyUDg3NWhpUnBiNDhxZHRRbXlmYjhjZ1oyQW9RbmNKeHBLZTNrZHNlSE1IeE9uQkFqTUFvM1N0enZZS09DWUVTd1hTaHZoaW1YbGZlRE5LSTd4bHAvY1JHMTc5b0RoOTlZM2VacVpBTnRpN25JNEp3ZVI1WEl6ZUhYbVlTTkxBNlgzRVJyU21BQ015c3AySTZ4a1Awb3NZaGN6TG1udXFtVGtVZGlKME4zdGM2YWw5eEVZMGVGQ2NQbksvV0pBZWVsRzJvRVkvQkcvN2JpVjlPMEozczhlVm50cEhiRVNEOHlVb2RtMWNyZmZ3UVpDK0UzUnRMNFJHckhJdDA3TldrRlBHM01Odm5LaHBmY1JHdHJrQ1didVNrSG5qdU9QQnVSZTRKZ1JMdDFKMTUvVnJoN0s2WlUvVUx2TW1kMzlzY3F3bDU0Rnh1aVFjOGc3K2ovUVdPc2xFcnpKZVVob3U4OGE0aHE1WURnWW0rUkViVmZzdUZIdERwVklEZ3c0c3hiTG1xeTI1aFU1eFJ4d2hZTStlaGZibzArYXFvc1RBSkQ5aW94b3hLRTVYaEY1ZzRJR2xORWhuNTRuWnhmdHlUMEk3SEV1VlE4dEIrVGZjZ1VhSTZ5UTBsdHFzaDB0TjhpTTJxa1ZRc2VIWFh4SWNXRnJ5THFVVjVGNmJjdGdOVVQ2S2JPTmFVWWlaM3pZbGZwejNkbTJjM0tKNFZkR0RYbFRtQUh3RjRkK0FBMHNocDVBSndWNFJzVWEvR2w3VG5ITWQvbHpmRXJVOXR6MmdnWW16Si9vUkc5V0tRWEc2SWd3RFNRNHNyWHQ5U2hhMGdlRmkrSThJUmVqZ1lGMjFjRU5HeGt6Mkl6YXFlU3hPdjZxU2FZQWtCNVlXd3BwTHEyanc1WE9QQ1hFajlDOVNRZDhvMGQrYjlIcGZtaFltcFozc1IyeDBLd3JveFhCeGVvVnVRdTNLTjFHd2lXT0hjWDNCTkJzVlArK1ZFaDNqM2tUZXBkc2hJQ2RDWHkxaG45cEJFSHdLcmR3T0VZOEpNZUdQMk9oV0RoK25Nd2VqTGYyM0svSkZJQ3pHNkozQVVSOWQrM2U4bS9TTWZuOUdONmR2TDd6aGovc3h5eXlNNUp0cS9qNW93aCt4MFZVT0hhY25PckIwNlIyNkpndDY4Y25TalY4K3NsQTBrYlBEV0tqMVNaTVJJU3J5RExJczZ3ejlWUEI0RGhPblQrVEEwaVU3UXNmSXZTTkUyUStIbUdkSXlLS3A5SVUwZXowd1dSOG1jbUNwdllhTzNXanFoUnJQS1B1bUo1SzFORU5VdXhEMlJ2cjJWTzZoREp0Y1ltWDFYdXRSRGl5MUkzUkVXbXJZYnNsQldMVVVaZ1dqNXRtNmhvelRKM0pncVIyaG8yVlhwU3d4OW01TG1OOHZHYmtxSjYrZ1RBSkR4dW1UT0xBMEw3d09JYWVxNFoxRDF2dTIrSUJwMmhqNlBkbzlGNVd0ZEJWR3BEZGNrOVJKWVhDdkpZdlFPa3h5MW5PR3U4ajJjTWlGU1haWXB0Snh6akQ4ZmlKZGh0RCtadkpxcDBoSjQzUzVVcEt5V2xVUVNpWTFhb1FEU3hldGdRT3JOcHVxUFdHOURyNTJwSElsTUtrTmVaTC95SGNXcHcvRkJlWkhlTDF0L1lnUE9xSWpwcWFXdHMrZzZoTFNVY1N0a0wxV1dRWlFzdjRzSXlNellFR3BaOG9td1EzcDhTSjE3U2FNY0dEcG9WeEVZRXpSckNibmp0K0ttVkJZQjREV2RCeFUxcEpxTGlOdHcvQmcxM2daNzRHbGFka0Zkb1N1dnpFQVJvZHlNaUNPS2ZiMmJNZmxaeUJ2WmFoZ0JnMXZxTDRaYnpycEEwdlRkczJKME1YT1M4NUZqY0p4VE0vQWFVMjNwTldONjRjdlR3a0FDNHZLWmRBSGx2cUt4T0hzQ0IyRGdURjNVUEs4dGhYaWRRWk9hOXExaHFSUUQ2SVJTcHNSNk1zSXp6aXdsQlpNRTBoZmtoYUoxUWllOTFUVnNNUllCUnAwdGZRL1BvajBsUElYaHZYNE1IMHFCQUNMTDkwejQ4QlM5Q2RWSU4yd3JDMWN2cDZTQ1Bob3dTdXNDeFRVUCs3bVpDVjlxQ2JUWWxzVTFsQUlRSVFPaUplM1JHSGp3RkpnVWdYU2RvU08vMC95cEV1VXRqZjM0ak9QLzRtbzBMaXhsd1dNZE9aQWZJYnpLRUdqUEJvS2wwOW9jMWZQVFhRdC9ZT24wblNaUndYU1RvUU84WFpVMFpZOTBYU1pQT1lhdnE4U2NaMm9RdGtEWGtnMk1ubzBGTnYxTm5oLzJzb2hDUXBiWmhmVEJOSjJoSTZWWDJNWXFhdDlhWXg3OFYxNE04d1lPWUdFVThpdkxNdTZiM1RKRkpNRGV6UVU0cTl4cW9aV1grZkEwcStGbjVtb1FOcU8wUEgrcUo1dHdxWWVPZmJTQ2hmdkh3V3I3bDdBMjdkZkpPU2p0Mi96Rm1YeWR6N2h5T2pSVUlpL3cvdFVVSkhHb0FOTFFSOFZTTGUwYkNsWGpJMEhuRHVEdHlTTU8zMDFGZUp2R2lnS1p0Njlya3M3NERROGxBeHJLQ3pxVlU0R3ZSYjBnMmRESWdQcHV1VEJXY0cvM3BlTmFKRVQ0L2xZb3dtd09aRFo0cDUxOTNyb21CSDlnMFh0OEc3V2xhd3JtNkxqa2JmSVFOcU8wS25pQ3U3MHpDVFRoTnlpRTE3NEs1cE9IUzE3K3R2SlBmMWtLOW5JNkcwb252STlsZ0d4eUJkUEJ4MVlHdjJrT3hFNkZmQ0dxQllWN1JzdHFHOGhBWnlCWW1CaGhMNjR2Q2FReGtsOVppL1MxWURJdk1kSzBQWGhiUWFGZDF1SFdFWTk2WGFFam1KdDZiMEhCVnRoUzAza3J1dDFYMWxGeHQzcmVmSlF0blNJZTh5QnBkSGNvZ0pwTzBKSCtYa3BZZE55VTc1dnBEL2RjTXVqQmwxS25vRXI4Y2pvYld1Yit6QytBMHU5OUF3WkZVZzNYUHVMYlVKTlZxTHFPeGFuNGZqWGJMVHNNUHBzL3F4WTQzdnFOc0oyME43NURpeWx2TklGMGtXMUY0U1dwZGNMWE1aUGsvdE5sclord2w1NjVLQnJsVHUxUk1VYTM5TTNJL0xBVXNvcVhTRHRST2lVd1dxZmZETElmNGFjSE5DVWMvVkRzemllMGRJcGM1cEpQS1crYm9TYjVOZFFTS01ZY1dBcFpaRXVrSFlpZE5hR3VSSzVnYytPWHcwM3lQSUlSZmE2SGNkN0NwMG1hbEdPUHQ1RzVONHYwUjRORlZsUkI1WWlPMlVnN1VUb25QL2F4MHFQdi85SU5zTzhZN3pjTnRPQUozVmFrMVBOa01tcU1Xc1paakhQdCtNaXc2T2hZWElYa3pLUWRpSjBsNXVieGh5amkycGsyYjJlSTdGellxM1hSVys4R3VyMjFFMm5EYVNkQ04xbDU2YjFDNmtxSnp4YXFxelRCeXJ4NS9xb3c4Y2lORFMrQTJrRDZWSzY3VUNlZUx6UDQ4dzN4N2ZyZEhJSGpJeHJjbUlwU2tQalc1MHlrRjVMYVFBODhUaDNRSmRIQ2M3aXV6UkNidnpJaUhPYnhhQVVwYUh4VmFjTXBKZU14Y1Y0eGp5M3JOWWZKMzlhVTVMMkRLQ0pIeG1Eb254RFAwcEQ0OW1uREtTdnlHV0hlSzRxVjhYakdDUVBHQmFoREwxWGF5eVZyWis1OE9TTjJVQzlOaENsb1NaMUJKdzhrQTVGNkJFY0JWcFBnbGZrb3VjU1c2aVoya3RkOGUxemN0dml5eU1PV2liMXFCNmxvWkl5NXE2WlNLS29RRG9jb2NzUzNydG1jeWczVHJBam5JS1d2UXJwTFR4MTVHb3BGQXlZYmJCMkRDQWpyS0VtZFJTY09KRE9wOXhGbzkxckxBbng5L1J5MUlQTmxhNUd0ZVVVOGV1eHZhT3ZnZSticlF0cnFKa2JBWnRMSzRJa0lwQytyT2FxSTFnNWFPMWVZeUZPVEZyVm9UeUhLdjV5Q3B4cXNxdzJwL3VhZ1VVdE95NExhNml2bUlOTEhrZ3Z4a2F3RGxza3RYdTlldTJKdXp4L2dieDg3WmlQaytFQ3A0bmgxaTJxQlQ4SlVWdHYwSG8wTktxc2dkZFB1a0pHQk5JcEkzU3MxQml2bHI0a3VIK28vMzNyV1ZTVm5qSVFOekxtL3h5aXRxZmlQUnFhb0FQNlNWZkVFYmFvYmg2aXFvaWpBV3U1YXdxbk5VVzNaSEJPM01nb3ZubXlhWEx4YUtpWkhRSHJKMTBSUkFUU0tTTjBuT3U4cDFoTzViUW1WVnQ2SUdwa3pQLzZ2K3hTcGNhbE93UDJIZzFOVUtuMXBITjZmeUNkTmtMSFkzYWc2cC9LYVUycXR2UkFrVHp4bCs3MThmZis3TE5jek94WGQ5d0RhS2tBQUFHZVNVUkJWQWJzUFJxYW9OTEVnZlJDOGdqOWVUcU96SnN6bEZNNXJTbEJieU5JNkNhREFaZHRRRDBhR3NIYVJDY09wS1BPdmpDWmNSZ2FmWlcrcVdTRUxPMWFtQ3hEbU1ZQVFTUGJudUxVR3BxaUY4a0Q2YmE3aGg1WkM5OXIxVGN0M0hST2E0cHMwWUFNdWs5cDBHWDRWT0NtTkhRQVp5czdlU0Rka1BOY1ZubGY0Z3JCMzdKc3JpeE82YlFtWDJPUzRPQ0ZETHg2SmlPdG9TWjJFS3lkbDRaMDF5TUM2ZVczRHVJbDg5bEVjRUh0UGdQNmNFUG1uWSs3MXRBMC9kSE95L2dDYWZyeGsyK2JXNTZ5T2JHWFJrd09yZFpRSnlNMnFaMlhNUWJTUmZJejF0NmNxWjNXRk52Vk1XWnFEVTNEMUhKZXhoVklyN3o5K0hlYWFWcHgxbWkxaHFacCtWa0twTlAwYTdLMGxvWW1yc3FNUGJNZVNDZnUxTVFKTFExTld0dVpDcVNUZG1yeWRLYUdKcW50ekFYU1NUbzFIUnBMUXhOVWVmWUM2UVNkbWp4SldFTVQxSG5tQXVrRWZabzhpVWRERTFSNjVnTHBCSDJhUElsSFF4TlVldjRENlFSQ1NFMFMxdEFrTE01L0lKMUVDbWxwd2hxYWlNTzVENlFUU1NFbFVVaERrNVUvOTRGME1qR2twSEkxTkdYeEdYa0tDWnhSRGYxL2oyUmdVbzJCamJnQUFBQUFTVVZPUks1Q1lJST0iCn0K"/>
    </extobj>
  </extobjs>
</s:customData>
</file>

<file path=customXml/itemProps1.xml><?xml version="1.0" encoding="utf-8"?>
<ds:datastoreItem xmlns:ds="http://schemas.openxmlformats.org/officeDocument/2006/customXml" ds:itemID="s:customData">
  <ds:schemaRefs>
    <ds:schemaRef ds:uri="http://www.wps.cn/officeDocument/2013/wpsCustomData"/>
  </ds:schemaRefs>
</ds:datastoreItem>
</file>

<file path=docProps/app.xml><?xml version="1.0" encoding="utf-8"?>
<Properties xmlns="http://schemas.openxmlformats.org/officeDocument/2006/extended-properties" xmlns:vt="http://schemas.openxmlformats.org/officeDocument/2006/docPropsVTypes">
  <TotalTime>0</TotalTime>
  <Words>8857</Words>
  <Application>WPS 演示</Application>
  <PresentationFormat>On-screen Show (16:9)</PresentationFormat>
  <Paragraphs>551</Paragraphs>
  <Slides>20</Slides>
  <Notes>13</Notes>
  <HiddenSlides>0</HiddenSlides>
  <MMClips>0</MMClips>
  <ScaleCrop>false</ScaleCrop>
  <HeadingPairs>
    <vt:vector size="6" baseType="variant">
      <vt:variant>
        <vt:lpstr>已用的字体</vt:lpstr>
      </vt:variant>
      <vt:variant>
        <vt:i4>14</vt:i4>
      </vt:variant>
      <vt:variant>
        <vt:lpstr>主题</vt:lpstr>
      </vt:variant>
      <vt:variant>
        <vt:i4>1</vt:i4>
      </vt:variant>
      <vt:variant>
        <vt:lpstr>幻灯片标题</vt:lpstr>
      </vt:variant>
      <vt:variant>
        <vt:i4>20</vt:i4>
      </vt:variant>
    </vt:vector>
  </HeadingPairs>
  <TitlesOfParts>
    <vt:vector size="35" baseType="lpstr">
      <vt:lpstr>Arial</vt:lpstr>
      <vt:lpstr>宋体</vt:lpstr>
      <vt:lpstr>Wingdings</vt:lpstr>
      <vt:lpstr>Arial</vt:lpstr>
      <vt:lpstr>微软雅黑</vt:lpstr>
      <vt:lpstr>Arial Unicode MS</vt:lpstr>
      <vt:lpstr>等线</vt:lpstr>
      <vt:lpstr>Aptos</vt:lpstr>
      <vt:lpstr>Segoe UI</vt:lpstr>
      <vt:lpstr>Cambria Math</vt:lpstr>
      <vt:lpstr>MS Mincho</vt:lpstr>
      <vt:lpstr>Cambria</vt:lpstr>
      <vt:lpstr>Cambria</vt:lpstr>
      <vt:lpstr>Cambria</vt:lpstr>
      <vt:lpstr>FE5209 Group Project</vt:lpstr>
      <vt:lpstr>Macro-Aware Volatility-Targeted ETF Rotation Strategy</vt:lpstr>
      <vt:lpstr>Outline</vt:lpstr>
      <vt:lpstr>Introduction &amp; Overall Strategy</vt:lpstr>
      <vt:lpstr>Data &amp; Portfolio Construction</vt:lpstr>
      <vt:lpstr>US V0 Strategy: One Decision Tree</vt:lpstr>
      <vt:lpstr>Ensemble: 6,336-Parameter Voting</vt:lpstr>
      <vt:lpstr>PowerPoint 演示文稿</vt:lpstr>
      <vt:lpstr>PowerPoint 演示文稿</vt:lpstr>
      <vt:lpstr>US V1 &amp; V2: Risk Controls</vt:lpstr>
      <vt:lpstr>US Strategy | From Signals to Risk Control</vt:lpstr>
      <vt:lpstr>US Strategy | Backtest Results</vt:lpstr>
      <vt:lpstr>Singapore Market &amp; GARCH</vt:lpstr>
      <vt:lpstr>Singapore Sleeve</vt:lpstr>
      <vt:lpstr>Singapore Strategy:How much ES3 should we hold each day ?</vt:lpstr>
      <vt:lpstr>Singapore Strategy:How much ES3 should we hold each day ?</vt:lpstr>
      <vt:lpstr>Final Portfolio, Results &amp; Conclusions</vt:lpstr>
      <vt:lpstr>Backtest vs QQQ and SPY</vt:lpstr>
      <vt:lpstr>Test-Period Performance</vt:lpstr>
      <vt:lpstr>Conclusion</vt:lpstr>
      <vt:lpstr>Singapore Strategy: Why GJR-CARCH?</vt:lpstr>
    </vt:vector>
  </TitlesOfParts>
  <Company>PptxGenJS</Company>
  <LinksUpToDate>false</LinksUpToDate>
  <SharedDoc>false</SharedDoc>
  <HyperlinksChanged>false</HyperlinksChanged>
  <AppVersion>14.0000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title>FE5209 Group Project Template</dc:title>
  <dc:creator>Zhou Mo</dc:creator>
  <dc:subject>PptxGenJS Presentation</dc:subject>
  <cp:lastModifiedBy>Z&amp;M</cp:lastModifiedBy>
  <cp:revision>59</cp:revision>
  <dcterms:created xsi:type="dcterms:W3CDTF">2026-10-16T03:35:00Z</dcterms:created>
  <dcterms:modified xsi:type="dcterms:W3CDTF">2026-10-21T05:04:25Z</dcterms:modified>
</cp:coreProperties>
</file>

<file path=docProps/custom.xml><?xml version="1.0" encoding="utf-8"?>
<Properties xmlns="http://schemas.openxmlformats.org/officeDocument/2006/custom-properties" xmlns:vt="http://schemas.openxmlformats.org/officeDocument/2006/docPropsVTypes">
  <property fmtid="{D5CDD505-2E9C-101B-9397-08002B2CF9AE}" pid="2" name="ICV">
    <vt:lpwstr>5EA0516248624B09953CB91B381FE0D0_12</vt:lpwstr>
  </property>
  <property fmtid="{D5CDD505-2E9C-101B-9397-08002B2CF9AE}" pid="3" name="KSOProductBuildVer">
    <vt:lpwstr>2052-12.1.0.28599</vt:lpwstr>
  </property>
</Properties>
</file>